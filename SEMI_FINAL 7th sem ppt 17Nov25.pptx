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 id="2147483676" r:id="rId2"/>
    <p:sldMasterId id="2147483677" r:id="rId3"/>
  </p:sldMasterIdLst>
  <p:notesMasterIdLst>
    <p:notesMasterId r:id="rId43"/>
  </p:notesMasterIdLst>
  <p:sldIdLst>
    <p:sldId id="256" r:id="rId4"/>
    <p:sldId id="291" r:id="rId5"/>
    <p:sldId id="257" r:id="rId6"/>
    <p:sldId id="288"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97" r:id="rId20"/>
    <p:sldId id="298" r:id="rId21"/>
    <p:sldId id="270" r:id="rId22"/>
    <p:sldId id="272" r:id="rId23"/>
    <p:sldId id="273" r:id="rId24"/>
    <p:sldId id="300" r:id="rId25"/>
    <p:sldId id="285" r:id="rId26"/>
    <p:sldId id="299" r:id="rId27"/>
    <p:sldId id="289" r:id="rId28"/>
    <p:sldId id="290" r:id="rId29"/>
    <p:sldId id="294" r:id="rId30"/>
    <p:sldId id="301" r:id="rId31"/>
    <p:sldId id="302" r:id="rId32"/>
    <p:sldId id="303" r:id="rId33"/>
    <p:sldId id="274" r:id="rId34"/>
    <p:sldId id="277" r:id="rId35"/>
    <p:sldId id="278" r:id="rId36"/>
    <p:sldId id="279" r:id="rId37"/>
    <p:sldId id="280" r:id="rId38"/>
    <p:sldId id="281" r:id="rId39"/>
    <p:sldId id="282" r:id="rId40"/>
    <p:sldId id="295" r:id="rId41"/>
    <p:sldId id="284"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5FC4"/>
    <a:srgbClr val="0036A2"/>
    <a:srgbClr val="002F8E"/>
    <a:srgbClr val="78A6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A45891-60B4-40F1-B4AB-D2514087B482}" v="2" dt="2025-11-10T04:41:19.678"/>
  </p1510:revLst>
</p1510:revInfo>
</file>

<file path=ppt/tableStyles.xml><?xml version="1.0" encoding="utf-8"?>
<a:tblStyleLst xmlns:a="http://schemas.openxmlformats.org/drawingml/2006/main" def="{C2489804-17E0-4773-9031-1ADBED480AF3}">
  <a:tblStyle styleId="{C2489804-17E0-4773-9031-1ADBED480AF3}"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A69CD3E9-7AF9-4501-8DF7-6F84E3247698}"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67"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842e3ac5c1_2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g3842e3ac5c1_2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952856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842e3ac5c1_2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9" name="Google Shape;139;g3842e3ac5c1_2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934332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842e3ac5c1_2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g3842e3ac5c1_2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42e3ac5c1_2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g3842e3ac5c1_2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842e3ac5c1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g3842e3ac5c1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842e3ac5c1_2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842e3ac5c1_2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842e3ac5c1_2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842e3ac5c1_2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842e3ac5c1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842e3ac5c1_2_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842e3ac5c1_2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842e3ac5c1_2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842e3ac5c1_2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842e3ac5c1_2_1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842e3ac5c1_2_1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842e3ac5c1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842e3ac5c1_2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842e3ac5c1_2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842e3ac5c1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3842e3ac5c1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842e3ac5c1_2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3842e3ac5c1_2_1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5A3AD1B7-85CD-C058-A897-055238D45804}"/>
            </a:ext>
          </a:extLst>
        </p:cNvPr>
        <p:cNvGrpSpPr/>
        <p:nvPr/>
      </p:nvGrpSpPr>
      <p:grpSpPr>
        <a:xfrm>
          <a:off x="0" y="0"/>
          <a:ext cx="0" cy="0"/>
          <a:chOff x="0" y="0"/>
          <a:chExt cx="0" cy="0"/>
        </a:xfrm>
      </p:grpSpPr>
      <p:sp>
        <p:nvSpPr>
          <p:cNvPr id="244" name="Google Shape;244;g3842e3ac5c1_2_189:notes">
            <a:extLst>
              <a:ext uri="{FF2B5EF4-FFF2-40B4-BE49-F238E27FC236}">
                <a16:creationId xmlns:a16="http://schemas.microsoft.com/office/drawing/2014/main" id="{0B7A7472-EC04-61F8-0F0C-55581CADC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3842e3ac5c1_2_189:notes">
            <a:extLst>
              <a:ext uri="{FF2B5EF4-FFF2-40B4-BE49-F238E27FC236}">
                <a16:creationId xmlns:a16="http://schemas.microsoft.com/office/drawing/2014/main" id="{D3A51438-59B1-CC5F-BC0C-63E2281A1E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14746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a:extLst>
            <a:ext uri="{FF2B5EF4-FFF2-40B4-BE49-F238E27FC236}">
              <a16:creationId xmlns:a16="http://schemas.microsoft.com/office/drawing/2014/main" id="{A69058EA-EC48-B756-C4B9-BD34B3799B9E}"/>
            </a:ext>
          </a:extLst>
        </p:cNvPr>
        <p:cNvGrpSpPr/>
        <p:nvPr/>
      </p:nvGrpSpPr>
      <p:grpSpPr>
        <a:xfrm>
          <a:off x="0" y="0"/>
          <a:ext cx="0" cy="0"/>
          <a:chOff x="0" y="0"/>
          <a:chExt cx="0" cy="0"/>
        </a:xfrm>
      </p:grpSpPr>
      <p:sp>
        <p:nvSpPr>
          <p:cNvPr id="244" name="Google Shape;244;g3842e3ac5c1_2_189:notes">
            <a:extLst>
              <a:ext uri="{FF2B5EF4-FFF2-40B4-BE49-F238E27FC236}">
                <a16:creationId xmlns:a16="http://schemas.microsoft.com/office/drawing/2014/main" id="{DBCBA5E7-CE57-7D71-227A-3802B6DB57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3842e3ac5c1_2_189:notes">
            <a:extLst>
              <a:ext uri="{FF2B5EF4-FFF2-40B4-BE49-F238E27FC236}">
                <a16:creationId xmlns:a16="http://schemas.microsoft.com/office/drawing/2014/main" id="{90152D51-6140-E372-4BB5-931D31D91D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17186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842e3ac5c1_2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g3842e3ac5c1_2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842e3ac5c1_2_2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842e3ac5c1_2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842e3ac5c1_2_2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 name="Google Shape;276;g3842e3ac5c1_2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486255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043985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DA70-C770-68DA-1501-A63F881F5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E35DD-EC7C-F344-9FF9-51EF220CD4A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A82D87-7C6D-243C-A334-3CA3D582541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11578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858C-50AA-6349-F040-39DB6B6B8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42C8E-E9BF-4BD7-A7A3-055A1A6DE6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C92EA63-9526-AB88-F5D5-9187B02F4EC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8086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239352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E7483-DDBD-2AD2-2FE0-6CD3A08A7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A8AB4-0C1C-A4B5-F36E-FCB128532A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AC5B30A-B490-9302-5072-31E2C351E7E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697526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5BB61-C2EB-E754-EDD7-008F9674F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79C46-1E50-0A65-BB22-272BEEA10C9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CB8A86-44F4-AA84-350A-17748B496E3E}"/>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4567565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AAFFA-E209-C3FA-CCF9-9A87EB65B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8A94B-7B92-2A02-C933-56B6C4A890C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30E86F-AEC5-827E-183B-5496EDD8D7E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4164993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51282d64b9_2_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9" name="Google Shape;289;g351282d64b9_2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842e3ac5c1_2_2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9" name="Google Shape;309;g3842e3ac5c1_2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842e3ac5c1_2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1" name="Google Shape;331;g3842e3ac5c1_2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842e3ac5c1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1" name="Google Shape;361;g3842e3ac5c1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842e3ac5c1_2_3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1" name="Google Shape;381;g3842e3ac5c1_2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842e3ac5c1_2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3842e3ac5c1_2_3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842e3ac5c1_2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g3842e3ac5c1_2_3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40302706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842e3ac5c1_2_3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4" name="Google Shape;414;g3842e3ac5c1_2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1779391" y="71247"/>
            <a:ext cx="5585216" cy="4460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800" b="1"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4"/>
          <p:cNvSpPr txBox="1">
            <a:spLocks noGrp="1"/>
          </p:cNvSpPr>
          <p:nvPr>
            <p:ph type="body" idx="1"/>
          </p:nvPr>
        </p:nvSpPr>
        <p:spPr>
          <a:xfrm>
            <a:off x="412750" y="842963"/>
            <a:ext cx="8470900" cy="108204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3728727" y="4850082"/>
            <a:ext cx="1685925" cy="133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2483742" y="187071"/>
            <a:ext cx="4176514" cy="49618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800" b="1"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5"/>
          <p:cNvSpPr txBox="1">
            <a:spLocks noGrp="1"/>
          </p:cNvSpPr>
          <p:nvPr>
            <p:ph type="subTitle" idx="1"/>
          </p:nvPr>
        </p:nvSpPr>
        <p:spPr>
          <a:xfrm>
            <a:off x="1371600" y="2880360"/>
            <a:ext cx="6400800" cy="12858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3728727" y="4850082"/>
            <a:ext cx="1685925" cy="133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1779391" y="71247"/>
            <a:ext cx="5585216" cy="4460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800" b="1"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728727" y="4850082"/>
            <a:ext cx="1685925" cy="133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6"/>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1779391" y="71247"/>
            <a:ext cx="5585216" cy="4460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800" b="1"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7"/>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7" name="Google Shape;77;p17"/>
          <p:cNvSpPr txBox="1">
            <a:spLocks noGrp="1"/>
          </p:cNvSpPr>
          <p:nvPr>
            <p:ph type="ftr" idx="11"/>
          </p:nvPr>
        </p:nvSpPr>
        <p:spPr>
          <a:xfrm>
            <a:off x="3728727" y="4850082"/>
            <a:ext cx="1685925" cy="133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7"/>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0"/>
        <p:cNvGrpSpPr/>
        <p:nvPr/>
      </p:nvGrpSpPr>
      <p:grpSpPr>
        <a:xfrm>
          <a:off x="0" y="0"/>
          <a:ext cx="0" cy="0"/>
          <a:chOff x="0" y="0"/>
          <a:chExt cx="0" cy="0"/>
        </a:xfrm>
      </p:grpSpPr>
      <p:sp>
        <p:nvSpPr>
          <p:cNvPr id="81" name="Google Shape;81;p18"/>
          <p:cNvSpPr txBox="1">
            <a:spLocks noGrp="1"/>
          </p:cNvSpPr>
          <p:nvPr>
            <p:ph type="ftr" idx="11"/>
          </p:nvPr>
        </p:nvSpPr>
        <p:spPr>
          <a:xfrm>
            <a:off x="3728727" y="4850082"/>
            <a:ext cx="1685925" cy="13335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8"/>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8"/>
        <p:cNvGrpSpPr/>
        <p:nvPr/>
      </p:nvGrpSpPr>
      <p:grpSpPr>
        <a:xfrm>
          <a:off x="0" y="0"/>
          <a:ext cx="0" cy="0"/>
          <a:chOff x="0" y="0"/>
          <a:chExt cx="0" cy="0"/>
        </a:xfrm>
      </p:grpSpPr>
      <p:sp>
        <p:nvSpPr>
          <p:cNvPr id="89" name="Google Shape;89;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0" name="Google Shape;90;p2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1" name="Google Shape;9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2"/>
        <p:cNvGrpSpPr/>
        <p:nvPr/>
      </p:nvGrpSpPr>
      <p:grpSpPr>
        <a:xfrm>
          <a:off x="0" y="0"/>
          <a:ext cx="0" cy="0"/>
          <a:chOff x="0" y="0"/>
          <a:chExt cx="0" cy="0"/>
        </a:xfrm>
      </p:grpSpPr>
      <p:sp>
        <p:nvSpPr>
          <p:cNvPr id="93" name="Google Shape;93;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4"/>
        <p:cNvGrpSpPr/>
        <p:nvPr/>
      </p:nvGrpSpPr>
      <p:grpSpPr>
        <a:xfrm>
          <a:off x="0" y="0"/>
          <a:ext cx="0" cy="0"/>
          <a:chOff x="0" y="0"/>
          <a:chExt cx="0" cy="0"/>
        </a:xfrm>
      </p:grpSpPr>
      <p:sp>
        <p:nvSpPr>
          <p:cNvPr id="95" name="Google Shape;95;p2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96" name="Google Shape;96;p2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97" name="Google Shape;97;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8"/>
        <p:cNvGrpSpPr/>
        <p:nvPr/>
      </p:nvGrpSpPr>
      <p:grpSpPr>
        <a:xfrm>
          <a:off x="0" y="0"/>
          <a:ext cx="0" cy="0"/>
          <a:chOff x="0" y="0"/>
          <a:chExt cx="0" cy="0"/>
        </a:xfrm>
      </p:grpSpPr>
      <p:sp>
        <p:nvSpPr>
          <p:cNvPr id="99" name="Google Shape;99;p2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00" name="Google Shape;10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
        <p:cNvGrpSpPr/>
        <p:nvPr/>
      </p:nvGrpSpPr>
      <p:grpSpPr>
        <a:xfrm>
          <a:off x="0" y="0"/>
          <a:ext cx="0" cy="0"/>
          <a:chOff x="0" y="0"/>
          <a:chExt cx="0" cy="0"/>
        </a:xfrm>
      </p:grpSpPr>
      <p:sp>
        <p:nvSpPr>
          <p:cNvPr id="102" name="Google Shape;102;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3" name="Google Shape;103;p2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04" name="Google Shape;104;p2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05" name="Google Shape;105;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8" name="Google Shape;10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9"/>
        <p:cNvGrpSpPr/>
        <p:nvPr/>
      </p:nvGrpSpPr>
      <p:grpSpPr>
        <a:xfrm>
          <a:off x="0" y="0"/>
          <a:ext cx="0" cy="0"/>
          <a:chOff x="0" y="0"/>
          <a:chExt cx="0" cy="0"/>
        </a:xfrm>
      </p:grpSpPr>
      <p:sp>
        <p:nvSpPr>
          <p:cNvPr id="110" name="Google Shape;110;p2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11" name="Google Shape;111;p2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12" name="Google Shape;11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3"/>
        <p:cNvGrpSpPr/>
        <p:nvPr/>
      </p:nvGrpSpPr>
      <p:grpSpPr>
        <a:xfrm>
          <a:off x="0" y="0"/>
          <a:ext cx="0" cy="0"/>
          <a:chOff x="0" y="0"/>
          <a:chExt cx="0" cy="0"/>
        </a:xfrm>
      </p:grpSpPr>
      <p:sp>
        <p:nvSpPr>
          <p:cNvPr id="114" name="Google Shape;114;p2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15" name="Google Shape;11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6"/>
        <p:cNvGrpSpPr/>
        <p:nvPr/>
      </p:nvGrpSpPr>
      <p:grpSpPr>
        <a:xfrm>
          <a:off x="0" y="0"/>
          <a:ext cx="0" cy="0"/>
          <a:chOff x="0" y="0"/>
          <a:chExt cx="0" cy="0"/>
        </a:xfrm>
      </p:grpSpPr>
      <p:sp>
        <p:nvSpPr>
          <p:cNvPr id="117" name="Google Shape;117;p2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9" name="Google Shape;119;p2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20" name="Google Shape;120;p2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1" name="Google Shape;121;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2"/>
        <p:cNvGrpSpPr/>
        <p:nvPr/>
      </p:nvGrpSpPr>
      <p:grpSpPr>
        <a:xfrm>
          <a:off x="0" y="0"/>
          <a:ext cx="0" cy="0"/>
          <a:chOff x="0" y="0"/>
          <a:chExt cx="0" cy="0"/>
        </a:xfrm>
      </p:grpSpPr>
      <p:sp>
        <p:nvSpPr>
          <p:cNvPr id="123" name="Google Shape;123;p2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24" name="Google Shape;124;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5"/>
        <p:cNvGrpSpPr/>
        <p:nvPr/>
      </p:nvGrpSpPr>
      <p:grpSpPr>
        <a:xfrm>
          <a:off x="0" y="0"/>
          <a:ext cx="0" cy="0"/>
          <a:chOff x="0" y="0"/>
          <a:chExt cx="0" cy="0"/>
        </a:xfrm>
      </p:grpSpPr>
      <p:sp>
        <p:nvSpPr>
          <p:cNvPr id="126" name="Google Shape;126;p3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7" name="Google Shape;127;p3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28" name="Google Shape;12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779391" y="71247"/>
            <a:ext cx="5585216" cy="44600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412750" y="842963"/>
            <a:ext cx="8470900" cy="108204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53" name="Google Shape;53;p13"/>
          <p:cNvSpPr txBox="1">
            <a:spLocks noGrp="1"/>
          </p:cNvSpPr>
          <p:nvPr>
            <p:ph type="ftr" idx="11"/>
          </p:nvPr>
        </p:nvSpPr>
        <p:spPr>
          <a:xfrm>
            <a:off x="3728727" y="4850082"/>
            <a:ext cx="1685925" cy="13335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lvl1pPr marL="38100" marR="0" lvl="0"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86" name="Google Shape;86;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7" name="Google Shape;8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31"/>
          <p:cNvSpPr txBox="1"/>
          <p:nvPr/>
        </p:nvSpPr>
        <p:spPr>
          <a:xfrm>
            <a:off x="-1" y="1028700"/>
            <a:ext cx="9043725" cy="3762110"/>
          </a:xfrm>
          <a:prstGeom prst="rect">
            <a:avLst/>
          </a:prstGeom>
          <a:noFill/>
          <a:ln>
            <a:noFill/>
          </a:ln>
        </p:spPr>
        <p:txBody>
          <a:bodyPr spcFirstLastPara="1" wrap="square" lIns="0" tIns="29200" rIns="0" bIns="0" anchor="t" anchorCtr="0">
            <a:spAutoFit/>
          </a:bodyPr>
          <a:lstStyle/>
          <a:p>
            <a:pPr marL="1270" marR="0" lvl="0" indent="0" algn="ctr"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Session 2025-26</a:t>
            </a:r>
            <a:endParaRPr sz="18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367030" marR="357505" lvl="0" indent="0" algn="ctr" rtl="0">
              <a:lnSpc>
                <a:spcPct val="127821"/>
              </a:lnSpc>
              <a:spcBef>
                <a:spcPts val="145"/>
              </a:spcBef>
              <a:spcAft>
                <a:spcPts val="0"/>
              </a:spcAft>
              <a:buClr>
                <a:srgbClr val="000000"/>
              </a:buClr>
              <a:buSzPts val="2800"/>
              <a:buFont typeface="Arial"/>
              <a:buNone/>
            </a:pPr>
            <a:r>
              <a:rPr lang="en-GB" sz="2000" b="1" i="0" u="none" strike="noStrike" cap="none" dirty="0">
                <a:solidFill>
                  <a:srgbClr val="953735"/>
                </a:solidFill>
                <a:latin typeface="Times New Roman" panose="02020603050405020304" pitchFamily="18" charset="0"/>
                <a:ea typeface="Calibri"/>
                <a:cs typeface="Times New Roman" panose="02020603050405020304" pitchFamily="18" charset="0"/>
                <a:sym typeface="Calibri"/>
              </a:rPr>
              <a:t>PQAI-</a:t>
            </a:r>
            <a:r>
              <a:rPr lang="en-GB" sz="2000" b="1" dirty="0">
                <a:solidFill>
                  <a:srgbClr val="953735"/>
                </a:solidFill>
                <a:latin typeface="Times New Roman" panose="02020603050405020304" pitchFamily="18" charset="0"/>
                <a:ea typeface="Calibri"/>
                <a:cs typeface="Times New Roman" panose="02020603050405020304" pitchFamily="18" charset="0"/>
                <a:sym typeface="Calibri"/>
              </a:rPr>
              <a:t>II (Project Phase – II)</a:t>
            </a:r>
            <a:endParaRPr sz="20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20"/>
              </a:spcBef>
              <a:spcAft>
                <a:spcPts val="0"/>
              </a:spcAft>
              <a:buClr>
                <a:schemeClr val="dk1"/>
              </a:buClr>
              <a:buSzPts val="1100"/>
              <a:buFont typeface="Arial"/>
              <a:buNone/>
            </a:pPr>
            <a:r>
              <a:rPr lang="en-GB" sz="1600" b="1" i="0" u="none" strike="noStrike" cap="none" dirty="0">
                <a:solidFill>
                  <a:schemeClr val="dk1"/>
                </a:solidFill>
                <a:latin typeface="Times New Roman" panose="02020603050405020304" pitchFamily="18" charset="0"/>
                <a:cs typeface="Times New Roman" panose="02020603050405020304" pitchFamily="18" charset="0"/>
                <a:sym typeface="Arial"/>
              </a:rPr>
              <a:t>A Hybrid Firefly–Antlion Optimizer with Energy-Aware Load </a:t>
            </a:r>
            <a:endParaRPr sz="1600" b="1"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20"/>
              </a:spcBef>
              <a:spcAft>
                <a:spcPts val="0"/>
              </a:spcAft>
              <a:buClr>
                <a:schemeClr val="dk1"/>
              </a:buClr>
              <a:buSzPts val="1100"/>
              <a:buFont typeface="Arial"/>
              <a:buNone/>
            </a:pPr>
            <a:r>
              <a:rPr lang="en-GB" sz="1600" b="1" i="0" u="none" strike="noStrike" cap="none" dirty="0">
                <a:solidFill>
                  <a:schemeClr val="dk1"/>
                </a:solidFill>
                <a:latin typeface="Times New Roman" panose="02020603050405020304" pitchFamily="18" charset="0"/>
                <a:cs typeface="Times New Roman" panose="02020603050405020304" pitchFamily="18" charset="0"/>
                <a:sym typeface="Arial"/>
              </a:rPr>
              <a:t>Balancing for Sustainable Cloud Scheduling</a:t>
            </a:r>
            <a:endParaRPr sz="1600" b="1" i="0" u="sng"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1583690" marR="1574800" lvl="0" indent="0" algn="ctr" rtl="0">
              <a:lnSpc>
                <a:spcPct val="106700"/>
              </a:lnSpc>
              <a:spcBef>
                <a:spcPts val="0"/>
              </a:spcBef>
              <a:spcAft>
                <a:spcPts val="0"/>
              </a:spcAft>
              <a:buClr>
                <a:srgbClr val="000000"/>
              </a:buClr>
              <a:buSzPts val="1800"/>
              <a:buFont typeface="Arial"/>
              <a:buNone/>
            </a:pPr>
            <a:r>
              <a:rPr lang="en-GB"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Presented By Group No : 01</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145"/>
              </a:spcBef>
              <a:spcAft>
                <a:spcPts val="0"/>
              </a:spcAft>
              <a:buClr>
                <a:schemeClr val="dk1"/>
              </a:buClr>
              <a:buSzPts val="1800"/>
              <a:buFont typeface="Arial"/>
              <a:buNone/>
            </a:pP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Ms. Aarohi Waghmare (Roll no : 01)</a:t>
            </a:r>
            <a:endParaRPr lang="en-GB"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145"/>
              </a:spcBef>
              <a:spcAft>
                <a:spcPts val="0"/>
              </a:spcAft>
              <a:buClr>
                <a:schemeClr val="dk1"/>
              </a:buClr>
              <a:buSzPts val="1800"/>
              <a:buFont typeface="Arial"/>
              <a:buNone/>
            </a:pP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GB" sz="16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Ms. Diksha Bhagwat (Roll no : 08)</a:t>
            </a:r>
            <a:endParaRPr sz="16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145"/>
              </a:spcBef>
              <a:spcAft>
                <a:spcPts val="0"/>
              </a:spcAft>
              <a:buClr>
                <a:srgbClr val="000000"/>
              </a:buClr>
              <a:buSzPts val="1800"/>
              <a:buFont typeface="Arial"/>
              <a:buNone/>
            </a:pP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Ms. </a:t>
            </a:r>
            <a:r>
              <a:rPr lang="en-GB" sz="16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Giteshwari</a:t>
            </a: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GB" sz="16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Lanjewar</a:t>
            </a: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(Roll no : 09)</a:t>
            </a:r>
            <a:endParaRPr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145"/>
              </a:spcBef>
              <a:spcAft>
                <a:spcPts val="0"/>
              </a:spcAft>
              <a:buClr>
                <a:srgbClr val="000000"/>
              </a:buClr>
              <a:buSzPts val="1800"/>
              <a:buFont typeface="Arial"/>
              <a:buNone/>
            </a:pP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Ms. </a:t>
            </a:r>
            <a:r>
              <a:rPr lang="en-GB" sz="16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Sanchyee</a:t>
            </a: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GB" sz="16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Pendam</a:t>
            </a: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(Roll no : 19)</a:t>
            </a:r>
            <a:endParaRPr lang="en-GB"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145"/>
              </a:spcBef>
              <a:spcAft>
                <a:spcPts val="0"/>
              </a:spcAft>
              <a:buClr>
                <a:srgbClr val="000000"/>
              </a:buClr>
              <a:buSzPts val="1800"/>
              <a:buFont typeface="Arial"/>
              <a:buNone/>
            </a:pP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Ms. Srushti </a:t>
            </a:r>
            <a:r>
              <a:rPr lang="en-GB" sz="16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Bawane</a:t>
            </a: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(Roll no : 25)</a:t>
            </a:r>
            <a:endParaRPr lang="en-US"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145"/>
              </a:spcBef>
              <a:spcAft>
                <a:spcPts val="0"/>
              </a:spcAft>
              <a:buClr>
                <a:schemeClr val="dk1"/>
              </a:buClr>
              <a:buSzPts val="1800"/>
              <a:buFont typeface="Arial"/>
              <a:buNone/>
            </a:pPr>
            <a:r>
              <a:rPr lang="en-GB"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1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Ms. Vaishnavi Rathod (Roll no : 29)</a:t>
            </a:r>
            <a:endParaRPr lang="en-US" sz="16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1270" marR="0" lvl="0" indent="0" algn="ctr" rtl="0">
              <a:lnSpc>
                <a:spcPct val="100000"/>
              </a:lnSpc>
              <a:spcBef>
                <a:spcPts val="0"/>
              </a:spcBef>
              <a:spcAft>
                <a:spcPts val="0"/>
              </a:spcAft>
              <a:buClr>
                <a:srgbClr val="000000"/>
              </a:buClr>
              <a:buSzPts val="1800"/>
              <a:buFont typeface="Arial"/>
              <a:buNone/>
            </a:pPr>
            <a:r>
              <a:rPr lang="en-GB"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Guided By</a:t>
            </a:r>
            <a:endParaRPr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1270" marR="0" lvl="0" indent="0" algn="ctr" rtl="0">
              <a:lnSpc>
                <a:spcPct val="100000"/>
              </a:lnSpc>
              <a:spcBef>
                <a:spcPts val="0"/>
              </a:spcBef>
              <a:spcAft>
                <a:spcPts val="0"/>
              </a:spcAft>
              <a:buClr>
                <a:srgbClr val="000000"/>
              </a:buClr>
              <a:buSzPts val="1700"/>
              <a:buFont typeface="Arial"/>
              <a:buNone/>
            </a:pPr>
            <a:r>
              <a:rPr lang="en-GB" sz="1600"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a:t>
            </a:r>
            <a:r>
              <a:rPr lang="en-GB" sz="1600"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Dr</a:t>
            </a:r>
            <a:r>
              <a:rPr lang="en-GB" sz="1600"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Amol D. Gaikwad </a:t>
            </a:r>
            <a:endParaRPr lang="en-IN" sz="1600"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endParaRPr>
          </a:p>
          <a:p>
            <a:pPr marL="1270" marR="0" lvl="0" indent="0" algn="ctr" rtl="0">
              <a:lnSpc>
                <a:spcPct val="100000"/>
              </a:lnSpc>
              <a:spcBef>
                <a:spcPts val="0"/>
              </a:spcBef>
              <a:spcAft>
                <a:spcPts val="0"/>
              </a:spcAft>
              <a:buClr>
                <a:srgbClr val="000000"/>
              </a:buClr>
              <a:buSzPts val="1600"/>
              <a:buFont typeface="Arial"/>
              <a:buNone/>
            </a:pPr>
            <a:r>
              <a:rPr lang="en-IN" sz="1600" b="0" i="0" u="none" strike="noStrike" cap="none" dirty="0">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  Ms. Apurva A. </a:t>
            </a:r>
            <a:r>
              <a:rPr lang="en-IN" sz="1600" b="0" i="0" u="none" strike="noStrike" cap="none" dirty="0" err="1">
                <a:solidFill>
                  <a:schemeClr val="dk1"/>
                </a:solidFill>
                <a:highlight>
                  <a:srgbClr val="FFFFFF"/>
                </a:highlight>
                <a:latin typeface="Times New Roman" panose="02020603050405020304" pitchFamily="18" charset="0"/>
                <a:ea typeface="Calibri"/>
                <a:cs typeface="Times New Roman" panose="02020603050405020304" pitchFamily="18" charset="0"/>
                <a:sym typeface="Calibri"/>
              </a:rPr>
              <a:t>Bodkhe</a:t>
            </a:r>
            <a:endParaRPr lang="en-IN" sz="1600" b="1"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p:txBody>
      </p:sp>
      <p:pic>
        <p:nvPicPr>
          <p:cNvPr id="134" name="Google Shape;134;p31"/>
          <p:cNvPicPr preferRelativeResize="0"/>
          <p:nvPr/>
        </p:nvPicPr>
        <p:blipFill rotWithShape="1">
          <a:blip r:embed="rId3">
            <a:alphaModFix/>
          </a:blip>
          <a:srcRect/>
          <a:stretch/>
        </p:blipFill>
        <p:spPr>
          <a:xfrm>
            <a:off x="0" y="0"/>
            <a:ext cx="9143999" cy="1028699"/>
          </a:xfrm>
          <a:prstGeom prst="rect">
            <a:avLst/>
          </a:prstGeom>
          <a:noFill/>
          <a:ln>
            <a:noFill/>
          </a:ln>
        </p:spPr>
      </p:pic>
      <p:sp>
        <p:nvSpPr>
          <p:cNvPr id="135" name="Google Shape;135;p31"/>
          <p:cNvSpPr txBox="1">
            <a:spLocks noGrp="1"/>
          </p:cNvSpPr>
          <p:nvPr>
            <p:ph type="title"/>
          </p:nvPr>
        </p:nvSpPr>
        <p:spPr>
          <a:xfrm>
            <a:off x="1488900" y="661792"/>
            <a:ext cx="7162800" cy="366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GB" sz="2300">
                <a:solidFill>
                  <a:srgbClr val="F1F1F1"/>
                </a:solidFill>
                <a:latin typeface="Times New Roman"/>
                <a:ea typeface="Times New Roman"/>
                <a:cs typeface="Times New Roman"/>
                <a:sym typeface="Times New Roman"/>
              </a:rPr>
              <a:t>Department of Computer Science and Design</a:t>
            </a:r>
            <a:endParaRPr sz="2300">
              <a:solidFill>
                <a:srgbClr val="F1F1F1"/>
              </a:solidFill>
              <a:latin typeface="Times New Roman"/>
              <a:ea typeface="Times New Roman"/>
              <a:cs typeface="Times New Roman"/>
              <a:sym typeface="Times New Roman"/>
            </a:endParaRPr>
          </a:p>
        </p:txBody>
      </p:sp>
      <p:sp>
        <p:nvSpPr>
          <p:cNvPr id="136" name="Google Shape;136;p31"/>
          <p:cNvSpPr txBox="1">
            <a:spLocks noGrp="1"/>
          </p:cNvSpPr>
          <p:nvPr>
            <p:ph type="sldNum" idx="12"/>
          </p:nvPr>
        </p:nvSpPr>
        <p:spPr>
          <a:xfrm>
            <a:off x="8408491" y="4850082"/>
            <a:ext cx="243204" cy="158505"/>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sz="1000"/>
              <a:t>1</a:t>
            </a:fld>
            <a:endParaRPr sz="1000" dirty="0"/>
          </a:p>
        </p:txBody>
      </p:sp>
      <p:sp>
        <p:nvSpPr>
          <p:cNvPr id="7" name="TextBox 6">
            <a:extLst>
              <a:ext uri="{FF2B5EF4-FFF2-40B4-BE49-F238E27FC236}">
                <a16:creationId xmlns:a16="http://schemas.microsoft.com/office/drawing/2014/main" id="{1A33F28D-586E-5B16-7DAD-FEF2C1FE6DBB}"/>
              </a:ext>
            </a:extLst>
          </p:cNvPr>
          <p:cNvSpPr txBox="1"/>
          <p:nvPr/>
        </p:nvSpPr>
        <p:spPr>
          <a:xfrm>
            <a:off x="1966794" y="4806223"/>
            <a:ext cx="5950571"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0E235-F149-1D36-10D7-1D0D1F6A3B4D}"/>
              </a:ext>
            </a:extLst>
          </p:cNvPr>
          <p:cNvSpPr>
            <a:spLocks noGrp="1"/>
          </p:cNvSpPr>
          <p:nvPr>
            <p:ph type="ctrTitle"/>
          </p:nvPr>
        </p:nvSpPr>
        <p:spPr>
          <a:xfrm>
            <a:off x="3545174" y="187071"/>
            <a:ext cx="3115082" cy="369332"/>
          </a:xfrm>
        </p:spPr>
        <p:txBody>
          <a:bodyPr/>
          <a:lstStyle/>
          <a:p>
            <a:r>
              <a:rPr lang="en-IN" sz="2400" dirty="0">
                <a:latin typeface="Times New Roman" panose="02020603050405020304" pitchFamily="18" charset="0"/>
                <a:cs typeface="Times New Roman" panose="02020603050405020304" pitchFamily="18" charset="0"/>
              </a:rPr>
              <a:t>Abstract</a:t>
            </a:r>
          </a:p>
        </p:txBody>
      </p:sp>
      <p:sp>
        <p:nvSpPr>
          <p:cNvPr id="3" name="Subtitle 2">
            <a:extLst>
              <a:ext uri="{FF2B5EF4-FFF2-40B4-BE49-F238E27FC236}">
                <a16:creationId xmlns:a16="http://schemas.microsoft.com/office/drawing/2014/main" id="{F3F5F012-7A3E-819A-C840-D4EE58F95F31}"/>
              </a:ext>
            </a:extLst>
          </p:cNvPr>
          <p:cNvSpPr>
            <a:spLocks noGrp="1"/>
          </p:cNvSpPr>
          <p:nvPr>
            <p:ph type="subTitle" idx="1"/>
          </p:nvPr>
        </p:nvSpPr>
        <p:spPr>
          <a:xfrm>
            <a:off x="673309" y="955123"/>
            <a:ext cx="7734924" cy="2077492"/>
          </a:xfrm>
        </p:spPr>
        <p:txBody>
          <a:bodyPr/>
          <a:lstStyle/>
          <a:p>
            <a:pPr algn="just"/>
            <a:r>
              <a:rPr lang="en-IN" sz="1400" dirty="0"/>
              <a:t>      </a:t>
            </a:r>
            <a:r>
              <a:rPr lang="en-US" sz="1500" dirty="0">
                <a:latin typeface="Times New Roman" panose="02020603050405020304" pitchFamily="18" charset="0"/>
                <a:cs typeface="Times New Roman" panose="02020603050405020304" pitchFamily="18" charset="0"/>
              </a:rPr>
              <a:t>Maintaining cloud computing performance and energy efficiency requires effective load      balancing. Poor scalability, excessive energy use, and unequal job distribution are common problems with traditional scheduling techniques. To overcome these difficulties, this thesis suggests </a:t>
            </a:r>
            <a:r>
              <a:rPr lang="en-US" sz="1500" b="1" dirty="0">
                <a:latin typeface="Times New Roman" panose="02020603050405020304" pitchFamily="18" charset="0"/>
                <a:cs typeface="Times New Roman" panose="02020603050405020304" pitchFamily="18" charset="0"/>
              </a:rPr>
              <a:t>A Hybrid Firefly Antlion Optimizer (FAO) with Energy Aware Load Balancing</a:t>
            </a:r>
            <a:r>
              <a:rPr lang="en-US" sz="1500" dirty="0">
                <a:latin typeface="Times New Roman" panose="02020603050405020304" pitchFamily="18" charset="0"/>
                <a:cs typeface="Times New Roman" panose="02020603050405020304" pitchFamily="18" charset="0"/>
              </a:rPr>
              <a:t>. The hybrid model ensures balanced and flexible work scheduling by combining the exploration power of the Antlion Optimizer with the refinement capacity of the Firefly Algorithm. The system improves throughput, response time, and resource usage while lowering power consumption by using an energy efficient approach. The outcomes demonstrate the model's promise for scalable and sustainable cloud computing</a:t>
            </a:r>
            <a:endParaRPr lang="en-IN" sz="15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9C1EF7C-AB10-3765-6C8B-A8C82973C89C}"/>
              </a:ext>
            </a:extLst>
          </p:cNvPr>
          <p:cNvSpPr txBox="1"/>
          <p:nvPr/>
        </p:nvSpPr>
        <p:spPr>
          <a:xfrm>
            <a:off x="1844040" y="4632169"/>
            <a:ext cx="5965336"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sp>
        <p:nvSpPr>
          <p:cNvPr id="11" name="TextBox 10">
            <a:extLst>
              <a:ext uri="{FF2B5EF4-FFF2-40B4-BE49-F238E27FC236}">
                <a16:creationId xmlns:a16="http://schemas.microsoft.com/office/drawing/2014/main" id="{8DBD1470-6A01-6FB5-E7FD-67955157D38C}"/>
              </a:ext>
            </a:extLst>
          </p:cNvPr>
          <p:cNvSpPr txBox="1"/>
          <p:nvPr/>
        </p:nvSpPr>
        <p:spPr>
          <a:xfrm>
            <a:off x="8408233" y="4632169"/>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a:t>
            </a:fld>
            <a:endParaRPr lang="en-GB" sz="1000" dirty="0">
              <a:solidFill>
                <a:schemeClr val="bg1">
                  <a:lumMod val="50000"/>
                </a:schemeClr>
              </a:solidFill>
            </a:endParaRPr>
          </a:p>
        </p:txBody>
      </p:sp>
    </p:spTree>
    <p:extLst>
      <p:ext uri="{BB962C8B-B14F-4D97-AF65-F5344CB8AC3E}">
        <p14:creationId xmlns:p14="http://schemas.microsoft.com/office/powerpoint/2010/main" val="2007682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40"/>
        <p:cNvGrpSpPr/>
        <p:nvPr/>
      </p:nvGrpSpPr>
      <p:grpSpPr>
        <a:xfrm>
          <a:off x="0" y="0"/>
          <a:ext cx="0" cy="0"/>
          <a:chOff x="0" y="0"/>
          <a:chExt cx="0" cy="0"/>
        </a:xfrm>
      </p:grpSpPr>
      <p:sp>
        <p:nvSpPr>
          <p:cNvPr id="141" name="Google Shape;141;p32"/>
          <p:cNvSpPr txBox="1">
            <a:spLocks noGrp="1"/>
          </p:cNvSpPr>
          <p:nvPr>
            <p:ph type="ftr" idx="11"/>
          </p:nvPr>
        </p:nvSpPr>
        <p:spPr>
          <a:xfrm>
            <a:off x="2042989" y="4850082"/>
            <a:ext cx="5432250"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dirty="0">
              <a:solidFill>
                <a:schemeClr val="dk2"/>
              </a:solidFill>
              <a:highlight>
                <a:schemeClr val="lt1"/>
              </a:highlight>
              <a:latin typeface="Calibri"/>
              <a:ea typeface="Calibri"/>
              <a:cs typeface="Calibri"/>
              <a:sym typeface="Calibri"/>
            </a:endParaRPr>
          </a:p>
        </p:txBody>
      </p:sp>
      <p:sp>
        <p:nvSpPr>
          <p:cNvPr id="142" name="Google Shape;142;p32"/>
          <p:cNvSpPr txBox="1">
            <a:spLocks noGrp="1"/>
          </p:cNvSpPr>
          <p:nvPr>
            <p:ph type="sldNum" idx="12"/>
          </p:nvPr>
        </p:nvSpPr>
        <p:spPr>
          <a:xfrm>
            <a:off x="8408491" y="4850082"/>
            <a:ext cx="243300" cy="133425"/>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a:t>
            </a:fld>
            <a:endParaRPr dirty="0"/>
          </a:p>
        </p:txBody>
      </p:sp>
      <p:sp>
        <p:nvSpPr>
          <p:cNvPr id="143" name="Google Shape;143;p32"/>
          <p:cNvSpPr txBox="1">
            <a:spLocks noGrp="1"/>
          </p:cNvSpPr>
          <p:nvPr>
            <p:ph type="ctrTitle"/>
          </p:nvPr>
        </p:nvSpPr>
        <p:spPr>
          <a:xfrm>
            <a:off x="2350975" y="238503"/>
            <a:ext cx="4176600" cy="382156"/>
          </a:xfrm>
          <a:prstGeom prst="rect">
            <a:avLst/>
          </a:prstGeom>
          <a:noFill/>
          <a:ln>
            <a:noFill/>
          </a:ln>
        </p:spPr>
        <p:txBody>
          <a:bodyPr spcFirstLastPara="1" wrap="square" lIns="0" tIns="12700" rIns="0" bIns="0" anchor="t" anchorCtr="0">
            <a:spAutoFit/>
          </a:bodyPr>
          <a:lstStyle/>
          <a:p>
            <a:pPr marL="1348105" lvl="0" indent="0" algn="l" rtl="0">
              <a:lnSpc>
                <a:spcPct val="100000"/>
              </a:lnSpc>
              <a:spcBef>
                <a:spcPts val="0"/>
              </a:spcBef>
              <a:spcAft>
                <a:spcPts val="0"/>
              </a:spcAft>
              <a:buSzPts val="1400"/>
              <a:buNone/>
            </a:pPr>
            <a:r>
              <a:rPr lang="en-GB" sz="2400" dirty="0">
                <a:latin typeface="Times New Roman" panose="02020603050405020304" pitchFamily="18" charset="0"/>
                <a:ea typeface="Calibri" panose="020F0502020204030204" pitchFamily="34" charset="0"/>
                <a:cs typeface="Times New Roman" panose="02020603050405020304" pitchFamily="18" charset="0"/>
                <a:sym typeface="Calibri"/>
              </a:rPr>
              <a:t>Introduction</a:t>
            </a:r>
            <a:endParaRPr sz="2400" dirty="0">
              <a:latin typeface="Times New Roman" panose="02020603050405020304" pitchFamily="18" charset="0"/>
              <a:ea typeface="Calibri" panose="020F0502020204030204" pitchFamily="34" charset="0"/>
              <a:cs typeface="Times New Roman" panose="02020603050405020304" pitchFamily="18" charset="0"/>
              <a:sym typeface="Calibri"/>
            </a:endParaRPr>
          </a:p>
        </p:txBody>
      </p:sp>
      <p:sp>
        <p:nvSpPr>
          <p:cNvPr id="144" name="Google Shape;144;p32"/>
          <p:cNvSpPr txBox="1"/>
          <p:nvPr/>
        </p:nvSpPr>
        <p:spPr>
          <a:xfrm>
            <a:off x="505521" y="772686"/>
            <a:ext cx="8214733" cy="3598127"/>
          </a:xfrm>
          <a:prstGeom prst="rect">
            <a:avLst/>
          </a:prstGeom>
          <a:noFill/>
          <a:ln>
            <a:noFill/>
          </a:ln>
        </p:spPr>
        <p:txBody>
          <a:bodyPr spcFirstLastPara="1" wrap="square" lIns="91425" tIns="91425" rIns="91425" bIns="91425" anchor="t" anchorCtr="0">
            <a:noAutofit/>
          </a:bodyPr>
          <a:lstStyle/>
          <a:p>
            <a:pPr marL="171450" indent="-171450" algn="just">
              <a:lnSpc>
                <a:spcPct val="200000"/>
              </a:lnSpc>
              <a:buFont typeface="Arial" panose="020B0604020202020204" pitchFamily="34" charset="0"/>
              <a:buChar char="•"/>
            </a:pPr>
            <a:r>
              <a:rPr lang="en-US" sz="1500" dirty="0">
                <a:latin typeface="Times New Roman" panose="02020603050405020304" pitchFamily="18" charset="0"/>
                <a:ea typeface="Calibri" panose="020F0502020204030204" pitchFamily="34" charset="0"/>
                <a:cs typeface="Times New Roman" panose="02020603050405020304" pitchFamily="18" charset="0"/>
              </a:rPr>
              <a:t>Efficient load balancing is essential for performance and energy efficiency in distributed systems.</a:t>
            </a:r>
          </a:p>
          <a:p>
            <a:pPr marL="171450" indent="-171450" algn="just">
              <a:lnSpc>
                <a:spcPct val="200000"/>
              </a:lnSpc>
              <a:buFont typeface="Arial" panose="020B0604020202020204" pitchFamily="34" charset="0"/>
              <a:buChar char="•"/>
            </a:pPr>
            <a:r>
              <a:rPr lang="en-US" sz="1500" dirty="0">
                <a:latin typeface="Times New Roman" panose="02020603050405020304" pitchFamily="18" charset="0"/>
                <a:ea typeface="Calibri" panose="020F0502020204030204" pitchFamily="34" charset="0"/>
                <a:cs typeface="Times New Roman" panose="02020603050405020304" pitchFamily="18" charset="0"/>
              </a:rPr>
              <a:t>Traditional methods often fail to distribute workloads evenly and consume excessive energy.</a:t>
            </a:r>
          </a:p>
          <a:p>
            <a:pPr marL="171450" indent="-171450" algn="just">
              <a:lnSpc>
                <a:spcPct val="200000"/>
              </a:lnSpc>
              <a:buFont typeface="Arial" panose="020B0604020202020204" pitchFamily="34" charset="0"/>
              <a:buChar char="•"/>
            </a:pPr>
            <a:r>
              <a:rPr lang="en-US" sz="1500" dirty="0">
                <a:latin typeface="Times New Roman" panose="02020603050405020304" pitchFamily="18" charset="0"/>
                <a:ea typeface="Calibri" panose="020F0502020204030204" pitchFamily="34" charset="0"/>
                <a:cs typeface="Times New Roman" panose="02020603050405020304" pitchFamily="18" charset="0"/>
              </a:rPr>
              <a:t>The Hybrid Firefly–Antlion Optimizer (FAO) combines local search (Firefly Algorithm) and global exploration (Antlion Optimizer).</a:t>
            </a:r>
          </a:p>
          <a:p>
            <a:pPr marL="171450" indent="-171450" algn="just">
              <a:lnSpc>
                <a:spcPct val="200000"/>
              </a:lnSpc>
              <a:buFont typeface="Arial" panose="020B0604020202020204" pitchFamily="34" charset="0"/>
              <a:buChar char="•"/>
            </a:pPr>
            <a:r>
              <a:rPr lang="en-US" sz="1500" dirty="0">
                <a:latin typeface="Times New Roman" panose="02020603050405020304" pitchFamily="18" charset="0"/>
                <a:ea typeface="Calibri" panose="020F0502020204030204" pitchFamily="34" charset="0"/>
                <a:cs typeface="Times New Roman" panose="02020603050405020304" pitchFamily="18" charset="0"/>
              </a:rPr>
              <a:t>This hybrid approach ensures balanced task allocation and reduces energy consumption.</a:t>
            </a:r>
          </a:p>
          <a:p>
            <a:pPr marL="171450" indent="-171450" algn="just">
              <a:lnSpc>
                <a:spcPct val="200000"/>
              </a:lnSpc>
              <a:buFont typeface="Arial" panose="020B0604020202020204" pitchFamily="34" charset="0"/>
              <a:buChar char="•"/>
            </a:pPr>
            <a:r>
              <a:rPr lang="en-US" sz="1500" dirty="0">
                <a:latin typeface="Times New Roman" panose="02020603050405020304" pitchFamily="18" charset="0"/>
                <a:ea typeface="Calibri" panose="020F0502020204030204" pitchFamily="34" charset="0"/>
                <a:cs typeface="Times New Roman" panose="02020603050405020304" pitchFamily="18" charset="0"/>
              </a:rPr>
              <a:t>Results show optimized resource use, better scalability, and improved system performance.</a:t>
            </a:r>
          </a:p>
          <a:p>
            <a:pPr marL="171450" indent="-171450" algn="just">
              <a:lnSpc>
                <a:spcPct val="200000"/>
              </a:lnSpc>
              <a:buFont typeface="Arial" panose="020B0604020202020204" pitchFamily="34" charset="0"/>
              <a:buChar char="•"/>
            </a:pPr>
            <a:r>
              <a:rPr lang="en-US" sz="1500" dirty="0">
                <a:latin typeface="Times New Roman" panose="02020603050405020304" pitchFamily="18" charset="0"/>
                <a:ea typeface="Calibri" panose="020F0502020204030204" pitchFamily="34" charset="0"/>
                <a:cs typeface="Times New Roman" panose="02020603050405020304" pitchFamily="18" charset="0"/>
              </a:rPr>
              <a:t>It improves accuracy in task scheduling and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49;p33">
            <a:extLst>
              <a:ext uri="{FF2B5EF4-FFF2-40B4-BE49-F238E27FC236}">
                <a16:creationId xmlns:a16="http://schemas.microsoft.com/office/drawing/2014/main" id="{C803C794-54AC-5A41-0D53-854942DC8FB8}"/>
              </a:ext>
            </a:extLst>
          </p:cNvPr>
          <p:cNvSpPr txBox="1">
            <a:spLocks noGrp="1"/>
          </p:cNvSpPr>
          <p:nvPr>
            <p:ph type="ftr" idx="11"/>
          </p:nvPr>
        </p:nvSpPr>
        <p:spPr>
          <a:xfrm>
            <a:off x="1563390" y="4908526"/>
            <a:ext cx="6590010"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dirty="0">
              <a:solidFill>
                <a:schemeClr val="dk2"/>
              </a:solidFill>
              <a:highlight>
                <a:schemeClr val="lt1"/>
              </a:highlight>
              <a:latin typeface="Calibri"/>
              <a:ea typeface="Calibri"/>
              <a:cs typeface="Calibri"/>
              <a:sym typeface="Calibri"/>
            </a:endParaRPr>
          </a:p>
        </p:txBody>
      </p:sp>
      <p:sp>
        <p:nvSpPr>
          <p:cNvPr id="5" name="TextBox 4">
            <a:extLst>
              <a:ext uri="{FF2B5EF4-FFF2-40B4-BE49-F238E27FC236}">
                <a16:creationId xmlns:a16="http://schemas.microsoft.com/office/drawing/2014/main" id="{CFBAF290-8687-8CC0-2993-3346BB802CCA}"/>
              </a:ext>
            </a:extLst>
          </p:cNvPr>
          <p:cNvSpPr txBox="1"/>
          <p:nvPr/>
        </p:nvSpPr>
        <p:spPr>
          <a:xfrm>
            <a:off x="8284314" y="4745083"/>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4</a:t>
            </a:fld>
            <a:endParaRPr lang="en-GB" sz="1000" dirty="0">
              <a:solidFill>
                <a:schemeClr val="bg1">
                  <a:lumMod val="50000"/>
                </a:schemeClr>
              </a:solidFill>
            </a:endParaRPr>
          </a:p>
        </p:txBody>
      </p:sp>
      <p:pic>
        <p:nvPicPr>
          <p:cNvPr id="12" name="Picture 11">
            <a:extLst>
              <a:ext uri="{FF2B5EF4-FFF2-40B4-BE49-F238E27FC236}">
                <a16:creationId xmlns:a16="http://schemas.microsoft.com/office/drawing/2014/main" id="{8DFF5B1B-BC2C-C0BF-6D59-86904502332D}"/>
              </a:ext>
            </a:extLst>
          </p:cNvPr>
          <p:cNvPicPr>
            <a:picLocks noChangeAspect="1"/>
          </p:cNvPicPr>
          <p:nvPr/>
        </p:nvPicPr>
        <p:blipFill>
          <a:blip r:embed="rId3"/>
          <a:srcRect l="117" r="117"/>
          <a:stretch/>
        </p:blipFill>
        <p:spPr>
          <a:xfrm>
            <a:off x="1592580" y="281940"/>
            <a:ext cx="6256020" cy="4626586"/>
          </a:xfrm>
          <a:prstGeom prst="rect">
            <a:avLst/>
          </a:prstGeom>
        </p:spPr>
      </p:pic>
      <p:sp>
        <p:nvSpPr>
          <p:cNvPr id="2" name="TextBox 1">
            <a:extLst>
              <a:ext uri="{FF2B5EF4-FFF2-40B4-BE49-F238E27FC236}">
                <a16:creationId xmlns:a16="http://schemas.microsoft.com/office/drawing/2014/main" id="{6317D81D-B7F4-DF6F-17DD-18C22AF31852}"/>
              </a:ext>
            </a:extLst>
          </p:cNvPr>
          <p:cNvSpPr txBox="1"/>
          <p:nvPr/>
        </p:nvSpPr>
        <p:spPr>
          <a:xfrm>
            <a:off x="2407920" y="1257300"/>
            <a:ext cx="301686" cy="323165"/>
          </a:xfrm>
          <a:prstGeom prst="rect">
            <a:avLst/>
          </a:prstGeom>
          <a:noFill/>
        </p:spPr>
        <p:txBody>
          <a:bodyPr wrap="none" rtlCol="0">
            <a:spAutoFit/>
          </a:bodyPr>
          <a:lstStyle/>
          <a:p>
            <a:r>
              <a:rPr lang="en-IN" sz="1500" b="1" dirty="0">
                <a:solidFill>
                  <a:srgbClr val="045FC4"/>
                </a:solidFill>
              </a:rPr>
              <a:t>o</a:t>
            </a:r>
          </a:p>
        </p:txBody>
      </p:sp>
    </p:spTree>
    <p:extLst>
      <p:ext uri="{BB962C8B-B14F-4D97-AF65-F5344CB8AC3E}">
        <p14:creationId xmlns:p14="http://schemas.microsoft.com/office/powerpoint/2010/main" val="3339729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49" name="Google Shape;149;p33"/>
          <p:cNvSpPr txBox="1">
            <a:spLocks noGrp="1"/>
          </p:cNvSpPr>
          <p:nvPr>
            <p:ph type="ftr" idx="11"/>
          </p:nvPr>
        </p:nvSpPr>
        <p:spPr>
          <a:xfrm>
            <a:off x="1877110" y="4839813"/>
            <a:ext cx="6158021"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dirty="0">
              <a:solidFill>
                <a:schemeClr val="dk2"/>
              </a:solidFill>
              <a:highlight>
                <a:schemeClr val="lt1"/>
              </a:highlight>
              <a:latin typeface="Calibri"/>
              <a:ea typeface="Calibri"/>
              <a:cs typeface="Calibri"/>
              <a:sym typeface="Calibri"/>
            </a:endParaRPr>
          </a:p>
        </p:txBody>
      </p:sp>
      <p:sp>
        <p:nvSpPr>
          <p:cNvPr id="150" name="Google Shape;150;p33"/>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5</a:t>
            </a:fld>
            <a:endParaRPr/>
          </a:p>
        </p:txBody>
      </p:sp>
      <p:sp>
        <p:nvSpPr>
          <p:cNvPr id="151" name="Google Shape;151;p33"/>
          <p:cNvSpPr txBox="1"/>
          <p:nvPr/>
        </p:nvSpPr>
        <p:spPr>
          <a:xfrm>
            <a:off x="4108374" y="2198655"/>
            <a:ext cx="997500" cy="332775"/>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152" name="Google Shape;152;p33"/>
          <p:cNvSpPr txBox="1">
            <a:spLocks noGrp="1"/>
          </p:cNvSpPr>
          <p:nvPr>
            <p:ph type="ctrTitle"/>
          </p:nvPr>
        </p:nvSpPr>
        <p:spPr>
          <a:xfrm>
            <a:off x="2290454" y="207506"/>
            <a:ext cx="4176600" cy="382156"/>
          </a:xfrm>
          <a:prstGeom prst="rect">
            <a:avLst/>
          </a:prstGeom>
          <a:noFill/>
          <a:ln>
            <a:noFill/>
          </a:ln>
        </p:spPr>
        <p:txBody>
          <a:bodyPr spcFirstLastPara="1" wrap="square" lIns="0" tIns="12700" rIns="0" bIns="0" anchor="t" anchorCtr="0">
            <a:spAutoFit/>
          </a:bodyPr>
          <a:lstStyle/>
          <a:p>
            <a:pPr marL="916305" lvl="0" indent="0" algn="l" rtl="0">
              <a:lnSpc>
                <a:spcPct val="100000"/>
              </a:lnSpc>
              <a:spcBef>
                <a:spcPts val="0"/>
              </a:spcBef>
              <a:spcAft>
                <a:spcPts val="0"/>
              </a:spcAft>
              <a:buSzPts val="1400"/>
              <a:buNone/>
            </a:pPr>
            <a:r>
              <a:rPr lang="en-GB" sz="2400" dirty="0">
                <a:latin typeface="Times New Roman" panose="02020603050405020304" pitchFamily="18" charset="0"/>
                <a:cs typeface="Times New Roman" panose="02020603050405020304" pitchFamily="18" charset="0"/>
                <a:sym typeface="Calibri"/>
              </a:rPr>
              <a:t>Problem Definition</a:t>
            </a:r>
            <a:endParaRPr sz="2400" dirty="0">
              <a:latin typeface="Times New Roman" panose="02020603050405020304" pitchFamily="18" charset="0"/>
              <a:cs typeface="Times New Roman" panose="02020603050405020304" pitchFamily="18" charset="0"/>
              <a:sym typeface="Calibri"/>
            </a:endParaRPr>
          </a:p>
        </p:txBody>
      </p:sp>
      <p:sp>
        <p:nvSpPr>
          <p:cNvPr id="153" name="Google Shape;153;p33"/>
          <p:cNvSpPr txBox="1"/>
          <p:nvPr/>
        </p:nvSpPr>
        <p:spPr>
          <a:xfrm>
            <a:off x="152400" y="398584"/>
            <a:ext cx="8839200" cy="4039760"/>
          </a:xfrm>
          <a:prstGeom prst="rect">
            <a:avLst/>
          </a:prstGeom>
          <a:noFill/>
          <a:ln>
            <a:noFill/>
          </a:ln>
        </p:spPr>
        <p:txBody>
          <a:bodyPr spcFirstLastPara="1" wrap="square" lIns="91425" tIns="91425" rIns="91425" bIns="91425" anchor="t" anchorCtr="0">
            <a:noAutofit/>
          </a:bodyPr>
          <a:lstStyle/>
          <a:p>
            <a:pPr marL="457200" lvl="0" algn="just">
              <a:spcBef>
                <a:spcPts val="1200"/>
              </a:spcBef>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algn="just">
              <a:spcBef>
                <a:spcPts val="1200"/>
              </a:spcBef>
            </a:pPr>
            <a:r>
              <a:rPr lang="en-US" sz="1500" dirty="0">
                <a:solidFill>
                  <a:schemeClr val="dk1"/>
                </a:solidFill>
                <a:latin typeface="Times New Roman" panose="02020603050405020304" pitchFamily="18" charset="0"/>
                <a:ea typeface="Calibri"/>
                <a:cs typeface="Times New Roman" panose="02020603050405020304" pitchFamily="18" charset="0"/>
                <a:sym typeface="Calibri"/>
              </a:rPr>
              <a:t>In distributed computing, achieving high accuracy, balanced task distribution, and energy efficiency is a major optimization challenge. The existing Hybrid Firefly–Antlion Optimizer (FAO) model suffers from low accuracy, uneven task allocation, and high energy consumption, affecting performance and scalability. Traditional optimization and metaheuristic methods fail to balance global exploration and local exploitation, leading to poor resource utilization. Hence, there is a need to enhance the FAO model using machine learning–based optimization and energy-aware mechanisms to improve accuracy, efficiency, and energy performance in large-scale dynamic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57"/>
        <p:cNvGrpSpPr/>
        <p:nvPr/>
      </p:nvGrpSpPr>
      <p:grpSpPr>
        <a:xfrm>
          <a:off x="0" y="0"/>
          <a:ext cx="0" cy="0"/>
          <a:chOff x="0" y="0"/>
          <a:chExt cx="0" cy="0"/>
        </a:xfrm>
      </p:grpSpPr>
      <p:sp>
        <p:nvSpPr>
          <p:cNvPr id="158" name="Google Shape;158;p34"/>
          <p:cNvSpPr txBox="1">
            <a:spLocks noGrp="1"/>
          </p:cNvSpPr>
          <p:nvPr>
            <p:ph type="ftr" idx="11"/>
          </p:nvPr>
        </p:nvSpPr>
        <p:spPr>
          <a:xfrm>
            <a:off x="1839031" y="4850082"/>
            <a:ext cx="6137808"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dirty="0">
              <a:solidFill>
                <a:schemeClr val="dk2"/>
              </a:solidFill>
              <a:highlight>
                <a:schemeClr val="lt1"/>
              </a:highlight>
              <a:latin typeface="Times New Roman"/>
              <a:ea typeface="Times New Roman"/>
              <a:cs typeface="Times New Roman"/>
              <a:sym typeface="Times New Roman"/>
            </a:endParaRPr>
          </a:p>
        </p:txBody>
      </p:sp>
      <p:sp>
        <p:nvSpPr>
          <p:cNvPr id="159" name="Google Shape;159;p34"/>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6</a:t>
            </a:fld>
            <a:endParaRPr/>
          </a:p>
        </p:txBody>
      </p:sp>
      <p:sp>
        <p:nvSpPr>
          <p:cNvPr id="160" name="Google Shape;160;p34"/>
          <p:cNvSpPr txBox="1"/>
          <p:nvPr/>
        </p:nvSpPr>
        <p:spPr>
          <a:xfrm>
            <a:off x="4108374" y="2198655"/>
            <a:ext cx="997500" cy="332775"/>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161" name="Google Shape;161;p34"/>
          <p:cNvSpPr txBox="1">
            <a:spLocks noGrp="1"/>
          </p:cNvSpPr>
          <p:nvPr>
            <p:ph type="ctrTitle"/>
          </p:nvPr>
        </p:nvSpPr>
        <p:spPr>
          <a:xfrm>
            <a:off x="2518825" y="304548"/>
            <a:ext cx="4176600" cy="382200"/>
          </a:xfrm>
          <a:prstGeom prst="rect">
            <a:avLst/>
          </a:prstGeom>
          <a:noFill/>
          <a:ln>
            <a:noFill/>
          </a:ln>
        </p:spPr>
        <p:txBody>
          <a:bodyPr spcFirstLastPara="1" wrap="square" lIns="0" tIns="12700" rIns="0" bIns="0" anchor="t" anchorCtr="0">
            <a:spAutoFit/>
          </a:bodyPr>
          <a:lstStyle/>
          <a:p>
            <a:pPr marL="892810" lvl="0" indent="0" algn="l" rtl="0">
              <a:lnSpc>
                <a:spcPct val="100000"/>
              </a:lnSpc>
              <a:spcBef>
                <a:spcPts val="0"/>
              </a:spcBef>
              <a:spcAft>
                <a:spcPts val="0"/>
              </a:spcAft>
              <a:buSzPts val="1400"/>
              <a:buNone/>
            </a:pPr>
            <a:r>
              <a:rPr lang="en-GB" sz="2400" dirty="0">
                <a:latin typeface="Times New Roman" panose="02020603050405020304" pitchFamily="18" charset="0"/>
                <a:ea typeface="Calibri" panose="020F0502020204030204" pitchFamily="34" charset="0"/>
                <a:cs typeface="Times New Roman" panose="02020603050405020304" pitchFamily="18" charset="0"/>
                <a:sym typeface="Calibri"/>
              </a:rPr>
              <a:t>Aim and Objectives</a:t>
            </a:r>
            <a:endParaRPr sz="2400" dirty="0">
              <a:latin typeface="Times New Roman" panose="02020603050405020304" pitchFamily="18" charset="0"/>
              <a:ea typeface="Calibri" panose="020F0502020204030204" pitchFamily="34" charset="0"/>
              <a:cs typeface="Times New Roman" panose="02020603050405020304" pitchFamily="18" charset="0"/>
              <a:sym typeface="Calibri"/>
            </a:endParaRPr>
          </a:p>
        </p:txBody>
      </p:sp>
      <p:sp>
        <p:nvSpPr>
          <p:cNvPr id="162" name="Google Shape;162;p34"/>
          <p:cNvSpPr txBox="1"/>
          <p:nvPr/>
        </p:nvSpPr>
        <p:spPr>
          <a:xfrm>
            <a:off x="342134" y="702723"/>
            <a:ext cx="8482198" cy="3921315"/>
          </a:xfrm>
          <a:prstGeom prst="rect">
            <a:avLst/>
          </a:prstGeom>
          <a:noFill/>
          <a:ln>
            <a:noFill/>
          </a:ln>
        </p:spPr>
        <p:txBody>
          <a:bodyPr spcFirstLastPara="1" wrap="square" lIns="91425" tIns="91425" rIns="91425" bIns="91425" anchor="t" anchorCtr="0">
            <a:noAutofit/>
          </a:bodyPr>
          <a:lstStyle/>
          <a:p>
            <a:r>
              <a:rPr lang="en-IN" b="1" dirty="0">
                <a:latin typeface="Times New Roman" panose="02020603050405020304" pitchFamily="18" charset="0"/>
                <a:ea typeface="Calibri" panose="020F0502020204030204" pitchFamily="34" charset="0"/>
                <a:cs typeface="Times New Roman" panose="02020603050405020304" pitchFamily="18" charset="0"/>
              </a:rPr>
              <a:t>Aim</a:t>
            </a:r>
          </a:p>
          <a:p>
            <a:r>
              <a:rPr lang="en-IN" dirty="0">
                <a:latin typeface="Times New Roman" panose="02020603050405020304" pitchFamily="18" charset="0"/>
                <a:ea typeface="Calibri" panose="020F0502020204030204" pitchFamily="34" charset="0"/>
                <a:cs typeface="Times New Roman" panose="02020603050405020304" pitchFamily="18" charset="0"/>
              </a:rPr>
              <a:t>Design and implement a </a:t>
            </a:r>
            <a:r>
              <a:rPr lang="en-IN" b="1" dirty="0">
                <a:latin typeface="Times New Roman" panose="02020603050405020304" pitchFamily="18" charset="0"/>
                <a:ea typeface="Calibri" panose="020F0502020204030204" pitchFamily="34" charset="0"/>
                <a:cs typeface="Times New Roman" panose="02020603050405020304" pitchFamily="18" charset="0"/>
              </a:rPr>
              <a:t>Hybrid Firefly–Antlion Optimizer (FAO)</a:t>
            </a:r>
            <a:r>
              <a:rPr lang="en-IN" dirty="0">
                <a:latin typeface="Times New Roman" panose="02020603050405020304" pitchFamily="18" charset="0"/>
                <a:ea typeface="Calibri" panose="020F0502020204030204" pitchFamily="34" charset="0"/>
                <a:cs typeface="Times New Roman" panose="02020603050405020304" pitchFamily="18" charset="0"/>
              </a:rPr>
              <a:t> with </a:t>
            </a:r>
            <a:r>
              <a:rPr lang="en-IN" b="1" dirty="0">
                <a:latin typeface="Times New Roman" panose="02020603050405020304" pitchFamily="18" charset="0"/>
                <a:ea typeface="Calibri" panose="020F0502020204030204" pitchFamily="34" charset="0"/>
                <a:cs typeface="Times New Roman" panose="02020603050405020304" pitchFamily="18" charset="0"/>
              </a:rPr>
              <a:t>energy-aware load balancing</a:t>
            </a:r>
            <a:r>
              <a:rPr lang="en-IN" dirty="0">
                <a:latin typeface="Times New Roman" panose="02020603050405020304" pitchFamily="18" charset="0"/>
                <a:ea typeface="Calibri" panose="020F0502020204030204" pitchFamily="34" charset="0"/>
                <a:cs typeface="Times New Roman" panose="02020603050405020304" pitchFamily="18" charset="0"/>
              </a:rPr>
              <a:t> to efficiently distribute workloads, minimize energy consumption, improve resource utilization, and enhance overall system performance in distributed/cloud environments.</a:t>
            </a:r>
          </a:p>
          <a:p>
            <a:pPr>
              <a:lnSpc>
                <a:spcPct val="90000"/>
              </a:lnSpc>
              <a:spcAft>
                <a:spcPts val="600"/>
              </a:spcAft>
            </a:pPr>
            <a:endParaRPr lang="en-US" b="1"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90000"/>
              </a:lnSpc>
              <a:spcAft>
                <a:spcPts val="600"/>
              </a:spcAft>
            </a:pPr>
            <a:r>
              <a:rPr lang="en-US" b="1"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Objectives:</a:t>
            </a:r>
            <a:endPar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57150">
              <a:lnSpc>
                <a:spcPct val="90000"/>
              </a:lnSpc>
              <a:spcAft>
                <a:spcPts val="600"/>
              </a:spcAft>
            </a:pPr>
            <a:endPar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28600">
              <a:lnSpc>
                <a:spcPct val="90000"/>
              </a:lnSpc>
              <a:spcAft>
                <a:spcPts val="600"/>
              </a:spcAft>
              <a:buFont typeface="Arial" panose="020B0604020202020204" pitchFamily="34" charset="0"/>
              <a:buChar char="•"/>
            </a:pPr>
            <a:r>
              <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To minimize energy consumption and improve performance by developing an energy-aware load balancing mechanism </a:t>
            </a:r>
          </a:p>
          <a:p>
            <a:pPr marL="285750" indent="-228600">
              <a:lnSpc>
                <a:spcPct val="90000"/>
              </a:lnSpc>
              <a:spcAft>
                <a:spcPts val="600"/>
              </a:spcAft>
              <a:buFont typeface="Arial" panose="020B0604020202020204" pitchFamily="34" charset="0"/>
              <a:buChar char="•"/>
            </a:pPr>
            <a:endPar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28600">
              <a:lnSpc>
                <a:spcPct val="90000"/>
              </a:lnSpc>
              <a:spcAft>
                <a:spcPts val="600"/>
              </a:spcAft>
              <a:buFont typeface="Arial" panose="020B0604020202020204" pitchFamily="34" charset="0"/>
              <a:buChar char="•"/>
            </a:pPr>
            <a:r>
              <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To enhance resource utilization and task execution efficiency through dynamic workload management.</a:t>
            </a:r>
          </a:p>
          <a:p>
            <a:pPr marL="57150">
              <a:lnSpc>
                <a:spcPct val="90000"/>
              </a:lnSpc>
              <a:spcAft>
                <a:spcPts val="600"/>
              </a:spcAft>
            </a:pPr>
            <a:endPar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28600">
              <a:lnSpc>
                <a:spcPct val="90000"/>
              </a:lnSpc>
              <a:spcAft>
                <a:spcPts val="60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To improve load balancing across virtual machines.</a:t>
            </a:r>
          </a:p>
          <a:p>
            <a:pPr marL="285750" indent="-228600">
              <a:lnSpc>
                <a:spcPct val="90000"/>
              </a:lnSpc>
              <a:spcAft>
                <a:spcPts val="600"/>
              </a:spcAft>
              <a:buFont typeface="Arial" panose="020B0604020202020204" pitchFamily="34" charset="0"/>
              <a:buChar char="•"/>
            </a:pPr>
            <a:endPar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28600">
              <a:lnSpc>
                <a:spcPct val="90000"/>
              </a:lnSpc>
              <a:spcAft>
                <a:spcPts val="60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To minimize makespan and enhance task execution speed.</a:t>
            </a:r>
            <a:endParaRPr lang="en-US" kern="1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28600">
              <a:lnSpc>
                <a:spcPct val="90000"/>
              </a:lnSpc>
              <a:spcAft>
                <a:spcPts val="600"/>
              </a:spcAft>
              <a:buFont typeface="Arial" panose="020B0604020202020204" pitchFamily="34" charset="0"/>
              <a:buChar char="•"/>
            </a:pPr>
            <a:endParaRPr lang="en-US" sz="1200" kern="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66"/>
        <p:cNvGrpSpPr/>
        <p:nvPr/>
      </p:nvGrpSpPr>
      <p:grpSpPr>
        <a:xfrm>
          <a:off x="0" y="0"/>
          <a:ext cx="0" cy="0"/>
          <a:chOff x="0" y="0"/>
          <a:chExt cx="0" cy="0"/>
        </a:xfrm>
      </p:grpSpPr>
      <p:sp>
        <p:nvSpPr>
          <p:cNvPr id="167" name="Google Shape;167;p35"/>
          <p:cNvSpPr txBox="1">
            <a:spLocks noGrp="1"/>
          </p:cNvSpPr>
          <p:nvPr>
            <p:ph type="ftr" idx="11"/>
          </p:nvPr>
        </p:nvSpPr>
        <p:spPr>
          <a:xfrm>
            <a:off x="971550" y="4827235"/>
            <a:ext cx="7436941" cy="312393"/>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Times New Roman"/>
                <a:ea typeface="Times New Roman"/>
                <a:cs typeface="Times New Roman"/>
                <a:sym typeface="Times New Roman"/>
              </a:rPr>
              <a:t>Hybrid Firefly–Antlion Optimizer with Energy-Aware Load Balancing for Sustainable Cloud Scheduling</a:t>
            </a:r>
            <a:endParaRPr sz="1000" dirty="0">
              <a:solidFill>
                <a:schemeClr val="dk2"/>
              </a:solidFill>
              <a:highlight>
                <a:schemeClr val="lt1"/>
              </a:highlight>
              <a:latin typeface="Times New Roman"/>
              <a:ea typeface="Times New Roman"/>
              <a:cs typeface="Times New Roman"/>
              <a:sym typeface="Times New Roman"/>
            </a:endParaRPr>
          </a:p>
          <a:p>
            <a:pPr marL="12700" lvl="0" indent="0" algn="l" rtl="0">
              <a:lnSpc>
                <a:spcPct val="103333"/>
              </a:lnSpc>
              <a:spcBef>
                <a:spcPts val="0"/>
              </a:spcBef>
              <a:spcAft>
                <a:spcPts val="0"/>
              </a:spcAft>
              <a:buSzPts val="1400"/>
              <a:buNone/>
            </a:pPr>
            <a:endParaRPr sz="1000" dirty="0"/>
          </a:p>
        </p:txBody>
      </p:sp>
      <p:sp>
        <p:nvSpPr>
          <p:cNvPr id="168" name="Google Shape;168;p35"/>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7</a:t>
            </a:fld>
            <a:endParaRPr/>
          </a:p>
        </p:txBody>
      </p:sp>
      <p:sp>
        <p:nvSpPr>
          <p:cNvPr id="169" name="Google Shape;169;p35"/>
          <p:cNvSpPr txBox="1">
            <a:spLocks noGrp="1"/>
          </p:cNvSpPr>
          <p:nvPr>
            <p:ph type="title"/>
          </p:nvPr>
        </p:nvSpPr>
        <p:spPr>
          <a:xfrm>
            <a:off x="1779450" y="-102075"/>
            <a:ext cx="5585100" cy="538089"/>
          </a:xfrm>
          <a:prstGeom prst="rect">
            <a:avLst/>
          </a:prstGeom>
          <a:noFill/>
          <a:ln>
            <a:noFill/>
          </a:ln>
        </p:spPr>
        <p:txBody>
          <a:bodyPr spcFirstLastPara="1" wrap="square" lIns="0" tIns="167125" rIns="0" bIns="0" anchor="t" anchorCtr="0">
            <a:spAutoFit/>
          </a:bodyPr>
          <a:lstStyle/>
          <a:p>
            <a:pPr marL="1739264" lvl="0" indent="0" algn="l" rtl="0">
              <a:lnSpc>
                <a:spcPct val="100000"/>
              </a:lnSpc>
              <a:spcBef>
                <a:spcPts val="0"/>
              </a:spcBef>
              <a:spcAft>
                <a:spcPts val="0"/>
              </a:spcAft>
              <a:buSzPts val="1400"/>
              <a:buNone/>
            </a:pPr>
            <a:r>
              <a:rPr lang="en-GB" sz="2400" dirty="0">
                <a:latin typeface="Times New Roman"/>
                <a:ea typeface="Times New Roman"/>
                <a:cs typeface="Times New Roman"/>
                <a:sym typeface="Times New Roman"/>
              </a:rPr>
              <a:t>Literature Review</a:t>
            </a:r>
            <a:endParaRPr sz="2400" dirty="0">
              <a:latin typeface="Times New Roman"/>
              <a:ea typeface="Times New Roman"/>
              <a:cs typeface="Times New Roman"/>
              <a:sym typeface="Times New Roman"/>
            </a:endParaRPr>
          </a:p>
        </p:txBody>
      </p:sp>
      <p:graphicFrame>
        <p:nvGraphicFramePr>
          <p:cNvPr id="170" name="Google Shape;170;p35"/>
          <p:cNvGraphicFramePr/>
          <p:nvPr>
            <p:extLst>
              <p:ext uri="{D42A27DB-BD31-4B8C-83A1-F6EECF244321}">
                <p14:modId xmlns:p14="http://schemas.microsoft.com/office/powerpoint/2010/main" val="3254129884"/>
              </p:ext>
            </p:extLst>
          </p:nvPr>
        </p:nvGraphicFramePr>
        <p:xfrm>
          <a:off x="293662" y="458861"/>
          <a:ext cx="8556675" cy="4109525"/>
        </p:xfrm>
        <a:graphic>
          <a:graphicData uri="http://schemas.openxmlformats.org/drawingml/2006/table">
            <a:tbl>
              <a:tblPr firstRow="1" bandRow="1">
                <a:noFill/>
                <a:tableStyleId>{C2489804-17E0-4773-9031-1ADBED480AF3}</a:tableStyleId>
              </a:tblPr>
              <a:tblGrid>
                <a:gridCol w="321975">
                  <a:extLst>
                    <a:ext uri="{9D8B030D-6E8A-4147-A177-3AD203B41FA5}">
                      <a16:colId xmlns:a16="http://schemas.microsoft.com/office/drawing/2014/main" val="20000"/>
                    </a:ext>
                  </a:extLst>
                </a:gridCol>
                <a:gridCol w="1148550">
                  <a:extLst>
                    <a:ext uri="{9D8B030D-6E8A-4147-A177-3AD203B41FA5}">
                      <a16:colId xmlns:a16="http://schemas.microsoft.com/office/drawing/2014/main" val="20001"/>
                    </a:ext>
                  </a:extLst>
                </a:gridCol>
                <a:gridCol w="1086525">
                  <a:extLst>
                    <a:ext uri="{9D8B030D-6E8A-4147-A177-3AD203B41FA5}">
                      <a16:colId xmlns:a16="http://schemas.microsoft.com/office/drawing/2014/main" val="20002"/>
                    </a:ext>
                  </a:extLst>
                </a:gridCol>
                <a:gridCol w="1182875">
                  <a:extLst>
                    <a:ext uri="{9D8B030D-6E8A-4147-A177-3AD203B41FA5}">
                      <a16:colId xmlns:a16="http://schemas.microsoft.com/office/drawing/2014/main" val="20003"/>
                    </a:ext>
                  </a:extLst>
                </a:gridCol>
                <a:gridCol w="2585574">
                  <a:extLst>
                    <a:ext uri="{9D8B030D-6E8A-4147-A177-3AD203B41FA5}">
                      <a16:colId xmlns:a16="http://schemas.microsoft.com/office/drawing/2014/main" val="20004"/>
                    </a:ext>
                  </a:extLst>
                </a:gridCol>
                <a:gridCol w="2231176">
                  <a:extLst>
                    <a:ext uri="{9D8B030D-6E8A-4147-A177-3AD203B41FA5}">
                      <a16:colId xmlns:a16="http://schemas.microsoft.com/office/drawing/2014/main" val="20005"/>
                    </a:ext>
                  </a:extLst>
                </a:gridCol>
              </a:tblGrid>
              <a:tr h="4109525">
                <a:tc>
                  <a:txBody>
                    <a:bodyPr/>
                    <a:lstStyle/>
                    <a:p>
                      <a:pPr marL="63500" marR="0" lvl="0" indent="0" algn="l"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Sr.</a:t>
                      </a:r>
                      <a:endParaRPr sz="1100" u="none" strike="noStrike" cap="none" dirty="0">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No.</a:t>
                      </a: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1.</a:t>
                      </a: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Times New Roman"/>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Title of the</a:t>
                      </a:r>
                      <a:endParaRPr dirty="0">
                        <a:latin typeface="Times New Roman" panose="02020603050405020304" pitchFamily="18" charset="0"/>
                        <a:ea typeface="Calibri" panose="020F0502020204030204" pitchFamily="34" charset="0"/>
                        <a:cs typeface="Times New Roman" panose="02020603050405020304" pitchFamily="18" charset="0"/>
                      </a:endParaRPr>
                    </a:p>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 paper</a:t>
                      </a: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Optimizing Cloud Load Balancing with a Hybrid Bio-Inspired Approach: Enhancing Performance and Scalability </a:t>
                      </a:r>
                      <a:endParaRPr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0" marR="0" marT="21425" marB="0">
                    <a:lnL w="12700" cap="flat" cmpd="sng">
                      <a:solidFill>
                        <a:srgbClr val="FFFFFF"/>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Author</a:t>
                      </a: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Salam Al-</a:t>
                      </a:r>
                      <a:r>
                        <a:rPr lang="en-GB" sz="1100" u="none" strike="noStrike" cap="none" dirty="0" err="1">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E’mari</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 University of Petra, Jordan</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Yousef </a:t>
                      </a:r>
                      <a:r>
                        <a:rPr lang="en-GB" sz="1100" u="none" strike="noStrike" cap="none" dirty="0" err="1">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Sanjalawe</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 The University of Jordan</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chemeClr val="dk1"/>
                        </a:buClr>
                        <a:buSzPts val="1100"/>
                        <a:buFont typeface="Arial"/>
                        <a:buNone/>
                      </a:pPr>
                      <a:r>
                        <a:rPr lang="en-GB" sz="1100" u="none" strike="noStrike" cap="none" dirty="0" err="1">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Budoor</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a:t>
                      </a:r>
                      <a:r>
                        <a:rPr lang="en-GB" sz="1100" u="none" strike="noStrike" cap="none" dirty="0" err="1">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Allehyani</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 Umm Al-Qura University, Saudi Arabia</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0" lvl="0" indent="0" algn="l" rtl="0">
                        <a:lnSpc>
                          <a:spcPct val="100000"/>
                        </a:lnSpc>
                        <a:spcBef>
                          <a:spcPts val="0"/>
                        </a:spcBef>
                        <a:spcAft>
                          <a:spcPts val="0"/>
                        </a:spcAft>
                        <a:buClr>
                          <a:srgbClr val="000000"/>
                        </a:buClr>
                        <a:buSzPts val="1100"/>
                        <a:buFont typeface="Arial"/>
                        <a:buNone/>
                      </a:pP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0" marR="0" marT="21425"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4F81BD"/>
                    </a:solidFill>
                  </a:tcPr>
                </a:tc>
                <a:tc>
                  <a:txBody>
                    <a:bodyPr/>
                    <a:lstStyle/>
                    <a:p>
                      <a:pPr marL="63500" marR="165100" lvl="0" indent="0" algn="ctr" rtl="0">
                        <a:lnSpc>
                          <a:spcPct val="100000"/>
                        </a:lnSpc>
                        <a:spcBef>
                          <a:spcPts val="0"/>
                        </a:spcBef>
                        <a:spcAft>
                          <a:spcPts val="0"/>
                        </a:spcAft>
                        <a:buClr>
                          <a:schemeClr val="dk1"/>
                        </a:buClr>
                        <a:buSzPts val="1100"/>
                        <a:buFont typeface="Arial"/>
                        <a:buNone/>
                      </a:pPr>
                      <a:r>
                        <a:rPr lang="en-GB" sz="1100" b="1" u="none" strike="noStrike" cap="none" dirty="0">
                          <a:solidFill>
                            <a:srgbClr val="F1F1F1"/>
                          </a:solidFill>
                          <a:latin typeface="Times New Roman" panose="02020603050405020304" pitchFamily="18" charset="0"/>
                          <a:ea typeface="Calibri" panose="020F0502020204030204" pitchFamily="34" charset="0"/>
                          <a:cs typeface="Times New Roman" panose="02020603050405020304" pitchFamily="18" charset="0"/>
                          <a:sym typeface="Calibri"/>
                        </a:rPr>
                        <a:t>Year of Publication/ Publisher</a:t>
                      </a: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165100" lvl="0" indent="0" algn="l" rtl="0">
                        <a:lnSpc>
                          <a:spcPct val="100000"/>
                        </a:lnSpc>
                        <a:spcBef>
                          <a:spcPts val="0"/>
                        </a:spcBef>
                        <a:spcAft>
                          <a:spcPts val="0"/>
                        </a:spcAft>
                        <a:buClr>
                          <a:srgbClr val="000000"/>
                        </a:buClr>
                        <a:buSzPts val="1100"/>
                        <a:buFont typeface="Arial"/>
                        <a:buNone/>
                      </a:pPr>
                      <a:endParaRPr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165100" lvl="0" indent="0" algn="l" rtl="0">
                        <a:lnSpc>
                          <a:spcPct val="100000"/>
                        </a:lnSpc>
                        <a:spcBef>
                          <a:spcPts val="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2025</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16510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16510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(Presented at the 1st International Conference on Computational Intelligence Approaches and Applications - ICCIAA 2025)</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0" marR="0" marT="21425" marB="0">
                    <a:lnL w="12700" cap="flat" cmpd="sng">
                      <a:solidFill>
                        <a:schemeClr val="lt1"/>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12700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rPr>
                        <a:t>Major observations/findings</a:t>
                      </a:r>
                      <a:endParaRPr sz="1100" b="1"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457200" marR="0" lvl="0" indent="0" algn="l" rtl="0">
                        <a:lnSpc>
                          <a:spcPct val="115000"/>
                        </a:lnSpc>
                        <a:spcBef>
                          <a:spcPts val="900"/>
                        </a:spcBef>
                        <a:spcAft>
                          <a:spcPts val="0"/>
                        </a:spcAft>
                        <a:buClr>
                          <a:srgbClr val="000000"/>
                        </a:buClr>
                        <a:buSzPts val="1100"/>
                        <a:buFont typeface="Arial"/>
                        <a:buNone/>
                      </a:pPr>
                      <a:endParaRPr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a:t>
                      </a:r>
                      <a:endParaRPr dirty="0">
                        <a:latin typeface="Times New Roman" panose="02020603050405020304" pitchFamily="18" charset="0"/>
                        <a:ea typeface="Calibri" panose="020F0502020204030204" pitchFamily="34" charset="0"/>
                        <a:cs typeface="Times New Roman" panose="02020603050405020304" pitchFamily="18" charset="0"/>
                      </a:endParaRPr>
                    </a:p>
                    <a:p>
                      <a:pPr marL="171450" marR="0" lvl="0" indent="-171450" algn="just" rtl="0">
                        <a:lnSpc>
                          <a:spcPct val="100000"/>
                        </a:lnSpc>
                        <a:spcBef>
                          <a:spcPts val="0"/>
                        </a:spcBef>
                        <a:spcAft>
                          <a:spcPts val="0"/>
                        </a:spcAft>
                        <a:buClr>
                          <a:schemeClr val="bg1"/>
                        </a:buClr>
                        <a:buSzPct val="150000"/>
                        <a:buFont typeface="Arial" panose="020B0604020202020204" pitchFamily="34" charset="0"/>
                        <a:buChar char="•"/>
                      </a:pP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Hybrid SSA–EHO:</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Uses SSA for exploration and EHO for exploitation/clustering.</a:t>
                      </a:r>
                    </a:p>
                    <a:p>
                      <a:pPr marL="171450" marR="0" lvl="0" indent="-171450" algn="just" rtl="0">
                        <a:lnSpc>
                          <a:spcPct val="100000"/>
                        </a:lnSpc>
                        <a:spcBef>
                          <a:spcPts val="0"/>
                        </a:spcBef>
                        <a:spcAft>
                          <a:spcPts val="0"/>
                        </a:spcAft>
                        <a:buClr>
                          <a:schemeClr val="bg1"/>
                        </a:buClr>
                        <a:buSzPct val="150000"/>
                        <a:buFont typeface="Arial" panose="020B0604020202020204" pitchFamily="34" charset="0"/>
                        <a:buChar char="•"/>
                      </a:pP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Outperforms</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traditional algorithms (RR, PSO, ACO, GA, LH-PSO, HFTO, EWSO) with:</a:t>
                      </a:r>
                      <a:endParaRPr sz="1100" dirty="0">
                        <a:latin typeface="Times New Roman" panose="02020603050405020304" pitchFamily="18" charset="0"/>
                        <a:ea typeface="Calibri" panose="020F0502020204030204" pitchFamily="34" charset="0"/>
                        <a:cs typeface="Times New Roman" panose="02020603050405020304" pitchFamily="18" charset="0"/>
                      </a:endParaRPr>
                    </a:p>
                    <a:p>
                      <a:pPr marL="228600" marR="0" lvl="0" indent="-228600" algn="just" rtl="0">
                        <a:lnSpc>
                          <a:spcPct val="100000"/>
                        </a:lnSpc>
                        <a:spcBef>
                          <a:spcPts val="0"/>
                        </a:spcBef>
                        <a:spcAft>
                          <a:spcPts val="0"/>
                        </a:spcAft>
                        <a:buClr>
                          <a:schemeClr val="bg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Better load balancing</a:t>
                      </a:r>
                      <a:endParaRPr lang="en-GB"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Arial"/>
                      </a:endParaRPr>
                    </a:p>
                    <a:p>
                      <a:pPr marL="228600" marR="0" lvl="0" indent="-228600" algn="just" rtl="0">
                        <a:lnSpc>
                          <a:spcPct val="100000"/>
                        </a:lnSpc>
                        <a:spcBef>
                          <a:spcPts val="0"/>
                        </a:spcBef>
                        <a:spcAft>
                          <a:spcPts val="0"/>
                        </a:spcAft>
                        <a:buClr>
                          <a:schemeClr val="bg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Lower response time</a:t>
                      </a:r>
                      <a:endParaRPr lang="en-GB"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Arial"/>
                      </a:endParaRPr>
                    </a:p>
                    <a:p>
                      <a:pPr marL="228600" marR="0" lvl="0" indent="-228600" algn="just" rtl="0">
                        <a:lnSpc>
                          <a:spcPct val="100000"/>
                        </a:lnSpc>
                        <a:spcBef>
                          <a:spcPts val="0"/>
                        </a:spcBef>
                        <a:spcAft>
                          <a:spcPts val="0"/>
                        </a:spcAft>
                        <a:buClr>
                          <a:schemeClr val="bg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Higher resource utilization</a:t>
                      </a:r>
                      <a:endParaRPr lang="en-GB"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Arial"/>
                      </a:endParaRPr>
                    </a:p>
                    <a:p>
                      <a:pPr marL="228600" marR="0" lvl="0" indent="-228600" algn="just" rtl="0">
                        <a:lnSpc>
                          <a:spcPct val="100000"/>
                        </a:lnSpc>
                        <a:spcBef>
                          <a:spcPts val="0"/>
                        </a:spcBef>
                        <a:spcAft>
                          <a:spcPts val="0"/>
                        </a:spcAft>
                        <a:buClr>
                          <a:schemeClr val="bg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Improved scalability</a:t>
                      </a:r>
                      <a:endParaRPr lang="en-GB"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Arial"/>
                      </a:endParaRPr>
                    </a:p>
                    <a:p>
                      <a:pPr marL="228600" marR="0" lvl="0" indent="-228600" algn="just" rtl="0">
                        <a:lnSpc>
                          <a:spcPct val="100000"/>
                        </a:lnSpc>
                        <a:spcBef>
                          <a:spcPts val="0"/>
                        </a:spcBef>
                        <a:spcAft>
                          <a:spcPts val="0"/>
                        </a:spcAft>
                        <a:buClr>
                          <a:schemeClr val="bg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Reduced energy consumption</a:t>
                      </a:r>
                      <a:endParaRPr sz="1100" dirty="0">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0" algn="l" rtl="0">
                        <a:lnSpc>
                          <a:spcPct val="115000"/>
                        </a:lnSpc>
                        <a:spcBef>
                          <a:spcPts val="90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ctr" rtl="0">
                        <a:lnSpc>
                          <a:spcPct val="115000"/>
                        </a:lnSpc>
                        <a:spcBef>
                          <a:spcPts val="900"/>
                        </a:spcBef>
                        <a:spcAft>
                          <a:spcPts val="0"/>
                        </a:spcAft>
                        <a:buClr>
                          <a:schemeClr val="dk1"/>
                        </a:buClr>
                        <a:buSzPts val="800"/>
                        <a:buFont typeface="Arial"/>
                        <a:buNone/>
                      </a:pP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127000" lvl="0" indent="0" algn="ctr" rtl="0">
                        <a:lnSpc>
                          <a:spcPct val="100000"/>
                        </a:lnSpc>
                        <a:spcBef>
                          <a:spcPts val="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Research Gap</a:t>
                      </a:r>
                      <a:endParaRPr sz="1100" b="1" u="none" strike="noStrike" cap="none" dirty="0">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127000" lvl="0" indent="0" algn="l" rtl="0">
                        <a:lnSpc>
                          <a:spcPct val="100000"/>
                        </a:lnSpc>
                        <a:spcBef>
                          <a:spcPts val="900"/>
                        </a:spcBef>
                        <a:spcAft>
                          <a:spcPts val="0"/>
                        </a:spcAft>
                        <a:buClr>
                          <a:schemeClr val="dk1"/>
                        </a:buClr>
                        <a:buSzPts val="1100"/>
                        <a:buFont typeface="Arial"/>
                        <a:buNone/>
                      </a:pPr>
                      <a:endParaRPr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457200" marR="127000" lvl="0" indent="-298450" algn="l" rtl="0">
                        <a:lnSpc>
                          <a:spcPct val="100000"/>
                        </a:lnSpc>
                        <a:spcBef>
                          <a:spcPts val="90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Existing load balancing algorithms, including both traditional and bio-inspired ones (e.g., PSO, GA, ACO, ABC), have major limitations</a:t>
                      </a:r>
                    </a:p>
                    <a:p>
                      <a:pPr marL="457200" marR="127000" lvl="0" indent="-298450" algn="l" rtl="0">
                        <a:lnSpc>
                          <a:spcPct val="100000"/>
                        </a:lnSpc>
                        <a:spcBef>
                          <a:spcPts val="90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Premature convergence</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High computational complexity</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Inefficiency in dynamic and heterogeneous cloud environments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Over-dependence on parameter tuning</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15000"/>
                        </a:lnSpc>
                        <a:spcBef>
                          <a:spcPts val="0"/>
                        </a:spcBef>
                        <a:spcAft>
                          <a:spcPts val="0"/>
                        </a:spcAft>
                        <a:buClr>
                          <a:schemeClr val="dk1"/>
                        </a:buClr>
                        <a:buSzPts val="1100"/>
                        <a:buFont typeface="Arial"/>
                        <a:buNone/>
                      </a:pP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127000" lvl="0" indent="0" algn="l" rtl="0">
                        <a:lnSpc>
                          <a:spcPct val="100000"/>
                        </a:lnSpc>
                        <a:spcBef>
                          <a:spcPts val="900"/>
                        </a:spcBef>
                        <a:spcAft>
                          <a:spcPts val="0"/>
                        </a:spcAft>
                        <a:buClr>
                          <a:schemeClr val="dk1"/>
                        </a:buClr>
                        <a:buSzPts val="800"/>
                        <a:buFont typeface="Arial"/>
                        <a:buNone/>
                      </a:pPr>
                      <a:endParaRPr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63500" marR="127000" lvl="0" indent="0" algn="l" rtl="0">
                        <a:lnSpc>
                          <a:spcPct val="100000"/>
                        </a:lnSpc>
                        <a:spcBef>
                          <a:spcPts val="0"/>
                        </a:spcBef>
                        <a:spcAft>
                          <a:spcPts val="0"/>
                        </a:spcAft>
                        <a:buClr>
                          <a:srgbClr val="000000"/>
                        </a:buClr>
                        <a:buSzPts val="1100"/>
                        <a:buFont typeface="Arial"/>
                        <a:buNone/>
                      </a:pPr>
                      <a:endParaRPr sz="1100" u="none" strike="noStrike" cap="none" dirty="0">
                        <a:solidFill>
                          <a:srgbClr val="FFFFFF"/>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bl>
          </a:graphicData>
        </a:graphic>
      </p:graphicFrame>
      <p:cxnSp>
        <p:nvCxnSpPr>
          <p:cNvPr id="171" name="Google Shape;171;p35"/>
          <p:cNvCxnSpPr/>
          <p:nvPr/>
        </p:nvCxnSpPr>
        <p:spPr>
          <a:xfrm rot="10800000" flipH="1">
            <a:off x="136363" y="972150"/>
            <a:ext cx="9083700" cy="366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graphicFrame>
        <p:nvGraphicFramePr>
          <p:cNvPr id="176" name="Google Shape;176;p36"/>
          <p:cNvGraphicFramePr/>
          <p:nvPr>
            <p:extLst>
              <p:ext uri="{D42A27DB-BD31-4B8C-83A1-F6EECF244321}">
                <p14:modId xmlns:p14="http://schemas.microsoft.com/office/powerpoint/2010/main" val="4081729557"/>
              </p:ext>
            </p:extLst>
          </p:nvPr>
        </p:nvGraphicFramePr>
        <p:xfrm>
          <a:off x="275063" y="643253"/>
          <a:ext cx="8534400" cy="3929275"/>
        </p:xfrm>
        <a:graphic>
          <a:graphicData uri="http://schemas.openxmlformats.org/drawingml/2006/table">
            <a:tbl>
              <a:tblPr firstRow="1" bandRow="1">
                <a:noFill/>
                <a:tableStyleId>{A69CD3E9-7AF9-4501-8DF7-6F84E3247698}</a:tableStyleId>
              </a:tblPr>
              <a:tblGrid>
                <a:gridCol w="962900">
                  <a:extLst>
                    <a:ext uri="{9D8B030D-6E8A-4147-A177-3AD203B41FA5}">
                      <a16:colId xmlns:a16="http://schemas.microsoft.com/office/drawing/2014/main" val="20000"/>
                    </a:ext>
                  </a:extLst>
                </a:gridCol>
                <a:gridCol w="1279900">
                  <a:extLst>
                    <a:ext uri="{9D8B030D-6E8A-4147-A177-3AD203B41FA5}">
                      <a16:colId xmlns:a16="http://schemas.microsoft.com/office/drawing/2014/main" val="20001"/>
                    </a:ext>
                  </a:extLst>
                </a:gridCol>
                <a:gridCol w="1115925">
                  <a:extLst>
                    <a:ext uri="{9D8B030D-6E8A-4147-A177-3AD203B41FA5}">
                      <a16:colId xmlns:a16="http://schemas.microsoft.com/office/drawing/2014/main" val="20002"/>
                    </a:ext>
                  </a:extLst>
                </a:gridCol>
                <a:gridCol w="1115925">
                  <a:extLst>
                    <a:ext uri="{9D8B030D-6E8A-4147-A177-3AD203B41FA5}">
                      <a16:colId xmlns:a16="http://schemas.microsoft.com/office/drawing/2014/main" val="20003"/>
                    </a:ext>
                  </a:extLst>
                </a:gridCol>
                <a:gridCol w="2206100">
                  <a:extLst>
                    <a:ext uri="{9D8B030D-6E8A-4147-A177-3AD203B41FA5}">
                      <a16:colId xmlns:a16="http://schemas.microsoft.com/office/drawing/2014/main" val="20004"/>
                    </a:ext>
                  </a:extLst>
                </a:gridCol>
                <a:gridCol w="1853650">
                  <a:extLst>
                    <a:ext uri="{9D8B030D-6E8A-4147-A177-3AD203B41FA5}">
                      <a16:colId xmlns:a16="http://schemas.microsoft.com/office/drawing/2014/main" val="20005"/>
                    </a:ext>
                  </a:extLst>
                </a:gridCol>
              </a:tblGrid>
              <a:tr h="711825">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6510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2700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2700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217450">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 Novel Hybrid Load Balancing Method to Achieve Quality of Service (QoS) in Cloud-Based Environments)</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Author : Mahak </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Shrimal</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M.Tech</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Scholar, GITS Udaipur)</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Ajay Kumar Sharma (Professor &amp; Head, CSE, GITS Udaipur)</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Dr. Mayank Patel (Professor, CSE, GITS Udaipur)</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Publisher: IEEE</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2024</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(Presented at the 3rd International Conference on Sentiment Analysis and Deep Learning - ICSADL 2024)</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457200" marR="0" lvl="0" indent="-298450" algn="l" rtl="0">
                        <a:lnSpc>
                          <a:spcPct val="100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a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hybrid load balancing technique</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combining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Static Round Robin</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and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Dynamic Ant Colony Optimization (ACO)</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00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Achieved better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average response time (95ms)</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and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resource utilization (80%)</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than static (120ms, 70%) and ACO-only (85ms, 90%).</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0" algn="just"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Static algorithms lack adaptability to real-time changes.</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15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Dynamic methods can be unstable or computationally heavy.</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1"/>
                  </a:ext>
                </a:extLst>
              </a:tr>
            </a:tbl>
          </a:graphicData>
        </a:graphic>
      </p:graphicFrame>
      <p:sp>
        <p:nvSpPr>
          <p:cNvPr id="177" name="Google Shape;177;p36"/>
          <p:cNvSpPr txBox="1">
            <a:spLocks noGrp="1"/>
          </p:cNvSpPr>
          <p:nvPr>
            <p:ph type="title"/>
          </p:nvPr>
        </p:nvSpPr>
        <p:spPr>
          <a:xfrm>
            <a:off x="1779400" y="-48487"/>
            <a:ext cx="5585100" cy="538089"/>
          </a:xfrm>
          <a:prstGeom prst="rect">
            <a:avLst/>
          </a:prstGeom>
          <a:noFill/>
          <a:ln>
            <a:noFill/>
          </a:ln>
        </p:spPr>
        <p:txBody>
          <a:bodyPr spcFirstLastPara="1" wrap="square" lIns="0" tIns="167125" rIns="0" bIns="0" anchor="t" anchorCtr="0">
            <a:spAutoFit/>
          </a:bodyPr>
          <a:lstStyle/>
          <a:p>
            <a:pPr marL="1739263" lvl="0"/>
            <a:r>
              <a:rPr lang="en-GB" sz="2400" b="1" dirty="0">
                <a:latin typeface="Times New Roman"/>
                <a:ea typeface="Times New Roman"/>
                <a:cs typeface="Times New Roman"/>
                <a:sym typeface="Times New Roman"/>
              </a:rPr>
              <a:t>Literature Review</a:t>
            </a:r>
            <a:endParaRPr sz="2400" b="1" dirty="0">
              <a:latin typeface="Calibri"/>
              <a:ea typeface="Calibri"/>
              <a:cs typeface="Calibri"/>
              <a:sym typeface="Calibri"/>
            </a:endParaRPr>
          </a:p>
        </p:txBody>
      </p:sp>
      <p:sp>
        <p:nvSpPr>
          <p:cNvPr id="178" name="Google Shape;178;p36"/>
          <p:cNvSpPr txBox="1"/>
          <p:nvPr/>
        </p:nvSpPr>
        <p:spPr>
          <a:xfrm>
            <a:off x="1444110" y="4726179"/>
            <a:ext cx="6681411"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179" name="Google Shape;179;p36"/>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84" name="Google Shape;184;p37"/>
          <p:cNvGraphicFramePr/>
          <p:nvPr>
            <p:extLst>
              <p:ext uri="{D42A27DB-BD31-4B8C-83A1-F6EECF244321}">
                <p14:modId xmlns:p14="http://schemas.microsoft.com/office/powerpoint/2010/main" val="1699543663"/>
              </p:ext>
            </p:extLst>
          </p:nvPr>
        </p:nvGraphicFramePr>
        <p:xfrm>
          <a:off x="110724" y="579863"/>
          <a:ext cx="8808422" cy="3901035"/>
        </p:xfrm>
        <a:graphic>
          <a:graphicData uri="http://schemas.openxmlformats.org/drawingml/2006/table">
            <a:tbl>
              <a:tblPr firstRow="1" bandRow="1">
                <a:noFill/>
                <a:tableStyleId>{A69CD3E9-7AF9-4501-8DF7-6F84E3247698}</a:tableStyleId>
              </a:tblPr>
              <a:tblGrid>
                <a:gridCol w="449360">
                  <a:extLst>
                    <a:ext uri="{9D8B030D-6E8A-4147-A177-3AD203B41FA5}">
                      <a16:colId xmlns:a16="http://schemas.microsoft.com/office/drawing/2014/main" val="20000"/>
                    </a:ext>
                  </a:extLst>
                </a:gridCol>
                <a:gridCol w="1370366">
                  <a:extLst>
                    <a:ext uri="{9D8B030D-6E8A-4147-A177-3AD203B41FA5}">
                      <a16:colId xmlns:a16="http://schemas.microsoft.com/office/drawing/2014/main" val="20001"/>
                    </a:ext>
                  </a:extLst>
                </a:gridCol>
                <a:gridCol w="901701">
                  <a:extLst>
                    <a:ext uri="{9D8B030D-6E8A-4147-A177-3AD203B41FA5}">
                      <a16:colId xmlns:a16="http://schemas.microsoft.com/office/drawing/2014/main" val="20002"/>
                    </a:ext>
                  </a:extLst>
                </a:gridCol>
                <a:gridCol w="1157671">
                  <a:extLst>
                    <a:ext uri="{9D8B030D-6E8A-4147-A177-3AD203B41FA5}">
                      <a16:colId xmlns:a16="http://schemas.microsoft.com/office/drawing/2014/main" val="20003"/>
                    </a:ext>
                  </a:extLst>
                </a:gridCol>
                <a:gridCol w="2480020">
                  <a:extLst>
                    <a:ext uri="{9D8B030D-6E8A-4147-A177-3AD203B41FA5}">
                      <a16:colId xmlns:a16="http://schemas.microsoft.com/office/drawing/2014/main" val="20004"/>
                    </a:ext>
                  </a:extLst>
                </a:gridCol>
                <a:gridCol w="2449304">
                  <a:extLst>
                    <a:ext uri="{9D8B030D-6E8A-4147-A177-3AD203B41FA5}">
                      <a16:colId xmlns:a16="http://schemas.microsoft.com/office/drawing/2014/main" val="20005"/>
                    </a:ext>
                  </a:extLst>
                </a:gridCol>
              </a:tblGrid>
              <a:tr h="741175">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Title  of the paper</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65100" lvl="0" indent="0" algn="ctr" rtl="0">
                        <a:lnSpc>
                          <a:spcPct val="100000"/>
                        </a:lnSpc>
                        <a:spcBef>
                          <a:spcPts val="0"/>
                        </a:spcBef>
                        <a:spcAft>
                          <a:spcPts val="0"/>
                        </a:spcAft>
                        <a:buClr>
                          <a:schemeClr val="dk1"/>
                        </a:buClr>
                        <a:buSzPts val="11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ctr" rtl="0">
                        <a:lnSpc>
                          <a:spcPct val="100000"/>
                        </a:lnSpc>
                        <a:spcBef>
                          <a:spcPts val="0"/>
                        </a:spcBef>
                        <a:spcAft>
                          <a:spcPts val="0"/>
                        </a:spcAft>
                        <a:buClr>
                          <a:schemeClr val="dk1"/>
                        </a:buClr>
                        <a:buSzPts val="11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Major observations/findings</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ctr" rtl="0">
                        <a:lnSpc>
                          <a:spcPct val="100000"/>
                        </a:lnSpc>
                        <a:spcBef>
                          <a:spcPts val="0"/>
                        </a:spcBef>
                        <a:spcAft>
                          <a:spcPts val="0"/>
                        </a:spcAft>
                        <a:buClr>
                          <a:schemeClr val="dk1"/>
                        </a:buClr>
                        <a:buSzPts val="8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0"/>
                  </a:ext>
                </a:extLst>
              </a:tr>
              <a:tr h="3139025">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rPr>
                        <a:t>3.</a:t>
                      </a:r>
                      <a:endParaRPr sz="1100" b="1" u="none" strike="noStrike" cap="none">
                        <a:solidFill>
                          <a:srgbClr val="F1F1F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Simulation Design of Load Balancing Optimization for Cloud Computing Data Stream Storage Based on Big Data Algorithms</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just" rtl="0">
                        <a:lnSpc>
                          <a:spcPct val="100000"/>
                        </a:lnSpc>
                        <a:spcBef>
                          <a:spcPts val="0"/>
                        </a:spcBef>
                        <a:spcAft>
                          <a:spcPts val="0"/>
                        </a:spcAft>
                        <a:buClr>
                          <a:srgbClr val="000000"/>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Jing Gao, Shandong Polytechnic College, China</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just" rtl="0">
                        <a:lnSpc>
                          <a:spcPct val="100000"/>
                        </a:lnSpc>
                        <a:spcBef>
                          <a:spcPts val="0"/>
                        </a:spcBef>
                        <a:spcAft>
                          <a:spcPts val="0"/>
                        </a:spcAft>
                        <a:buClr>
                          <a:schemeClr val="dk1"/>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Publisher: IEEE</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2024 </a:t>
                      </a: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(Presented at the Asia-Pacific Conference on Software Engineering, Social Network Analysis and Intelligent Computing – SSAIC 2024)</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Analyzes historical load data of storage nodes.</a:t>
                      </a:r>
                      <a:b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Predicts future load conditions using big data techniques.</a:t>
                      </a:r>
                      <a:b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Dynamically allocates data to nodes with lighter loads, optimizing overall balance.</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Are limited in processing power for large-scale, real-time data streams.</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just"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Often fail under uneven or skewed data flow conditions.</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just"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Struggle with dynamic load changes and node energy consumption.</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chemeClr val="dk1"/>
                        </a:buClr>
                        <a:buSzPts val="8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1"/>
                  </a:ext>
                </a:extLst>
              </a:tr>
            </a:tbl>
          </a:graphicData>
        </a:graphic>
      </p:graphicFrame>
      <p:sp>
        <p:nvSpPr>
          <p:cNvPr id="185" name="Google Shape;185;p37"/>
          <p:cNvSpPr txBox="1"/>
          <p:nvPr/>
        </p:nvSpPr>
        <p:spPr>
          <a:xfrm>
            <a:off x="1514650" y="55238"/>
            <a:ext cx="46071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sz="2400" b="1" i="0" u="none" strike="noStrike" cap="none" dirty="0">
              <a:solidFill>
                <a:schemeClr val="dk1"/>
              </a:solidFill>
              <a:latin typeface="Calibri"/>
              <a:ea typeface="Calibri"/>
              <a:cs typeface="Calibri"/>
              <a:sym typeface="Calibri"/>
            </a:endParaRPr>
          </a:p>
        </p:txBody>
      </p:sp>
      <p:sp>
        <p:nvSpPr>
          <p:cNvPr id="186" name="Google Shape;186;p37"/>
          <p:cNvSpPr txBox="1"/>
          <p:nvPr/>
        </p:nvSpPr>
        <p:spPr>
          <a:xfrm>
            <a:off x="1048214" y="4666999"/>
            <a:ext cx="6779523"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187" name="Google Shape;187;p37"/>
          <p:cNvSpPr txBox="1">
            <a:spLocks noGrp="1"/>
          </p:cNvSpPr>
          <p:nvPr>
            <p:ph type="sldNum" idx="12"/>
          </p:nvPr>
        </p:nvSpPr>
        <p:spPr>
          <a:xfrm flipH="1">
            <a:off x="8091975" y="4751882"/>
            <a:ext cx="827173" cy="15850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8"/>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93" name="Google Shape;193;p38"/>
          <p:cNvGraphicFramePr/>
          <p:nvPr>
            <p:extLst>
              <p:ext uri="{D42A27DB-BD31-4B8C-83A1-F6EECF244321}">
                <p14:modId xmlns:p14="http://schemas.microsoft.com/office/powerpoint/2010/main" val="172210266"/>
              </p:ext>
            </p:extLst>
          </p:nvPr>
        </p:nvGraphicFramePr>
        <p:xfrm>
          <a:off x="438616" y="560885"/>
          <a:ext cx="8333700" cy="4005410"/>
        </p:xfrm>
        <a:graphic>
          <a:graphicData uri="http://schemas.openxmlformats.org/drawingml/2006/table">
            <a:tbl>
              <a:tblPr firstRow="1" bandRow="1">
                <a:noFill/>
                <a:tableStyleId>{A69CD3E9-7AF9-4501-8DF7-6F84E3247698}</a:tableStyleId>
              </a:tblPr>
              <a:tblGrid>
                <a:gridCol w="556975">
                  <a:extLst>
                    <a:ext uri="{9D8B030D-6E8A-4147-A177-3AD203B41FA5}">
                      <a16:colId xmlns:a16="http://schemas.microsoft.com/office/drawing/2014/main" val="20000"/>
                    </a:ext>
                  </a:extLst>
                </a:gridCol>
                <a:gridCol w="1022325">
                  <a:extLst>
                    <a:ext uri="{9D8B030D-6E8A-4147-A177-3AD203B41FA5}">
                      <a16:colId xmlns:a16="http://schemas.microsoft.com/office/drawing/2014/main" val="20001"/>
                    </a:ext>
                  </a:extLst>
                </a:gridCol>
                <a:gridCol w="1229575">
                  <a:extLst>
                    <a:ext uri="{9D8B030D-6E8A-4147-A177-3AD203B41FA5}">
                      <a16:colId xmlns:a16="http://schemas.microsoft.com/office/drawing/2014/main" val="20002"/>
                    </a:ext>
                  </a:extLst>
                </a:gridCol>
                <a:gridCol w="1430450">
                  <a:extLst>
                    <a:ext uri="{9D8B030D-6E8A-4147-A177-3AD203B41FA5}">
                      <a16:colId xmlns:a16="http://schemas.microsoft.com/office/drawing/2014/main" val="20003"/>
                    </a:ext>
                  </a:extLst>
                </a:gridCol>
                <a:gridCol w="2362450">
                  <a:extLst>
                    <a:ext uri="{9D8B030D-6E8A-4147-A177-3AD203B41FA5}">
                      <a16:colId xmlns:a16="http://schemas.microsoft.com/office/drawing/2014/main" val="20004"/>
                    </a:ext>
                  </a:extLst>
                </a:gridCol>
                <a:gridCol w="1731925">
                  <a:extLst>
                    <a:ext uri="{9D8B030D-6E8A-4147-A177-3AD203B41FA5}">
                      <a16:colId xmlns:a16="http://schemas.microsoft.com/office/drawing/2014/main" val="20005"/>
                    </a:ext>
                  </a:extLst>
                </a:gridCol>
              </a:tblGrid>
              <a:tr h="700700">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6510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ctr"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ctr" rtl="0">
                        <a:lnSpc>
                          <a:spcPct val="100000"/>
                        </a:lnSpc>
                        <a:spcBef>
                          <a:spcPts val="0"/>
                        </a:spcBef>
                        <a:spcAft>
                          <a:spcPts val="0"/>
                        </a:spcAft>
                        <a:buClr>
                          <a:schemeClr val="dk1"/>
                        </a:buClr>
                        <a:buSzPts val="8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0"/>
                  </a:ext>
                </a:extLst>
              </a:tr>
              <a:tr h="3243400">
                <a:tc>
                  <a:txBody>
                    <a:bodyPr/>
                    <a:lstStyle/>
                    <a:p>
                      <a:pPr marL="0" marR="0" lvl="0" indent="0" algn="ctr"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4. </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An Advanced Multi-Model Cloud Services using Load Balancing Algorithms</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 Raghunadha Reddi Dornala   </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Publisher: IEEE</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2023 5th International Conference on Inventive Research in Computing Applications (ICIRCA)</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l" rtl="0">
                        <a:lnSpc>
                          <a:spcPct val="100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The paper discusses using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multi-model cloud services</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to improve scalability, reliability, and efficiency using load balancing.</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00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Emphasizes how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round-robin</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weighted round-robin</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and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least connection algorithms</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can be integrated to distribute loads efficiently.</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158750" marR="0" lvl="0" indent="0" algn="l" rtl="0">
                        <a:lnSpc>
                          <a:spcPct val="100000"/>
                        </a:lnSpc>
                        <a:spcBef>
                          <a:spcPts val="0"/>
                        </a:spcBef>
                        <a:spcAft>
                          <a:spcPts val="0"/>
                        </a:spcAft>
                        <a:buClr>
                          <a:schemeClr val="lt1"/>
                        </a:buClr>
                        <a:buSzPts val="1100"/>
                        <a:buFont typeface="Calibri"/>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Existing models rely on single-load balancing strategies, which limit flexibility in diverse cloud conditions.</a:t>
                      </a:r>
                      <a:b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15000"/>
                        </a:lnSpc>
                        <a:spcBef>
                          <a:spcPts val="0"/>
                        </a:spcBef>
                        <a:spcAft>
                          <a:spcPts val="0"/>
                        </a:spcAft>
                        <a:buClr>
                          <a:schemeClr val="lt1"/>
                        </a:buClr>
                        <a:buSzPts val="1100"/>
                        <a:buFont typeface="Calibri"/>
                        <a:buChar char="●"/>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Need for adaptive multi-model strategies to handle complex, variable workloads more efficiently.</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1"/>
                  </a:ext>
                </a:extLst>
              </a:tr>
            </a:tbl>
          </a:graphicData>
        </a:graphic>
      </p:graphicFrame>
      <p:sp>
        <p:nvSpPr>
          <p:cNvPr id="194" name="Google Shape;194;p38"/>
          <p:cNvSpPr txBox="1"/>
          <p:nvPr/>
        </p:nvSpPr>
        <p:spPr>
          <a:xfrm>
            <a:off x="152400" y="114300"/>
            <a:ext cx="3000000" cy="32332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Times New Roman"/>
              <a:ea typeface="Times New Roman"/>
              <a:cs typeface="Times New Roman"/>
              <a:sym typeface="Times New Roman"/>
            </a:endParaRPr>
          </a:p>
        </p:txBody>
      </p:sp>
      <p:sp>
        <p:nvSpPr>
          <p:cNvPr id="195" name="Google Shape;195;p38"/>
          <p:cNvSpPr txBox="1"/>
          <p:nvPr/>
        </p:nvSpPr>
        <p:spPr>
          <a:xfrm>
            <a:off x="1503125" y="-7687"/>
            <a:ext cx="57024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sz="2400" b="1" i="0" u="none" strike="noStrike" cap="none" dirty="0">
              <a:solidFill>
                <a:schemeClr val="dk1"/>
              </a:solidFill>
              <a:latin typeface="Calibri"/>
              <a:ea typeface="Calibri"/>
              <a:cs typeface="Calibri"/>
              <a:sym typeface="Calibri"/>
            </a:endParaRPr>
          </a:p>
        </p:txBody>
      </p:sp>
      <p:sp>
        <p:nvSpPr>
          <p:cNvPr id="196" name="Google Shape;196;p38"/>
          <p:cNvSpPr txBox="1"/>
          <p:nvPr/>
        </p:nvSpPr>
        <p:spPr>
          <a:xfrm>
            <a:off x="1500000" y="4738532"/>
            <a:ext cx="64725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197" name="Google Shape;197;p38"/>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9"/>
          <p:cNvSpPr txBox="1"/>
          <p:nvPr/>
        </p:nvSpPr>
        <p:spPr>
          <a:xfrm>
            <a:off x="0" y="0"/>
            <a:ext cx="3000000" cy="30015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03" name="Google Shape;203;p39"/>
          <p:cNvGraphicFramePr/>
          <p:nvPr>
            <p:extLst>
              <p:ext uri="{D42A27DB-BD31-4B8C-83A1-F6EECF244321}">
                <p14:modId xmlns:p14="http://schemas.microsoft.com/office/powerpoint/2010/main" val="2241765547"/>
              </p:ext>
            </p:extLst>
          </p:nvPr>
        </p:nvGraphicFramePr>
        <p:xfrm>
          <a:off x="288922" y="690589"/>
          <a:ext cx="8416475" cy="3837420"/>
        </p:xfrm>
        <a:graphic>
          <a:graphicData uri="http://schemas.openxmlformats.org/drawingml/2006/table">
            <a:tbl>
              <a:tblPr firstRow="1" bandRow="1">
                <a:noFill/>
                <a:tableStyleId>{A69CD3E9-7AF9-4501-8DF7-6F84E3247698}</a:tableStyleId>
              </a:tblPr>
              <a:tblGrid>
                <a:gridCol w="562050">
                  <a:extLst>
                    <a:ext uri="{9D8B030D-6E8A-4147-A177-3AD203B41FA5}">
                      <a16:colId xmlns:a16="http://schemas.microsoft.com/office/drawing/2014/main" val="20000"/>
                    </a:ext>
                  </a:extLst>
                </a:gridCol>
                <a:gridCol w="998500">
                  <a:extLst>
                    <a:ext uri="{9D8B030D-6E8A-4147-A177-3AD203B41FA5}">
                      <a16:colId xmlns:a16="http://schemas.microsoft.com/office/drawing/2014/main" val="20001"/>
                    </a:ext>
                  </a:extLst>
                </a:gridCol>
                <a:gridCol w="1352675">
                  <a:extLst>
                    <a:ext uri="{9D8B030D-6E8A-4147-A177-3AD203B41FA5}">
                      <a16:colId xmlns:a16="http://schemas.microsoft.com/office/drawing/2014/main" val="20002"/>
                    </a:ext>
                  </a:extLst>
                </a:gridCol>
                <a:gridCol w="1598800">
                  <a:extLst>
                    <a:ext uri="{9D8B030D-6E8A-4147-A177-3AD203B41FA5}">
                      <a16:colId xmlns:a16="http://schemas.microsoft.com/office/drawing/2014/main" val="20003"/>
                    </a:ext>
                  </a:extLst>
                </a:gridCol>
                <a:gridCol w="1999025">
                  <a:extLst>
                    <a:ext uri="{9D8B030D-6E8A-4147-A177-3AD203B41FA5}">
                      <a16:colId xmlns:a16="http://schemas.microsoft.com/office/drawing/2014/main" val="20004"/>
                    </a:ext>
                  </a:extLst>
                </a:gridCol>
                <a:gridCol w="1905425">
                  <a:extLst>
                    <a:ext uri="{9D8B030D-6E8A-4147-A177-3AD203B41FA5}">
                      <a16:colId xmlns:a16="http://schemas.microsoft.com/office/drawing/2014/main" val="20005"/>
                    </a:ext>
                  </a:extLst>
                </a:gridCol>
              </a:tblGrid>
              <a:tr h="752750">
                <a:tc>
                  <a:txBody>
                    <a:bodyPr/>
                    <a:lstStyle/>
                    <a:p>
                      <a:pPr marL="0" marR="0" lvl="0" indent="0" algn="ctr" rtl="0">
                        <a:lnSpc>
                          <a:spcPct val="100000"/>
                        </a:lnSpc>
                        <a:spcBef>
                          <a:spcPts val="0"/>
                        </a:spcBef>
                        <a:spcAft>
                          <a:spcPts val="0"/>
                        </a:spcAft>
                        <a:buClr>
                          <a:srgbClr val="000000"/>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Sr. No.</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ctr" rtl="0">
                        <a:lnSpc>
                          <a:spcPct val="100000"/>
                        </a:lnSpc>
                        <a:spcBef>
                          <a:spcPts val="0"/>
                        </a:spcBef>
                        <a:spcAft>
                          <a:spcPts val="0"/>
                        </a:spcAft>
                        <a:buClr>
                          <a:schemeClr val="dk1"/>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65100" lvl="0" indent="0" algn="ctr" rtl="0">
                        <a:lnSpc>
                          <a:spcPct val="100000"/>
                        </a:lnSpc>
                        <a:spcBef>
                          <a:spcPts val="0"/>
                        </a:spcBef>
                        <a:spcAft>
                          <a:spcPts val="0"/>
                        </a:spcAft>
                        <a:buClr>
                          <a:schemeClr val="dk1"/>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ctr" rtl="0">
                        <a:lnSpc>
                          <a:spcPct val="100000"/>
                        </a:lnSpc>
                        <a:spcBef>
                          <a:spcPts val="0"/>
                        </a:spcBef>
                        <a:spcAft>
                          <a:spcPts val="0"/>
                        </a:spcAft>
                        <a:buClr>
                          <a:schemeClr val="dk1"/>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observations/findings</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ctr" rtl="0">
                        <a:lnSpc>
                          <a:spcPct val="100000"/>
                        </a:lnSpc>
                        <a:spcBef>
                          <a:spcPts val="0"/>
                        </a:spcBef>
                        <a:spcAft>
                          <a:spcPts val="0"/>
                        </a:spcAft>
                        <a:buClr>
                          <a:srgbClr val="000000"/>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0"/>
                  </a:ext>
                </a:extLst>
              </a:tr>
              <a:tr h="3014450">
                <a:tc>
                  <a:txBody>
                    <a:bodyPr/>
                    <a:lstStyle/>
                    <a:p>
                      <a:pPr marL="0" marR="0" lvl="0" indent="0" algn="l" rtl="0">
                        <a:lnSpc>
                          <a:spcPct val="100000"/>
                        </a:lnSpc>
                        <a:spcBef>
                          <a:spcPts val="0"/>
                        </a:spcBef>
                        <a:spcAft>
                          <a:spcPts val="0"/>
                        </a:spcAft>
                        <a:buClr>
                          <a:srgbClr val="000000"/>
                        </a:buClr>
                        <a:buSzPts val="1200"/>
                        <a:buFont typeface="Arial"/>
                        <a:buNone/>
                      </a:pPr>
                      <a:r>
                        <a:rPr lang="en-GB"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5.</a:t>
                      </a:r>
                      <a:endParaRPr sz="12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Optimised Load Balancing for Green Cloud Computing</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15000"/>
                        </a:lnSpc>
                        <a:spcBef>
                          <a:spcPts val="0"/>
                        </a:spcBef>
                        <a:spcAft>
                          <a:spcPts val="0"/>
                        </a:spcAft>
                        <a:buClr>
                          <a:schemeClr val="dk1"/>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Authors:</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Authors:</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15000"/>
                        </a:lnSpc>
                        <a:spcBef>
                          <a:spcPts val="120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K. Sujatha</a:t>
                      </a:r>
                      <a:b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 P. Rajagopalan</a:t>
                      </a:r>
                      <a:b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b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r>
                        <a:rPr lang="en-GB" sz="1100" i="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(Bharath Institute of Higher Education and Research, Chennai, India)</a:t>
                      </a:r>
                      <a:endParaRPr sz="1100" i="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15000"/>
                        </a:lnSpc>
                        <a:spcBef>
                          <a:spcPts val="1200"/>
                        </a:spcBef>
                        <a:spcAft>
                          <a:spcPts val="0"/>
                        </a:spcAft>
                        <a:buClr>
                          <a:schemeClr val="dk1"/>
                        </a:buClr>
                        <a:buSzPts val="1100"/>
                        <a:buFont typeface="Arial"/>
                        <a:buNone/>
                      </a:pPr>
                      <a:endParaRPr sz="12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Publisher: IEEE</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15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2022</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None/>
                      </a:pP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Focus:</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Energy optimization in cloud environments via green computing.</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b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Proposed:</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 Modified Throttled Load Balancing Algorithm to:</a:t>
                      </a:r>
                      <a:endParaRPr sz="11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0"/>
                        </a:spcBef>
                        <a:spcAft>
                          <a:spcPts val="0"/>
                        </a:spcAft>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Improve energy efficiency</a:t>
                      </a:r>
                      <a:endParaRPr sz="11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0"/>
                        </a:spcBef>
                        <a:spcAft>
                          <a:spcPts val="0"/>
                        </a:spcAft>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Reduce task rejection</a:t>
                      </a:r>
                      <a:endParaRPr sz="11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0"/>
                        </a:spcBef>
                        <a:spcAft>
                          <a:spcPts val="0"/>
                        </a:spcAft>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rPr>
                        <a:t>Enhance VM allocation</a:t>
                      </a:r>
                      <a:endParaRPr sz="11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1200"/>
                        </a:spcBef>
                        <a:spcAft>
                          <a:spcPts val="0"/>
                        </a:spcAft>
                        <a:buClr>
                          <a:srgbClr val="000000"/>
                        </a:buClr>
                        <a:buSzPts val="1200"/>
                        <a:buFont typeface="Arial"/>
                        <a:buNone/>
                      </a:pPr>
                      <a:endParaRPr sz="12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just" rtl="0">
                        <a:lnSpc>
                          <a:spcPct val="115000"/>
                        </a:lnSpc>
                        <a:spcBef>
                          <a:spcPts val="0"/>
                        </a:spcBef>
                        <a:spcAft>
                          <a:spcPts val="0"/>
                        </a:spcAft>
                        <a:buClr>
                          <a:schemeClr val="dk1"/>
                        </a:buClr>
                        <a:buSzPts val="1100"/>
                        <a:buFont typeface="Arial"/>
                        <a:buNone/>
                      </a:pP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Focuses on optimizing </a:t>
                      </a:r>
                      <a:r>
                        <a:rPr lang="en-GB" sz="10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energy consumption</a:t>
                      </a: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in cloud environments through </a:t>
                      </a:r>
                      <a:r>
                        <a:rPr lang="en-GB" sz="10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green computing</a:t>
                      </a: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t>
                      </a:r>
                      <a:endParaRPr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15000"/>
                        </a:lnSpc>
                        <a:spcBef>
                          <a:spcPts val="0"/>
                        </a:spcBef>
                        <a:spcAft>
                          <a:spcPts val="0"/>
                        </a:spcAft>
                        <a:buClr>
                          <a:schemeClr val="dk1"/>
                        </a:buClr>
                        <a:buSzPts val="1100"/>
                        <a:buFont typeface="Arial"/>
                        <a:buNone/>
                      </a:pP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a </a:t>
                      </a:r>
                      <a:r>
                        <a:rPr lang="en-GB" sz="10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Modified Throttled Load Balancing Algorithm</a:t>
                      </a: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designed to:</a:t>
                      </a:r>
                      <a:endParaRPr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15000"/>
                        </a:lnSpc>
                        <a:spcBef>
                          <a:spcPts val="1200"/>
                        </a:spcBef>
                        <a:spcAft>
                          <a:spcPts val="0"/>
                        </a:spcAft>
                        <a:buClr>
                          <a:schemeClr val="lt1"/>
                        </a:buClr>
                        <a:buSzPts val="1100"/>
                        <a:buFont typeface="Calibri"/>
                        <a:buChar char="●"/>
                      </a:pP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Improve energy efficiency</a:t>
                      </a:r>
                      <a:endParaRPr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15000"/>
                        </a:lnSpc>
                        <a:spcBef>
                          <a:spcPts val="0"/>
                        </a:spcBef>
                        <a:spcAft>
                          <a:spcPts val="0"/>
                        </a:spcAft>
                        <a:buClr>
                          <a:schemeClr val="lt1"/>
                        </a:buClr>
                        <a:buSzPts val="1100"/>
                        <a:buFont typeface="Arial"/>
                        <a:buChar char="●"/>
                      </a:pP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Minimize </a:t>
                      </a:r>
                      <a:r>
                        <a:rPr lang="en-GB" sz="10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task rejection</a:t>
                      </a:r>
                      <a:endParaRPr sz="10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457200" marR="0" lvl="0" indent="-298450" algn="l" rtl="0">
                        <a:lnSpc>
                          <a:spcPct val="115000"/>
                        </a:lnSpc>
                        <a:spcBef>
                          <a:spcPts val="0"/>
                        </a:spcBef>
                        <a:spcAft>
                          <a:spcPts val="0"/>
                        </a:spcAft>
                        <a:buClr>
                          <a:schemeClr val="lt1"/>
                        </a:buClr>
                        <a:buSzPts val="1100"/>
                        <a:buFont typeface="Arial"/>
                        <a:buChar char="●"/>
                      </a:pP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Enhance </a:t>
                      </a:r>
                      <a:r>
                        <a:rPr lang="en-GB" sz="10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VM allocation</a:t>
                      </a:r>
                      <a:r>
                        <a:rPr lang="en-GB"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strategies</a:t>
                      </a:r>
                      <a:endParaRPr sz="10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15000"/>
                        </a:lnSpc>
                        <a:spcBef>
                          <a:spcPts val="1200"/>
                        </a:spcBef>
                        <a:spcAft>
                          <a:spcPts val="0"/>
                        </a:spcAft>
                        <a:buClr>
                          <a:srgbClr val="000000"/>
                        </a:buClr>
                        <a:buSzPts val="1200"/>
                        <a:buFont typeface="Arial"/>
                        <a:buNone/>
                      </a:pPr>
                      <a:endParaRPr sz="12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1"/>
                  </a:ext>
                </a:extLst>
              </a:tr>
            </a:tbl>
          </a:graphicData>
        </a:graphic>
      </p:graphicFrame>
      <p:sp>
        <p:nvSpPr>
          <p:cNvPr id="204" name="Google Shape;204;p39"/>
          <p:cNvSpPr txBox="1"/>
          <p:nvPr/>
        </p:nvSpPr>
        <p:spPr>
          <a:xfrm>
            <a:off x="152400" y="114300"/>
            <a:ext cx="3000000" cy="32332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Times New Roman"/>
              <a:ea typeface="Times New Roman"/>
              <a:cs typeface="Times New Roman"/>
              <a:sym typeface="Times New Roman"/>
            </a:endParaRPr>
          </a:p>
        </p:txBody>
      </p:sp>
      <p:sp>
        <p:nvSpPr>
          <p:cNvPr id="205" name="Google Shape;205;p39"/>
          <p:cNvSpPr txBox="1"/>
          <p:nvPr/>
        </p:nvSpPr>
        <p:spPr>
          <a:xfrm>
            <a:off x="1500000" y="-1022"/>
            <a:ext cx="57024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lang="en-GB" sz="2400" b="1" dirty="0">
              <a:solidFill>
                <a:schemeClr val="dk1"/>
              </a:solidFill>
              <a:latin typeface="Calibri"/>
              <a:ea typeface="Calibri"/>
              <a:cs typeface="Calibri"/>
              <a:sym typeface="Calibri"/>
            </a:endParaRPr>
          </a:p>
        </p:txBody>
      </p:sp>
      <p:sp>
        <p:nvSpPr>
          <p:cNvPr id="206" name="Google Shape;206;p39"/>
          <p:cNvSpPr txBox="1"/>
          <p:nvPr/>
        </p:nvSpPr>
        <p:spPr>
          <a:xfrm>
            <a:off x="1652400" y="4738532"/>
            <a:ext cx="57024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207" name="Google Shape;207;p39"/>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graphicFrame>
        <p:nvGraphicFramePr>
          <p:cNvPr id="212" name="Google Shape;212;p40"/>
          <p:cNvGraphicFramePr/>
          <p:nvPr>
            <p:extLst>
              <p:ext uri="{D42A27DB-BD31-4B8C-83A1-F6EECF244321}">
                <p14:modId xmlns:p14="http://schemas.microsoft.com/office/powerpoint/2010/main" val="502779537"/>
              </p:ext>
            </p:extLst>
          </p:nvPr>
        </p:nvGraphicFramePr>
        <p:xfrm>
          <a:off x="788900" y="435469"/>
          <a:ext cx="7731600" cy="4079925"/>
        </p:xfrm>
        <a:graphic>
          <a:graphicData uri="http://schemas.openxmlformats.org/drawingml/2006/table">
            <a:tbl>
              <a:tblPr>
                <a:noFill/>
                <a:tableStyleId>{A69CD3E9-7AF9-4501-8DF7-6F84E3247698}</a:tableStyleId>
              </a:tblPr>
              <a:tblGrid>
                <a:gridCol w="382850">
                  <a:extLst>
                    <a:ext uri="{9D8B030D-6E8A-4147-A177-3AD203B41FA5}">
                      <a16:colId xmlns:a16="http://schemas.microsoft.com/office/drawing/2014/main" val="20000"/>
                    </a:ext>
                  </a:extLst>
                </a:gridCol>
                <a:gridCol w="771675">
                  <a:extLst>
                    <a:ext uri="{9D8B030D-6E8A-4147-A177-3AD203B41FA5}">
                      <a16:colId xmlns:a16="http://schemas.microsoft.com/office/drawing/2014/main" val="20001"/>
                    </a:ext>
                  </a:extLst>
                </a:gridCol>
                <a:gridCol w="1027200">
                  <a:extLst>
                    <a:ext uri="{9D8B030D-6E8A-4147-A177-3AD203B41FA5}">
                      <a16:colId xmlns:a16="http://schemas.microsoft.com/office/drawing/2014/main" val="20002"/>
                    </a:ext>
                  </a:extLst>
                </a:gridCol>
                <a:gridCol w="1222225">
                  <a:extLst>
                    <a:ext uri="{9D8B030D-6E8A-4147-A177-3AD203B41FA5}">
                      <a16:colId xmlns:a16="http://schemas.microsoft.com/office/drawing/2014/main" val="20003"/>
                    </a:ext>
                  </a:extLst>
                </a:gridCol>
                <a:gridCol w="1546550">
                  <a:extLst>
                    <a:ext uri="{9D8B030D-6E8A-4147-A177-3AD203B41FA5}">
                      <a16:colId xmlns:a16="http://schemas.microsoft.com/office/drawing/2014/main" val="20004"/>
                    </a:ext>
                  </a:extLst>
                </a:gridCol>
                <a:gridCol w="2781100">
                  <a:extLst>
                    <a:ext uri="{9D8B030D-6E8A-4147-A177-3AD203B41FA5}">
                      <a16:colId xmlns:a16="http://schemas.microsoft.com/office/drawing/2014/main" val="20005"/>
                    </a:ext>
                  </a:extLst>
                </a:gridCol>
              </a:tblGrid>
              <a:tr h="979000">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Sr.No</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Observation/Finding </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63500" marR="127000" lvl="0" indent="0" algn="l" rtl="0">
                        <a:lnSpc>
                          <a:spcPct val="100000"/>
                        </a:lnSpc>
                        <a:spcBef>
                          <a:spcPts val="0"/>
                        </a:spcBef>
                        <a:spcAft>
                          <a:spcPts val="0"/>
                        </a:spcAft>
                        <a:buClr>
                          <a:schemeClr val="dk1"/>
                        </a:buClr>
                        <a:buSzPts val="8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extLst>
                  <a:ext uri="{0D108BD9-81ED-4DB2-BD59-A6C34878D82A}">
                    <a16:rowId xmlns:a16="http://schemas.microsoft.com/office/drawing/2014/main" val="10000"/>
                  </a:ext>
                </a:extLst>
              </a:tr>
              <a:tr h="3100925">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6.</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R w="9525" cap="flat" cmpd="sng">
                      <a:solidFill>
                        <a:schemeClr val="lt1"/>
                      </a:solidFill>
                      <a:prstDash val="solid"/>
                      <a:round/>
                      <a:headEnd type="none" w="sm" len="sm"/>
                      <a:tailEnd type="none" w="sm" len="sm"/>
                    </a:lnR>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Load Balanced Web Server on AWS Cloud</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Authors: </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Rajmani</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Bundela;</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Namrata Dhanda;</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Rajat Verma</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solidFill>
                      <a:srgbClr val="4F81BD"/>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en-GB" sz="1100" b="1"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Publisher</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:IEEE</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2022 International Conference on Computing, Communication, and Intelligent Systems (ICCCIS</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158750" marR="0" lvl="0" indent="0" algn="l" rtl="0">
                        <a:lnSpc>
                          <a:spcPct val="100000"/>
                        </a:lnSpc>
                        <a:spcBef>
                          <a:spcPts val="0"/>
                        </a:spcBef>
                        <a:spcAft>
                          <a:spcPts val="0"/>
                        </a:spcAft>
                        <a:buClr>
                          <a:schemeClr val="lt1"/>
                        </a:buClr>
                        <a:buSzPts val="1100"/>
                        <a:buFont typeface="Arial"/>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Elastic Load Balancer (ELB)</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Auto Scaling Groups (ASG)</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EC2 instances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The setup improved Demonstrated cost-effective and secure deployment using cloud-native tools.</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tc>
                  <a:txBody>
                    <a:bodyPr/>
                    <a:lstStyle/>
                    <a:p>
                      <a:pPr marL="457200" marR="0" lvl="0" indent="0" algn="just" rtl="0">
                        <a:lnSpc>
                          <a:spcPct val="100000"/>
                        </a:lnSpc>
                        <a:spcBef>
                          <a:spcPts val="0"/>
                        </a:spcBef>
                        <a:spcAft>
                          <a:spcPts val="0"/>
                        </a:spcAft>
                        <a:buClr>
                          <a:srgbClr val="000000"/>
                        </a:buClr>
                        <a:buSzPts val="1100"/>
                        <a:buFont typeface="Arial" panose="020B0604020202020204" pitchFamily="34" charset="0"/>
                        <a:buNone/>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The study does not compare AWS load balancing with other cloud providers (e.g., Azure, GCP) or traditional methods.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Focuses mainly on layer-4 (transport-level) balancing with ELB.</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The approach lacks use of dynamic or intelligent load balancing algorithms (e.g., based on ML, predictive analytics).</a:t>
                      </a:r>
                      <a:br>
                        <a:rPr lang="en-GB"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1200"/>
                        </a:spcBef>
                        <a:spcAft>
                          <a:spcPts val="0"/>
                        </a:spcAft>
                        <a:buClr>
                          <a:srgbClr val="000000"/>
                        </a:buClr>
                        <a:buSzPts val="1100"/>
                        <a:buFont typeface="Arial"/>
                        <a:buNone/>
                      </a:pP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solidFill>
                      <a:srgbClr val="4F81BD"/>
                    </a:solidFill>
                  </a:tcPr>
                </a:tc>
                <a:extLst>
                  <a:ext uri="{0D108BD9-81ED-4DB2-BD59-A6C34878D82A}">
                    <a16:rowId xmlns:a16="http://schemas.microsoft.com/office/drawing/2014/main" val="10001"/>
                  </a:ext>
                </a:extLst>
              </a:tr>
            </a:tbl>
          </a:graphicData>
        </a:graphic>
      </p:graphicFrame>
      <p:sp>
        <p:nvSpPr>
          <p:cNvPr id="213" name="Google Shape;213;p40"/>
          <p:cNvSpPr txBox="1"/>
          <p:nvPr/>
        </p:nvSpPr>
        <p:spPr>
          <a:xfrm>
            <a:off x="1535575" y="-90712"/>
            <a:ext cx="55260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lang="en-GB" sz="2400" b="1" dirty="0">
              <a:solidFill>
                <a:schemeClr val="dk1"/>
              </a:solidFill>
              <a:latin typeface="Calibri"/>
              <a:ea typeface="Calibri"/>
              <a:cs typeface="Calibri"/>
              <a:sym typeface="Calibri"/>
            </a:endParaRPr>
          </a:p>
        </p:txBody>
      </p:sp>
      <p:sp>
        <p:nvSpPr>
          <p:cNvPr id="214" name="Google Shape;214;p40"/>
          <p:cNvSpPr txBox="1"/>
          <p:nvPr/>
        </p:nvSpPr>
        <p:spPr>
          <a:xfrm>
            <a:off x="1964538" y="4738532"/>
            <a:ext cx="57669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Clr>
                <a:schemeClr val="dk1"/>
              </a:buClr>
              <a:buSzPts val="1400"/>
              <a:buFont typeface="Arial"/>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latin typeface="Calibri"/>
              <a:ea typeface="Calibri"/>
              <a:cs typeface="Calibri"/>
              <a:sym typeface="Calibri"/>
            </a:endParaRPr>
          </a:p>
        </p:txBody>
      </p:sp>
      <p:sp>
        <p:nvSpPr>
          <p:cNvPr id="215" name="Google Shape;215;p40"/>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19"/>
        <p:cNvGrpSpPr/>
        <p:nvPr/>
      </p:nvGrpSpPr>
      <p:grpSpPr>
        <a:xfrm>
          <a:off x="0" y="0"/>
          <a:ext cx="0" cy="0"/>
          <a:chOff x="0" y="0"/>
          <a:chExt cx="0" cy="0"/>
        </a:xfrm>
      </p:grpSpPr>
      <p:sp>
        <p:nvSpPr>
          <p:cNvPr id="220" name="Google Shape;220;p41"/>
          <p:cNvSpPr txBox="1">
            <a:spLocks noGrp="1"/>
          </p:cNvSpPr>
          <p:nvPr>
            <p:ph type="ftr" idx="11"/>
          </p:nvPr>
        </p:nvSpPr>
        <p:spPr>
          <a:xfrm>
            <a:off x="2083391" y="4850082"/>
            <a:ext cx="5585100"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dirty="0">
              <a:solidFill>
                <a:schemeClr val="dk2"/>
              </a:solidFill>
              <a:highlight>
                <a:schemeClr val="lt1"/>
              </a:highlight>
              <a:latin typeface="Calibri"/>
              <a:ea typeface="Calibri"/>
              <a:cs typeface="Calibri"/>
              <a:sym typeface="Calibri"/>
            </a:endParaRPr>
          </a:p>
        </p:txBody>
      </p:sp>
      <p:sp>
        <p:nvSpPr>
          <p:cNvPr id="221" name="Google Shape;221;p41"/>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13</a:t>
            </a:fld>
            <a:endParaRPr/>
          </a:p>
        </p:txBody>
      </p:sp>
      <p:sp>
        <p:nvSpPr>
          <p:cNvPr id="222" name="Google Shape;222;p41"/>
          <p:cNvSpPr txBox="1">
            <a:spLocks noGrp="1"/>
          </p:cNvSpPr>
          <p:nvPr>
            <p:ph type="title"/>
          </p:nvPr>
        </p:nvSpPr>
        <p:spPr>
          <a:xfrm>
            <a:off x="1946075" y="-63824"/>
            <a:ext cx="5585100" cy="538089"/>
          </a:xfrm>
          <a:prstGeom prst="rect">
            <a:avLst/>
          </a:prstGeom>
          <a:noFill/>
          <a:ln>
            <a:noFill/>
          </a:ln>
        </p:spPr>
        <p:txBody>
          <a:bodyPr spcFirstLastPara="1" wrap="square" lIns="0" tIns="167125" rIns="0" bIns="0" anchor="t" anchorCtr="0">
            <a:spAutoFit/>
          </a:bodyPr>
          <a:lstStyle/>
          <a:p>
            <a:pPr marL="1739263" lvl="0">
              <a:buSzPts val="2400"/>
            </a:pPr>
            <a:r>
              <a:rPr lang="en-GB" sz="2400" dirty="0">
                <a:latin typeface="Times New Roman"/>
                <a:ea typeface="Times New Roman"/>
                <a:cs typeface="Times New Roman"/>
                <a:sym typeface="Times New Roman"/>
              </a:rPr>
              <a:t>Literature Review</a:t>
            </a:r>
            <a:endParaRPr lang="en-GB" sz="2400" dirty="0"/>
          </a:p>
        </p:txBody>
      </p:sp>
      <p:graphicFrame>
        <p:nvGraphicFramePr>
          <p:cNvPr id="223" name="Google Shape;223;p41"/>
          <p:cNvGraphicFramePr/>
          <p:nvPr>
            <p:extLst>
              <p:ext uri="{D42A27DB-BD31-4B8C-83A1-F6EECF244321}">
                <p14:modId xmlns:p14="http://schemas.microsoft.com/office/powerpoint/2010/main" val="1141739202"/>
              </p:ext>
            </p:extLst>
          </p:nvPr>
        </p:nvGraphicFramePr>
        <p:xfrm>
          <a:off x="155963" y="441113"/>
          <a:ext cx="8712875" cy="4211250"/>
        </p:xfrm>
        <a:graphic>
          <a:graphicData uri="http://schemas.openxmlformats.org/drawingml/2006/table">
            <a:tbl>
              <a:tblPr firstRow="1" bandRow="1">
                <a:noFill/>
                <a:tableStyleId>{C2489804-17E0-4773-9031-1ADBED480AF3}</a:tableStyleId>
              </a:tblPr>
              <a:tblGrid>
                <a:gridCol w="406250">
                  <a:extLst>
                    <a:ext uri="{9D8B030D-6E8A-4147-A177-3AD203B41FA5}">
                      <a16:colId xmlns:a16="http://schemas.microsoft.com/office/drawing/2014/main" val="20000"/>
                    </a:ext>
                  </a:extLst>
                </a:gridCol>
                <a:gridCol w="768500">
                  <a:extLst>
                    <a:ext uri="{9D8B030D-6E8A-4147-A177-3AD203B41FA5}">
                      <a16:colId xmlns:a16="http://schemas.microsoft.com/office/drawing/2014/main" val="20001"/>
                    </a:ext>
                  </a:extLst>
                </a:gridCol>
                <a:gridCol w="899525">
                  <a:extLst>
                    <a:ext uri="{9D8B030D-6E8A-4147-A177-3AD203B41FA5}">
                      <a16:colId xmlns:a16="http://schemas.microsoft.com/office/drawing/2014/main" val="20002"/>
                    </a:ext>
                  </a:extLst>
                </a:gridCol>
                <a:gridCol w="1194125">
                  <a:extLst>
                    <a:ext uri="{9D8B030D-6E8A-4147-A177-3AD203B41FA5}">
                      <a16:colId xmlns:a16="http://schemas.microsoft.com/office/drawing/2014/main" val="20003"/>
                    </a:ext>
                  </a:extLst>
                </a:gridCol>
                <a:gridCol w="2474100">
                  <a:extLst>
                    <a:ext uri="{9D8B030D-6E8A-4147-A177-3AD203B41FA5}">
                      <a16:colId xmlns:a16="http://schemas.microsoft.com/office/drawing/2014/main" val="20004"/>
                    </a:ext>
                  </a:extLst>
                </a:gridCol>
                <a:gridCol w="2970375">
                  <a:extLst>
                    <a:ext uri="{9D8B030D-6E8A-4147-A177-3AD203B41FA5}">
                      <a16:colId xmlns:a16="http://schemas.microsoft.com/office/drawing/2014/main" val="20005"/>
                    </a:ext>
                  </a:extLst>
                </a:gridCol>
              </a:tblGrid>
              <a:tr h="4211250">
                <a:tc>
                  <a:txBody>
                    <a:bodyPr/>
                    <a:lstStyle/>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Sr.</a:t>
                      </a:r>
                      <a:endParaRPr lang="en-GB" sz="1100" u="none" strike="noStrike" cap="none" dirty="0">
                        <a:solidFill>
                          <a:srgbClr val="F1F1F1"/>
                        </a:solidFill>
                        <a:latin typeface="Times New Roman" panose="02020603050405020304" pitchFamily="18" charset="0"/>
                        <a:cs typeface="Times New Roman" panose="02020603050405020304" pitchFamily="18" charset="0"/>
                      </a:endParaRPr>
                    </a:p>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No.</a:t>
                      </a:r>
                    </a:p>
                    <a:p>
                      <a:pPr marL="0" marR="0" lvl="0" indent="0" algn="ctr" rtl="0">
                        <a:lnSpc>
                          <a:spcPct val="100000"/>
                        </a:lnSpc>
                        <a:spcBef>
                          <a:spcPts val="0"/>
                        </a:spcBef>
                        <a:spcAft>
                          <a:spcPts val="0"/>
                        </a:spcAft>
                        <a:buClr>
                          <a:srgbClr val="000000"/>
                        </a:buClr>
                        <a:buSzPts val="1100"/>
                        <a:buFont typeface="Arial"/>
                        <a:buNone/>
                      </a:pPr>
                      <a:endParaRPr lang="en-GB" sz="1100" b="1" u="none" strike="noStrike" cap="none" dirty="0">
                        <a:solidFill>
                          <a:srgbClr val="F1F1F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100"/>
                        <a:buFont typeface="Arial"/>
                        <a:buNone/>
                      </a:pPr>
                      <a:endParaRPr lang="en-GB" sz="1100" b="1" u="none" strike="noStrike" cap="none" dirty="0">
                        <a:solidFill>
                          <a:srgbClr val="F1F1F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   7.</a:t>
                      </a: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Title of the paper</a:t>
                      </a: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rgbClr val="F1F1F1"/>
                          </a:solidFill>
                          <a:latin typeface="Times New Roman" panose="02020603050405020304" pitchFamily="18" charset="0"/>
                          <a:cs typeface="Times New Roman" panose="02020603050405020304" pitchFamily="18" charset="0"/>
                        </a:rPr>
                        <a:t>Improved Dynamic Load Balancing Approach in Cloud Computing</a:t>
                      </a:r>
                      <a:endParaRPr sz="1100" u="none" strike="noStrike" cap="none" dirty="0">
                        <a:solidFill>
                          <a:srgbClr val="F1F1F1"/>
                        </a:solidFill>
                        <a:latin typeface="Times New Roman" panose="02020603050405020304" pitchFamily="18" charset="0"/>
                        <a:cs typeface="Times New Roman" panose="02020603050405020304" pitchFamily="18" charset="0"/>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Author</a:t>
                      </a: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0" lvl="0" indent="0" algn="ctr" rtl="0">
                        <a:lnSpc>
                          <a:spcPct val="100000"/>
                        </a:lnSpc>
                        <a:spcBef>
                          <a:spcPts val="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cs typeface="Times New Roman" panose="02020603050405020304" pitchFamily="18" charset="0"/>
                      </a:endParaRPr>
                    </a:p>
                    <a:p>
                      <a:pPr marL="63500" marR="0" lvl="0" indent="0" algn="ctr" rtl="0">
                        <a:lnSpc>
                          <a:spcPct val="100000"/>
                        </a:lnSpc>
                        <a:spcBef>
                          <a:spcPts val="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rgbClr val="F1F1F1"/>
                          </a:solidFill>
                          <a:latin typeface="Times New Roman" panose="02020603050405020304" pitchFamily="18" charset="0"/>
                          <a:cs typeface="Times New Roman" panose="02020603050405020304" pitchFamily="18" charset="0"/>
                        </a:rPr>
                        <a:t>A Ritik Kumar; Saurabh Krishn; Chandan Banerjee</a:t>
                      </a:r>
                      <a:endParaRPr sz="1100" u="none" strike="noStrike" cap="none" dirty="0">
                        <a:solidFill>
                          <a:srgbClr val="F1F1F1"/>
                        </a:solidFill>
                        <a:latin typeface="Times New Roman" panose="02020603050405020304" pitchFamily="18" charset="0"/>
                        <a:cs typeface="Times New Roman" panose="02020603050405020304" pitchFamily="18" charset="0"/>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16510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Year of Publication/ Publisher</a:t>
                      </a: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16510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0" marR="165100" lvl="0" indent="0" algn="ctr" rtl="0">
                        <a:lnSpc>
                          <a:spcPct val="100000"/>
                        </a:lnSpc>
                        <a:spcBef>
                          <a:spcPts val="0"/>
                        </a:spcBef>
                        <a:spcAft>
                          <a:spcPts val="0"/>
                        </a:spcAft>
                        <a:buClr>
                          <a:srgbClr val="000000"/>
                        </a:buClr>
                        <a:buSzPts val="1100"/>
                        <a:buFont typeface="Arial"/>
                        <a:buNone/>
                      </a:pPr>
                      <a:r>
                        <a:rPr lang="en-GB" sz="1100" u="none" strike="noStrike" cap="none" dirty="0">
                          <a:solidFill>
                            <a:srgbClr val="F1F1F1"/>
                          </a:solidFill>
                          <a:latin typeface="Times New Roman" panose="02020603050405020304" pitchFamily="18" charset="0"/>
                          <a:cs typeface="Times New Roman" panose="02020603050405020304" pitchFamily="18" charset="0"/>
                        </a:rPr>
                        <a:t>2020 </a:t>
                      </a:r>
                      <a:endParaRPr sz="1100" u="none" strike="noStrike" cap="none" dirty="0">
                        <a:solidFill>
                          <a:srgbClr val="F1F1F1"/>
                        </a:solidFill>
                        <a:latin typeface="Times New Roman" panose="02020603050405020304" pitchFamily="18" charset="0"/>
                        <a:cs typeface="Times New Roman" panose="02020603050405020304" pitchFamily="18" charset="0"/>
                      </a:endParaRPr>
                    </a:p>
                    <a:p>
                      <a:pPr marL="0" marR="165100" lvl="0" indent="0" algn="ctr" rtl="0">
                        <a:lnSpc>
                          <a:spcPct val="100000"/>
                        </a:lnSpc>
                        <a:spcBef>
                          <a:spcPts val="0"/>
                        </a:spcBef>
                        <a:spcAft>
                          <a:spcPts val="0"/>
                        </a:spcAft>
                        <a:buClr>
                          <a:srgbClr val="000000"/>
                        </a:buClr>
                        <a:buSzPts val="1100"/>
                        <a:buFont typeface="Arial"/>
                        <a:buNone/>
                      </a:pPr>
                      <a:r>
                        <a:rPr lang="en-GB" sz="1100" b="0" u="none" strike="noStrike" cap="none" dirty="0" err="1">
                          <a:solidFill>
                            <a:srgbClr val="F1F1F1"/>
                          </a:solidFill>
                          <a:latin typeface="Times New Roman" panose="02020603050405020304" pitchFamily="18" charset="0"/>
                          <a:cs typeface="Times New Roman" panose="02020603050405020304" pitchFamily="18" charset="0"/>
                        </a:rPr>
                        <a:t>Publisher</a:t>
                      </a:r>
                      <a:r>
                        <a:rPr lang="en-GB" sz="1100" u="none" strike="noStrike" cap="none" dirty="0" err="1">
                          <a:solidFill>
                            <a:srgbClr val="F1F1F1"/>
                          </a:solidFill>
                          <a:latin typeface="Times New Roman" panose="02020603050405020304" pitchFamily="18" charset="0"/>
                          <a:cs typeface="Times New Roman" panose="02020603050405020304" pitchFamily="18" charset="0"/>
                        </a:rPr>
                        <a:t>:IEEE</a:t>
                      </a: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16510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12700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Major observations/findings</a:t>
                      </a: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127000" lvl="0" indent="0" algn="ctr" rtl="0">
                        <a:lnSpc>
                          <a:spcPct val="100000"/>
                        </a:lnSpc>
                        <a:spcBef>
                          <a:spcPts val="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cs typeface="Times New Roman" panose="02020603050405020304" pitchFamily="18" charset="0"/>
                      </a:endParaRPr>
                    </a:p>
                    <a:p>
                      <a:pPr marL="0" marR="0" lvl="0" indent="0" algn="l" rtl="0">
                        <a:lnSpc>
                          <a:spcPct val="115000"/>
                        </a:lnSpc>
                        <a:spcBef>
                          <a:spcPts val="90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cs typeface="Times New Roman" panose="02020603050405020304" pitchFamily="18" charset="0"/>
                      </a:endParaRPr>
                    </a:p>
                    <a:p>
                      <a:pPr marL="457200" marR="0" lvl="0" indent="-298450" algn="l" rtl="0">
                        <a:lnSpc>
                          <a:spcPct val="115000"/>
                        </a:lnSpc>
                        <a:spcBef>
                          <a:spcPts val="900"/>
                        </a:spcBef>
                        <a:spcAft>
                          <a:spcPts val="0"/>
                        </a:spcAft>
                        <a:buClr>
                          <a:schemeClr val="lt1"/>
                        </a:buClr>
                        <a:buSzPts val="1100"/>
                        <a:buFont typeface="Arial"/>
                        <a:buChar char="●"/>
                      </a:pPr>
                      <a:r>
                        <a:rPr lang="en-GB" sz="1100" b="0" u="none" strike="noStrike" cap="none" dirty="0">
                          <a:solidFill>
                            <a:schemeClr val="lt1"/>
                          </a:solidFill>
                          <a:latin typeface="Times New Roman" panose="02020603050405020304" pitchFamily="18" charset="0"/>
                          <a:cs typeface="Times New Roman" panose="02020603050405020304" pitchFamily="18" charset="0"/>
                        </a:rPr>
                        <a:t>Proposed a new dynamic load balancing algorithm to distribute workload across cloud resources.</a:t>
                      </a:r>
                      <a:br>
                        <a:rPr lang="en-GB" sz="1100" b="0" u="none" strike="noStrike" cap="none" dirty="0">
                          <a:solidFill>
                            <a:schemeClr val="lt1"/>
                          </a:solidFill>
                          <a:latin typeface="Times New Roman" panose="02020603050405020304" pitchFamily="18" charset="0"/>
                          <a:cs typeface="Times New Roman" panose="02020603050405020304" pitchFamily="18" charset="0"/>
                        </a:rPr>
                      </a:br>
                      <a:endParaRPr sz="1100" b="0" u="none" strike="noStrike" cap="none" dirty="0">
                        <a:solidFill>
                          <a:schemeClr val="lt1"/>
                        </a:solidFill>
                        <a:latin typeface="Times New Roman" panose="02020603050405020304" pitchFamily="18"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b="0" u="none" strike="noStrike" cap="none" dirty="0">
                          <a:solidFill>
                            <a:schemeClr val="lt1"/>
                          </a:solidFill>
                          <a:latin typeface="Times New Roman" panose="02020603050405020304" pitchFamily="18" charset="0"/>
                          <a:cs typeface="Times New Roman" panose="02020603050405020304" pitchFamily="18" charset="0"/>
                        </a:rPr>
                        <a:t>Improved response time and reduced VM migration compared to existing algorithms.</a:t>
                      </a:r>
                      <a:br>
                        <a:rPr lang="en-GB" sz="1100" b="0" u="none" strike="noStrike" cap="none" dirty="0">
                          <a:solidFill>
                            <a:schemeClr val="lt1"/>
                          </a:solidFill>
                          <a:latin typeface="Times New Roman" panose="02020603050405020304" pitchFamily="18" charset="0"/>
                          <a:cs typeface="Times New Roman" panose="02020603050405020304" pitchFamily="18" charset="0"/>
                        </a:rPr>
                      </a:br>
                      <a:endParaRPr sz="1100" b="0" u="none" strike="noStrike" cap="none" dirty="0">
                        <a:solidFill>
                          <a:schemeClr val="lt1"/>
                        </a:solidFill>
                        <a:latin typeface="Times New Roman" panose="02020603050405020304" pitchFamily="18"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b="0" u="none" strike="noStrike" cap="none" dirty="0">
                          <a:solidFill>
                            <a:schemeClr val="lt1"/>
                          </a:solidFill>
                          <a:latin typeface="Times New Roman" panose="02020603050405020304" pitchFamily="18" charset="0"/>
                          <a:cs typeface="Times New Roman" panose="02020603050405020304" pitchFamily="18" charset="0"/>
                        </a:rPr>
                        <a:t>The algorithm adapts to workload variation effectively.</a:t>
                      </a:r>
                      <a:endParaRPr sz="1100" b="0" u="none" strike="noStrike" cap="none" dirty="0">
                        <a:solidFill>
                          <a:schemeClr val="lt1"/>
                        </a:solidFill>
                        <a:latin typeface="Times New Roman" panose="02020603050405020304" pitchFamily="18" charset="0"/>
                        <a:cs typeface="Times New Roman" panose="02020603050405020304" pitchFamily="18" charset="0"/>
                      </a:endParaRPr>
                    </a:p>
                    <a:p>
                      <a:pPr marL="0" marR="0" lvl="0" indent="0" algn="l" rtl="0">
                        <a:lnSpc>
                          <a:spcPct val="115000"/>
                        </a:lnSpc>
                        <a:spcBef>
                          <a:spcPts val="900"/>
                        </a:spcBef>
                        <a:spcAft>
                          <a:spcPts val="0"/>
                        </a:spcAft>
                        <a:buClr>
                          <a:srgbClr val="000000"/>
                        </a:buClr>
                        <a:buSzPts val="1100"/>
                        <a:buFont typeface="Arial"/>
                        <a:buNone/>
                      </a:pPr>
                      <a:endParaRPr sz="1100" b="1" u="none" strike="noStrike" cap="none" dirty="0">
                        <a:solidFill>
                          <a:schemeClr val="lt1"/>
                        </a:solidFill>
                        <a:latin typeface="Times New Roman" panose="02020603050405020304" pitchFamily="18" charset="0"/>
                        <a:cs typeface="Times New Roman" panose="02020603050405020304" pitchFamily="18" charset="0"/>
                      </a:endParaRPr>
                    </a:p>
                    <a:p>
                      <a:pPr marL="63500" marR="127000" lvl="0" indent="0" algn="ctr" rtl="0">
                        <a:lnSpc>
                          <a:spcPct val="100000"/>
                        </a:lnSpc>
                        <a:spcBef>
                          <a:spcPts val="900"/>
                        </a:spcBef>
                        <a:spcAft>
                          <a:spcPts val="0"/>
                        </a:spcAft>
                        <a:buClr>
                          <a:srgbClr val="000000"/>
                        </a:buClr>
                        <a:buSzPts val="1100"/>
                        <a:buFont typeface="Arial"/>
                        <a:buNone/>
                      </a:pPr>
                      <a:endParaRPr sz="1100" u="none" strike="noStrike" cap="none" dirty="0">
                        <a:solidFill>
                          <a:srgbClr val="F1F1F1"/>
                        </a:solidFill>
                        <a:latin typeface="Times New Roman" panose="02020603050405020304" pitchFamily="18" charset="0"/>
                        <a:cs typeface="Times New Roman" panose="02020603050405020304" pitchFamily="18" charset="0"/>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63500" marR="127000" lvl="0" indent="0" algn="ctr" rtl="0">
                        <a:lnSpc>
                          <a:spcPct val="100000"/>
                        </a:lnSpc>
                        <a:spcBef>
                          <a:spcPts val="0"/>
                        </a:spcBef>
                        <a:spcAft>
                          <a:spcPts val="0"/>
                        </a:spcAft>
                        <a:buClr>
                          <a:srgbClr val="000000"/>
                        </a:buClr>
                        <a:buSzPts val="1100"/>
                        <a:buFont typeface="Arial"/>
                        <a:buNone/>
                      </a:pPr>
                      <a:r>
                        <a:rPr lang="en-GB" sz="1100" b="1" u="none" strike="noStrike" cap="none" dirty="0">
                          <a:solidFill>
                            <a:srgbClr val="F1F1F1"/>
                          </a:solidFill>
                          <a:latin typeface="Times New Roman" panose="02020603050405020304" pitchFamily="18" charset="0"/>
                          <a:cs typeface="Times New Roman" panose="02020603050405020304" pitchFamily="18" charset="0"/>
                        </a:rPr>
                        <a:t>Research Gap</a:t>
                      </a: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12700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12700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0" marR="127000" lvl="0" indent="0" algn="ctr"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457200" marR="127000" lvl="0" indent="-298450" algn="just" rtl="0">
                        <a:lnSpc>
                          <a:spcPct val="100000"/>
                        </a:lnSpc>
                        <a:spcBef>
                          <a:spcPts val="0"/>
                        </a:spcBef>
                        <a:spcAft>
                          <a:spcPts val="0"/>
                        </a:spcAft>
                        <a:buClr>
                          <a:srgbClr val="F1F1F1"/>
                        </a:buClr>
                        <a:buSzPts val="1100"/>
                        <a:buFont typeface="Arial"/>
                        <a:buChar char="●"/>
                      </a:pPr>
                      <a:r>
                        <a:rPr lang="en-GB" sz="1100" b="0" u="none" strike="noStrike" cap="none" dirty="0">
                          <a:solidFill>
                            <a:srgbClr val="F1F1F1"/>
                          </a:solidFill>
                          <a:latin typeface="Times New Roman" panose="02020603050405020304" pitchFamily="18" charset="0"/>
                          <a:cs typeface="Times New Roman" panose="02020603050405020304" pitchFamily="18" charset="0"/>
                        </a:rPr>
                        <a:t>Static and semi-dynamic algorithms fail to cope with real-time cloud workload fluctuations.</a:t>
                      </a:r>
                      <a:br>
                        <a:rPr lang="en-GB" sz="1100" b="0" u="none" strike="noStrike" cap="none" dirty="0">
                          <a:solidFill>
                            <a:srgbClr val="F1F1F1"/>
                          </a:solidFill>
                          <a:latin typeface="Times New Roman" panose="02020603050405020304" pitchFamily="18" charset="0"/>
                          <a:cs typeface="Times New Roman" panose="02020603050405020304" pitchFamily="18" charset="0"/>
                        </a:rPr>
                      </a:br>
                      <a:endParaRPr sz="1100" b="0" u="none" strike="noStrike" cap="none" dirty="0">
                        <a:solidFill>
                          <a:srgbClr val="F1F1F1"/>
                        </a:solidFill>
                        <a:latin typeface="Times New Roman" panose="02020603050405020304" pitchFamily="18" charset="0"/>
                        <a:cs typeface="Times New Roman" panose="02020603050405020304" pitchFamily="18" charset="0"/>
                      </a:endParaRPr>
                    </a:p>
                    <a:p>
                      <a:pPr marL="457200" marR="127000" lvl="0" indent="-298450" algn="just" rtl="0">
                        <a:lnSpc>
                          <a:spcPct val="100000"/>
                        </a:lnSpc>
                        <a:spcBef>
                          <a:spcPts val="0"/>
                        </a:spcBef>
                        <a:spcAft>
                          <a:spcPts val="0"/>
                        </a:spcAft>
                        <a:buClr>
                          <a:srgbClr val="F1F1F1"/>
                        </a:buClr>
                        <a:buSzPts val="1100"/>
                        <a:buFont typeface="Arial"/>
                        <a:buChar char="●"/>
                      </a:pPr>
                      <a:r>
                        <a:rPr lang="en-GB" sz="1100" b="0" u="none" strike="noStrike" cap="none" dirty="0">
                          <a:solidFill>
                            <a:srgbClr val="F1F1F1"/>
                          </a:solidFill>
                          <a:latin typeface="Times New Roman" panose="02020603050405020304" pitchFamily="18" charset="0"/>
                          <a:cs typeface="Times New Roman" panose="02020603050405020304" pitchFamily="18" charset="0"/>
                        </a:rPr>
                        <a:t>Existing dynamic methods lack efficiency in minimizing migration and maintaining performance consistency.</a:t>
                      </a:r>
                      <a:endParaRPr sz="1100" b="0" u="none" strike="noStrike" cap="none" dirty="0">
                        <a:solidFill>
                          <a:srgbClr val="F1F1F1"/>
                        </a:solidFill>
                        <a:latin typeface="Times New Roman" panose="02020603050405020304" pitchFamily="18" charset="0"/>
                        <a:cs typeface="Times New Roman" panose="02020603050405020304" pitchFamily="18" charset="0"/>
                      </a:endParaRPr>
                    </a:p>
                    <a:p>
                      <a:pPr marL="63500" marR="127000" lvl="0" indent="0" algn="just" rtl="0">
                        <a:lnSpc>
                          <a:spcPct val="100000"/>
                        </a:lnSpc>
                        <a:spcBef>
                          <a:spcPts val="0"/>
                        </a:spcBef>
                        <a:spcAft>
                          <a:spcPts val="0"/>
                        </a:spcAft>
                        <a:buClr>
                          <a:srgbClr val="000000"/>
                        </a:buClr>
                        <a:buSzPts val="11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p>
                      <a:pPr marL="63500" marR="127000" lvl="0" indent="0" algn="just" rtl="0">
                        <a:lnSpc>
                          <a:spcPct val="100000"/>
                        </a:lnSpc>
                        <a:spcBef>
                          <a:spcPts val="0"/>
                        </a:spcBef>
                        <a:spcAft>
                          <a:spcPts val="0"/>
                        </a:spcAft>
                        <a:buClr>
                          <a:schemeClr val="dk1"/>
                        </a:buClr>
                        <a:buSzPts val="800"/>
                        <a:buFont typeface="Arial"/>
                        <a:buNone/>
                      </a:pPr>
                      <a:endParaRPr sz="1100" b="1" u="none" strike="noStrike" cap="none" dirty="0">
                        <a:solidFill>
                          <a:srgbClr val="F1F1F1"/>
                        </a:solidFill>
                        <a:latin typeface="Times New Roman" panose="02020603050405020304" pitchFamily="18" charset="0"/>
                        <a:cs typeface="Times New Roman" panose="02020603050405020304" pitchFamily="18" charset="0"/>
                      </a:endParaRPr>
                    </a:p>
                  </a:txBody>
                  <a:tcPr marL="0" marR="0" marT="214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bl>
          </a:graphicData>
        </a:graphic>
      </p:graphicFrame>
      <p:cxnSp>
        <p:nvCxnSpPr>
          <p:cNvPr id="224" name="Google Shape;224;p41"/>
          <p:cNvCxnSpPr/>
          <p:nvPr/>
        </p:nvCxnSpPr>
        <p:spPr>
          <a:xfrm rot="10800000" flipH="1">
            <a:off x="82750" y="970781"/>
            <a:ext cx="8859300" cy="261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graphicFrame>
        <p:nvGraphicFramePr>
          <p:cNvPr id="229" name="Google Shape;229;p42"/>
          <p:cNvGraphicFramePr/>
          <p:nvPr>
            <p:extLst>
              <p:ext uri="{D42A27DB-BD31-4B8C-83A1-F6EECF244321}">
                <p14:modId xmlns:p14="http://schemas.microsoft.com/office/powerpoint/2010/main" val="2341737639"/>
              </p:ext>
            </p:extLst>
          </p:nvPr>
        </p:nvGraphicFramePr>
        <p:xfrm>
          <a:off x="408878" y="613767"/>
          <a:ext cx="8318800" cy="3661410"/>
        </p:xfrm>
        <a:graphic>
          <a:graphicData uri="http://schemas.openxmlformats.org/drawingml/2006/table">
            <a:tbl>
              <a:tblPr firstRow="1" bandRow="1">
                <a:noFill/>
                <a:tableStyleId>{A69CD3E9-7AF9-4501-8DF7-6F84E3247698}</a:tableStyleId>
              </a:tblPr>
              <a:tblGrid>
                <a:gridCol w="454600">
                  <a:extLst>
                    <a:ext uri="{9D8B030D-6E8A-4147-A177-3AD203B41FA5}">
                      <a16:colId xmlns:a16="http://schemas.microsoft.com/office/drawing/2014/main" val="20000"/>
                    </a:ext>
                  </a:extLst>
                </a:gridCol>
                <a:gridCol w="659850">
                  <a:extLst>
                    <a:ext uri="{9D8B030D-6E8A-4147-A177-3AD203B41FA5}">
                      <a16:colId xmlns:a16="http://schemas.microsoft.com/office/drawing/2014/main" val="20001"/>
                    </a:ext>
                  </a:extLst>
                </a:gridCol>
                <a:gridCol w="959800">
                  <a:extLst>
                    <a:ext uri="{9D8B030D-6E8A-4147-A177-3AD203B41FA5}">
                      <a16:colId xmlns:a16="http://schemas.microsoft.com/office/drawing/2014/main" val="20002"/>
                    </a:ext>
                  </a:extLst>
                </a:gridCol>
                <a:gridCol w="1625675">
                  <a:extLst>
                    <a:ext uri="{9D8B030D-6E8A-4147-A177-3AD203B41FA5}">
                      <a16:colId xmlns:a16="http://schemas.microsoft.com/office/drawing/2014/main" val="20003"/>
                    </a:ext>
                  </a:extLst>
                </a:gridCol>
                <a:gridCol w="2628725">
                  <a:extLst>
                    <a:ext uri="{9D8B030D-6E8A-4147-A177-3AD203B41FA5}">
                      <a16:colId xmlns:a16="http://schemas.microsoft.com/office/drawing/2014/main" val="20004"/>
                    </a:ext>
                  </a:extLst>
                </a:gridCol>
                <a:gridCol w="1990150">
                  <a:extLst>
                    <a:ext uri="{9D8B030D-6E8A-4147-A177-3AD203B41FA5}">
                      <a16:colId xmlns:a16="http://schemas.microsoft.com/office/drawing/2014/main" val="20005"/>
                    </a:ext>
                  </a:extLst>
                </a:gridCol>
              </a:tblGrid>
              <a:tr h="657400">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6510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l" rtl="0">
                        <a:lnSpc>
                          <a:spcPct val="100000"/>
                        </a:lnSpc>
                        <a:spcBef>
                          <a:spcPts val="0"/>
                        </a:spcBef>
                        <a:spcAft>
                          <a:spcPts val="0"/>
                        </a:spcAft>
                        <a:buClr>
                          <a:schemeClr val="dk1"/>
                        </a:buClr>
                        <a:buSzPts val="8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0"/>
                  </a:ext>
                </a:extLst>
              </a:tr>
              <a:tr h="2899400">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8.</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Cloud Load Balancing Algorithm</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Himanshu Rai;</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Sanjeev Kumar Ojha;</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Alexey Nazarov</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Publisher: IEEE</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a:solidFill>
                            <a:schemeClr val="lt1"/>
                          </a:solidFill>
                          <a:latin typeface="Times New Roman" panose="02020603050405020304" pitchFamily="18" charset="0"/>
                          <a:ea typeface="Calibri"/>
                          <a:cs typeface="Times New Roman" panose="02020603050405020304" pitchFamily="18" charset="0"/>
                          <a:sym typeface="Calibri"/>
                        </a:rPr>
                        <a:t>2020 2nd International Conference on Advances in Computing, Communication Control and Networking (ICACCCN)</a:t>
                      </a: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Calibri"/>
                        <a:buChar char="●"/>
                      </a:pPr>
                      <a:r>
                        <a:rPr lang="en-GB" sz="1100" b="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a load balancing algorithm with optimized VM allocation and a trust model for secure resource sharing, improving performance; </a:t>
                      </a:r>
                      <a:r>
                        <a:rPr lang="en-GB" sz="1100" b="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CloudSim</a:t>
                      </a:r>
                      <a:r>
                        <a:rPr lang="en-GB" sz="1100" b="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simulations showed better load distribution than static methods.</a:t>
                      </a:r>
                      <a:endParaRPr sz="1100" b="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15000"/>
                        </a:lnSpc>
                        <a:spcBef>
                          <a:spcPts val="120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15000"/>
                        </a:lnSpc>
                        <a:spcBef>
                          <a:spcPts val="1200"/>
                        </a:spcBef>
                        <a:spcAft>
                          <a:spcPts val="0"/>
                        </a:spcAft>
                        <a:buClr>
                          <a:schemeClr val="dk1"/>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15000"/>
                        </a:lnSpc>
                        <a:spcBef>
                          <a:spcPts val="60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Existing algorithms: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Often ignore </a:t>
                      </a: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trust </a:t>
                      </a:r>
                      <a:r>
                        <a:rPr lang="en-GB" sz="1100" b="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mechanisms</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 in resource sharing</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Lack adaptability for </a:t>
                      </a:r>
                      <a:r>
                        <a:rPr lang="en-GB" sz="1100" b="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heterogeneous hosts and VM </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fail to optimize based on </a:t>
                      </a:r>
                      <a:r>
                        <a:rPr lang="en-GB" sz="1100" b="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task completion time </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and </a:t>
                      </a:r>
                      <a:r>
                        <a:rPr lang="en-GB" sz="1100" b="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host capacity thresholds</a:t>
                      </a:r>
                      <a:br>
                        <a:rPr lang="en-GB" sz="1100" b="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br>
                      <a:endParaRPr sz="1100" b="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457200" marR="0" lvl="0" indent="0" algn="l" rtl="0">
                        <a:lnSpc>
                          <a:spcPct val="115000"/>
                        </a:lnSpc>
                        <a:spcBef>
                          <a:spcPts val="900"/>
                        </a:spcBef>
                        <a:spcAft>
                          <a:spcPts val="0"/>
                        </a:spcAft>
                        <a:buClr>
                          <a:srgbClr val="000000"/>
                        </a:buClr>
                        <a:buSzPts val="1100"/>
                        <a:buFont typeface="Arial"/>
                        <a:buNone/>
                      </a:pPr>
                      <a:endParaRPr sz="1100" b="1" u="none" strike="noStrike" cap="none" dirty="0">
                        <a:solidFill>
                          <a:schemeClr val="lt1"/>
                        </a:solidFill>
                        <a:latin typeface="Times New Roman" panose="02020603050405020304" pitchFamily="18" charset="0"/>
                        <a:cs typeface="Times New Roman" panose="02020603050405020304" pitchFamily="18" charset="0"/>
                      </a:endParaRPr>
                    </a:p>
                  </a:txBody>
                  <a:tcPr marL="91450" marR="91450" marT="45725" marB="45725">
                    <a:solidFill>
                      <a:srgbClr val="4F81BD"/>
                    </a:solidFill>
                  </a:tcPr>
                </a:tc>
                <a:extLst>
                  <a:ext uri="{0D108BD9-81ED-4DB2-BD59-A6C34878D82A}">
                    <a16:rowId xmlns:a16="http://schemas.microsoft.com/office/drawing/2014/main" val="10001"/>
                  </a:ext>
                </a:extLst>
              </a:tr>
            </a:tbl>
          </a:graphicData>
        </a:graphic>
      </p:graphicFrame>
      <p:sp>
        <p:nvSpPr>
          <p:cNvPr id="230" name="Google Shape;230;p42"/>
          <p:cNvSpPr txBox="1"/>
          <p:nvPr/>
        </p:nvSpPr>
        <p:spPr>
          <a:xfrm>
            <a:off x="1199100" y="63131"/>
            <a:ext cx="57537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lang="en-GB" sz="2400" b="1" dirty="0">
              <a:solidFill>
                <a:schemeClr val="dk1"/>
              </a:solidFill>
              <a:latin typeface="Calibri"/>
              <a:ea typeface="Calibri"/>
              <a:cs typeface="Calibri"/>
              <a:sym typeface="Calibri"/>
            </a:endParaRPr>
          </a:p>
        </p:txBody>
      </p:sp>
      <p:sp>
        <p:nvSpPr>
          <p:cNvPr id="231" name="Google Shape;231;p42"/>
          <p:cNvSpPr txBox="1"/>
          <p:nvPr/>
        </p:nvSpPr>
        <p:spPr>
          <a:xfrm>
            <a:off x="1685626" y="4738532"/>
            <a:ext cx="59547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232" name="Google Shape;232;p42"/>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3"/>
          <p:cNvSpPr txBox="1"/>
          <p:nvPr/>
        </p:nvSpPr>
        <p:spPr>
          <a:xfrm>
            <a:off x="0" y="0"/>
            <a:ext cx="3000000" cy="30015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238" name="Google Shape;238;p43"/>
          <p:cNvGraphicFramePr/>
          <p:nvPr>
            <p:extLst>
              <p:ext uri="{D42A27DB-BD31-4B8C-83A1-F6EECF244321}">
                <p14:modId xmlns:p14="http://schemas.microsoft.com/office/powerpoint/2010/main" val="2755082077"/>
              </p:ext>
            </p:extLst>
          </p:nvPr>
        </p:nvGraphicFramePr>
        <p:xfrm>
          <a:off x="204484" y="415583"/>
          <a:ext cx="8568975" cy="4192360"/>
        </p:xfrm>
        <a:graphic>
          <a:graphicData uri="http://schemas.openxmlformats.org/drawingml/2006/table">
            <a:tbl>
              <a:tblPr firstRow="1" bandRow="1">
                <a:noFill/>
                <a:tableStyleId>{A69CD3E9-7AF9-4501-8DF7-6F84E3247698}</a:tableStyleId>
              </a:tblPr>
              <a:tblGrid>
                <a:gridCol w="413300">
                  <a:extLst>
                    <a:ext uri="{9D8B030D-6E8A-4147-A177-3AD203B41FA5}">
                      <a16:colId xmlns:a16="http://schemas.microsoft.com/office/drawing/2014/main" val="20000"/>
                    </a:ext>
                  </a:extLst>
                </a:gridCol>
                <a:gridCol w="960125">
                  <a:extLst>
                    <a:ext uri="{9D8B030D-6E8A-4147-A177-3AD203B41FA5}">
                      <a16:colId xmlns:a16="http://schemas.microsoft.com/office/drawing/2014/main" val="20001"/>
                    </a:ext>
                  </a:extLst>
                </a:gridCol>
                <a:gridCol w="896025">
                  <a:extLst>
                    <a:ext uri="{9D8B030D-6E8A-4147-A177-3AD203B41FA5}">
                      <a16:colId xmlns:a16="http://schemas.microsoft.com/office/drawing/2014/main" val="20002"/>
                    </a:ext>
                  </a:extLst>
                </a:gridCol>
                <a:gridCol w="1271600">
                  <a:extLst>
                    <a:ext uri="{9D8B030D-6E8A-4147-A177-3AD203B41FA5}">
                      <a16:colId xmlns:a16="http://schemas.microsoft.com/office/drawing/2014/main" val="20003"/>
                    </a:ext>
                  </a:extLst>
                </a:gridCol>
                <a:gridCol w="3283450">
                  <a:extLst>
                    <a:ext uri="{9D8B030D-6E8A-4147-A177-3AD203B41FA5}">
                      <a16:colId xmlns:a16="http://schemas.microsoft.com/office/drawing/2014/main" val="20004"/>
                    </a:ext>
                  </a:extLst>
                </a:gridCol>
                <a:gridCol w="1744475">
                  <a:extLst>
                    <a:ext uri="{9D8B030D-6E8A-4147-A177-3AD203B41FA5}">
                      <a16:colId xmlns:a16="http://schemas.microsoft.com/office/drawing/2014/main" val="20005"/>
                    </a:ext>
                  </a:extLst>
                </a:gridCol>
              </a:tblGrid>
              <a:tr h="763350">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6510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63500" marR="127000" lvl="0" indent="0" algn="l" rtl="0">
                        <a:lnSpc>
                          <a:spcPct val="100000"/>
                        </a:lnSpc>
                        <a:spcBef>
                          <a:spcPts val="0"/>
                        </a:spcBef>
                        <a:spcAft>
                          <a:spcPts val="0"/>
                        </a:spcAft>
                        <a:buClr>
                          <a:schemeClr val="dk1"/>
                        </a:buClr>
                        <a:buSzPts val="8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0"/>
                  </a:ext>
                </a:extLst>
              </a:tr>
              <a:tr h="3259025">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9. </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Cloud Computing and Load Balancing in Cloud Computing – Survey</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Amrita Jyoti;</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Manish </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Shrimali</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Rashmi Mishra</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Publisher: IEEE</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15000"/>
                        </a:lnSpc>
                        <a:spcBef>
                          <a:spcPts val="800"/>
                        </a:spcBef>
                        <a:spcAft>
                          <a:spcPts val="0"/>
                        </a:spcAft>
                        <a:buClr>
                          <a:schemeClr val="dk1"/>
                        </a:buClr>
                        <a:buSzPts val="8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2019 9th International Conference on Cloud Computing, Data Science &amp; Engineering (Confluence)</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just" rtl="0">
                        <a:lnSpc>
                          <a:spcPct val="115000"/>
                        </a:lnSpc>
                        <a:spcBef>
                          <a:spcPts val="800"/>
                        </a:spcBef>
                        <a:spcAft>
                          <a:spcPts val="0"/>
                        </a:spcAft>
                        <a:buClr>
                          <a:schemeClr val="dk1"/>
                        </a:buClr>
                        <a:buSzPts val="8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Fundamentals of cloud computing and service models (IaaS, PaaS, SaaS)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Importance of load balancing in managing distributed cloud resources</a:t>
                      </a:r>
                    </a:p>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Classification of load balancing techniques: </a:t>
                      </a:r>
                    </a:p>
                    <a:p>
                      <a:pPr marL="457200" marR="0" lvl="0" indent="-298450" algn="just" rtl="0">
                        <a:lnSpc>
                          <a:spcPct val="100000"/>
                        </a:lnSpc>
                        <a:spcBef>
                          <a:spcPts val="0"/>
                        </a:spcBef>
                        <a:spcAft>
                          <a:spcPts val="0"/>
                        </a:spcAft>
                        <a:buClr>
                          <a:schemeClr val="lt1"/>
                        </a:buClr>
                        <a:buSzPts val="1100"/>
                        <a:buFont typeface="+mj-lt"/>
                        <a:buAutoNum type="arabicPeriod"/>
                      </a:pPr>
                      <a:endPar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just" rtl="0">
                        <a:lnSpc>
                          <a:spcPct val="100000"/>
                        </a:lnSpc>
                        <a:spcBef>
                          <a:spcPts val="0"/>
                        </a:spcBef>
                        <a:spcAft>
                          <a:spcPts val="0"/>
                        </a:spcAft>
                        <a:buClr>
                          <a:schemeClr val="lt1"/>
                        </a:buClr>
                        <a:buSzPts val="11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Static vs. Dynamic</a:t>
                      </a:r>
                    </a:p>
                    <a:p>
                      <a:pPr marL="457200" marR="0" lvl="0" indent="-298450" algn="just" rtl="0">
                        <a:lnSpc>
                          <a:spcPct val="100000"/>
                        </a:lnSpc>
                        <a:spcBef>
                          <a:spcPts val="0"/>
                        </a:spcBef>
                        <a:spcAft>
                          <a:spcPts val="0"/>
                        </a:spcAft>
                        <a:buClr>
                          <a:schemeClr val="lt1"/>
                        </a:buClr>
                        <a:buSzPts val="11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Centralized vs Distributed</a:t>
                      </a:r>
                    </a:p>
                    <a:p>
                      <a:pPr marL="457200" marR="0" lvl="0" indent="-298450" algn="just" rtl="0">
                        <a:lnSpc>
                          <a:spcPct val="100000"/>
                        </a:lnSpc>
                        <a:spcBef>
                          <a:spcPts val="0"/>
                        </a:spcBef>
                        <a:spcAft>
                          <a:spcPts val="0"/>
                        </a:spcAft>
                        <a:buClr>
                          <a:schemeClr val="lt1"/>
                        </a:buClr>
                        <a:buSzPts val="11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Cooperative vs Non-cooperative</a:t>
                      </a:r>
                    </a:p>
                    <a:p>
                      <a:pPr marL="158750" marR="0" lvl="0" indent="0" algn="just" rtl="0">
                        <a:lnSpc>
                          <a:spcPct val="100000"/>
                        </a:lnSpc>
                        <a:spcBef>
                          <a:spcPts val="0"/>
                        </a:spcBef>
                        <a:spcAft>
                          <a:spcPts val="0"/>
                        </a:spcAft>
                        <a:buClr>
                          <a:schemeClr val="lt1"/>
                        </a:buClr>
                        <a:buSzPct val="150000"/>
                        <a:buFont typeface="Arial" panose="020B0604020202020204" pitchFamily="34" charset="0"/>
                        <a:buNone/>
                      </a:pPr>
                      <a:endPar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330200" marR="0" lvl="0" indent="-171450" algn="just" rtl="0">
                        <a:lnSpc>
                          <a:spcPct val="100000"/>
                        </a:lnSpc>
                        <a:spcBef>
                          <a:spcPts val="0"/>
                        </a:spcBef>
                        <a:spcAft>
                          <a:spcPts val="0"/>
                        </a:spcAft>
                        <a:buClr>
                          <a:schemeClr val="lt1"/>
                        </a:buClr>
                        <a:buSzPct val="150000"/>
                        <a:buFont typeface="Arial" panose="020B0604020202020204" pitchFamily="34" charset="0"/>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Common algorithms reviewed include:</a:t>
                      </a:r>
                    </a:p>
                    <a:p>
                      <a:pPr marL="387350" marR="0" lvl="0" indent="-228600" algn="just" rtl="0">
                        <a:lnSpc>
                          <a:spcPct val="100000"/>
                        </a:lnSpc>
                        <a:spcBef>
                          <a:spcPts val="0"/>
                        </a:spcBef>
                        <a:spcAft>
                          <a:spcPts val="0"/>
                        </a:spcAft>
                        <a:buClr>
                          <a:schemeClr val="lt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Round Robin</a:t>
                      </a:r>
                    </a:p>
                    <a:p>
                      <a:pPr marL="387350" marR="0" lvl="0" indent="-228600" algn="just" rtl="0">
                        <a:lnSpc>
                          <a:spcPct val="100000"/>
                        </a:lnSpc>
                        <a:spcBef>
                          <a:spcPts val="0"/>
                        </a:spcBef>
                        <a:spcAft>
                          <a:spcPts val="0"/>
                        </a:spcAft>
                        <a:buClr>
                          <a:schemeClr val="lt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Throttled Load Balancing</a:t>
                      </a:r>
                    </a:p>
                    <a:p>
                      <a:pPr marL="387350" marR="0" lvl="0" indent="-228600" algn="just" rtl="0">
                        <a:lnSpc>
                          <a:spcPct val="100000"/>
                        </a:lnSpc>
                        <a:spcBef>
                          <a:spcPts val="0"/>
                        </a:spcBef>
                        <a:spcAft>
                          <a:spcPts val="0"/>
                        </a:spcAft>
                        <a:buClr>
                          <a:schemeClr val="lt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Honey Bee Foraging</a:t>
                      </a:r>
                    </a:p>
                    <a:p>
                      <a:pPr marL="387350" marR="0" lvl="0" indent="-228600" algn="just" rtl="0">
                        <a:lnSpc>
                          <a:spcPct val="100000"/>
                        </a:lnSpc>
                        <a:spcBef>
                          <a:spcPts val="0"/>
                        </a:spcBef>
                        <a:spcAft>
                          <a:spcPts val="0"/>
                        </a:spcAft>
                        <a:buClr>
                          <a:schemeClr val="lt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Genetic Algorithm (GA)</a:t>
                      </a:r>
                    </a:p>
                    <a:p>
                      <a:pPr marL="387350" marR="0" lvl="0" indent="-228600" algn="just" rtl="0">
                        <a:lnSpc>
                          <a:spcPct val="100000"/>
                        </a:lnSpc>
                        <a:spcBef>
                          <a:spcPts val="0"/>
                        </a:spcBef>
                        <a:spcAft>
                          <a:spcPts val="0"/>
                        </a:spcAft>
                        <a:buClr>
                          <a:schemeClr val="lt1"/>
                        </a:buClr>
                        <a:buSzPct val="100000"/>
                        <a:buFont typeface="+mj-lt"/>
                        <a:buAutoNum type="arabicPeriod"/>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Particle Swarm Optimization (PSO)</a:t>
                      </a:r>
                      <a:br>
                        <a:rPr lang="en-GB"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120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tc>
                  <a:txBody>
                    <a:bodyPr/>
                    <a:lstStyle/>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Focus on single-objective optimization (e.g., only response time or only resource utilization)</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just"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Lack comprehensive support for </a:t>
                      </a: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multi-objective optimization</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 and </a:t>
                      </a:r>
                      <a:r>
                        <a:rPr lang="en-GB" sz="1100" b="1"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QoS-aware</a:t>
                      </a: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 systems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50" marR="91450" marT="45725" marB="45725">
                    <a:solidFill>
                      <a:srgbClr val="4F81BD"/>
                    </a:solidFill>
                  </a:tcPr>
                </a:tc>
                <a:extLst>
                  <a:ext uri="{0D108BD9-81ED-4DB2-BD59-A6C34878D82A}">
                    <a16:rowId xmlns:a16="http://schemas.microsoft.com/office/drawing/2014/main" val="10001"/>
                  </a:ext>
                </a:extLst>
              </a:tr>
            </a:tbl>
          </a:graphicData>
        </a:graphic>
      </p:graphicFrame>
      <p:sp>
        <p:nvSpPr>
          <p:cNvPr id="239" name="Google Shape;239;p43"/>
          <p:cNvSpPr txBox="1"/>
          <p:nvPr/>
        </p:nvSpPr>
        <p:spPr>
          <a:xfrm>
            <a:off x="-85725" y="92250"/>
            <a:ext cx="3000000" cy="32332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Times New Roman"/>
              <a:ea typeface="Times New Roman"/>
              <a:cs typeface="Times New Roman"/>
              <a:sym typeface="Times New Roman"/>
            </a:endParaRPr>
          </a:p>
        </p:txBody>
      </p:sp>
      <p:sp>
        <p:nvSpPr>
          <p:cNvPr id="240" name="Google Shape;240;p43"/>
          <p:cNvSpPr txBox="1"/>
          <p:nvPr/>
        </p:nvSpPr>
        <p:spPr>
          <a:xfrm>
            <a:off x="1372600" y="0"/>
            <a:ext cx="57024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lang="en-GB" sz="2400" b="1" dirty="0">
              <a:solidFill>
                <a:schemeClr val="dk1"/>
              </a:solidFill>
              <a:latin typeface="Calibri"/>
              <a:ea typeface="Calibri"/>
              <a:cs typeface="Calibri"/>
              <a:sym typeface="Calibri"/>
            </a:endParaRPr>
          </a:p>
        </p:txBody>
      </p:sp>
      <p:sp>
        <p:nvSpPr>
          <p:cNvPr id="241" name="Google Shape;241;p43"/>
          <p:cNvSpPr txBox="1"/>
          <p:nvPr/>
        </p:nvSpPr>
        <p:spPr>
          <a:xfrm>
            <a:off x="1730458" y="4775318"/>
            <a:ext cx="61623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b="0" i="0" u="none" strike="noStrike" cap="none" dirty="0">
              <a:solidFill>
                <a:schemeClr val="dk2"/>
              </a:solidFill>
              <a:highlight>
                <a:schemeClr val="lt1"/>
              </a:highlight>
              <a:latin typeface="Times New Roman"/>
              <a:ea typeface="Times New Roman"/>
              <a:cs typeface="Times New Roman"/>
              <a:sym typeface="Times New Roman"/>
            </a:endParaRPr>
          </a:p>
        </p:txBody>
      </p:sp>
      <p:sp>
        <p:nvSpPr>
          <p:cNvPr id="242" name="Google Shape;242;p43"/>
          <p:cNvSpPr txBox="1">
            <a:spLocks noGrp="1"/>
          </p:cNvSpPr>
          <p:nvPr>
            <p:ph type="sldNum" idx="12"/>
          </p:nvPr>
        </p:nvSpPr>
        <p:spPr>
          <a:xfrm>
            <a:off x="8423490" y="4886868"/>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graphicFrame>
        <p:nvGraphicFramePr>
          <p:cNvPr id="247" name="Google Shape;247;p44"/>
          <p:cNvGraphicFramePr/>
          <p:nvPr>
            <p:extLst>
              <p:ext uri="{D42A27DB-BD31-4B8C-83A1-F6EECF244321}">
                <p14:modId xmlns:p14="http://schemas.microsoft.com/office/powerpoint/2010/main" val="3433926453"/>
              </p:ext>
            </p:extLst>
          </p:nvPr>
        </p:nvGraphicFramePr>
        <p:xfrm>
          <a:off x="186250" y="523501"/>
          <a:ext cx="8771500" cy="3879775"/>
        </p:xfrm>
        <a:graphic>
          <a:graphicData uri="http://schemas.openxmlformats.org/drawingml/2006/table">
            <a:tbl>
              <a:tblPr>
                <a:noFill/>
                <a:tableStyleId>{A69CD3E9-7AF9-4501-8DF7-6F84E3247698}</a:tableStyleId>
              </a:tblPr>
              <a:tblGrid>
                <a:gridCol w="675150">
                  <a:extLst>
                    <a:ext uri="{9D8B030D-6E8A-4147-A177-3AD203B41FA5}">
                      <a16:colId xmlns:a16="http://schemas.microsoft.com/office/drawing/2014/main" val="20000"/>
                    </a:ext>
                  </a:extLst>
                </a:gridCol>
                <a:gridCol w="783700">
                  <a:extLst>
                    <a:ext uri="{9D8B030D-6E8A-4147-A177-3AD203B41FA5}">
                      <a16:colId xmlns:a16="http://schemas.microsoft.com/office/drawing/2014/main" val="20001"/>
                    </a:ext>
                  </a:extLst>
                </a:gridCol>
                <a:gridCol w="835425">
                  <a:extLst>
                    <a:ext uri="{9D8B030D-6E8A-4147-A177-3AD203B41FA5}">
                      <a16:colId xmlns:a16="http://schemas.microsoft.com/office/drawing/2014/main" val="20002"/>
                    </a:ext>
                  </a:extLst>
                </a:gridCol>
                <a:gridCol w="1440850">
                  <a:extLst>
                    <a:ext uri="{9D8B030D-6E8A-4147-A177-3AD203B41FA5}">
                      <a16:colId xmlns:a16="http://schemas.microsoft.com/office/drawing/2014/main" val="20003"/>
                    </a:ext>
                  </a:extLst>
                </a:gridCol>
                <a:gridCol w="2171925">
                  <a:extLst>
                    <a:ext uri="{9D8B030D-6E8A-4147-A177-3AD203B41FA5}">
                      <a16:colId xmlns:a16="http://schemas.microsoft.com/office/drawing/2014/main" val="20004"/>
                    </a:ext>
                  </a:extLst>
                </a:gridCol>
                <a:gridCol w="2864450">
                  <a:extLst>
                    <a:ext uri="{9D8B030D-6E8A-4147-A177-3AD203B41FA5}">
                      <a16:colId xmlns:a16="http://schemas.microsoft.com/office/drawing/2014/main" val="20005"/>
                    </a:ext>
                  </a:extLst>
                </a:gridCol>
              </a:tblGrid>
              <a:tr h="828650">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Title of the paper </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Research Gap</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051125">
                <a:tc>
                  <a:txBody>
                    <a:bodyPr/>
                    <a:lstStyle/>
                    <a:p>
                      <a:pPr marL="0" marR="2921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10.</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Load balancing in cloud computing: Challenge&amp; issues</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Author:Shalini</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Joshi;</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Uma Kumari</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8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Publisher</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:IEEE</a:t>
                      </a: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2016 2nd International Conference on Contemporary Computing and Informatics (IC3I)</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Dynamic resource allocation</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Fault tolerance</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Performance assurance</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Minimization of energy consumption</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l" rtl="0">
                        <a:lnSpc>
                          <a:spcPct val="100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Discusses different load balancing strategies (static, dynamic, distributed, centralized) and their limitations.</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Adaptive, decentralized load balancing mechanisms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Energy-aware and scalable algorithms</a:t>
                      </a:r>
                      <a:b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b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298450" algn="l" rtl="0">
                        <a:lnSpc>
                          <a:spcPct val="115000"/>
                        </a:lnSpc>
                        <a:spcBef>
                          <a:spcPts val="0"/>
                        </a:spcBef>
                        <a:spcAft>
                          <a:spcPts val="0"/>
                        </a:spcAft>
                        <a:buClr>
                          <a:schemeClr val="lt1"/>
                        </a:buClr>
                        <a:buSzPts val="1100"/>
                        <a:buFont typeface="Arial"/>
                        <a:buChar char="●"/>
                      </a:pPr>
                      <a:r>
                        <a:rPr lang="en-GB"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rPr>
                        <a:t>Integration of machine learning or intelligent techniques to predict workload patterns and enhance efficiency.</a:t>
                      </a:r>
                      <a:endParaRPr sz="110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rtl="0">
                        <a:lnSpc>
                          <a:spcPct val="100000"/>
                        </a:lnSpc>
                        <a:spcBef>
                          <a:spcPts val="1200"/>
                        </a:spcBef>
                        <a:spcAft>
                          <a:spcPts val="0"/>
                        </a:spcAft>
                        <a:buClr>
                          <a:schemeClr val="dk1"/>
                        </a:buClr>
                        <a:buSzPts val="800"/>
                        <a:buFont typeface="Arial"/>
                        <a:buNone/>
                      </a:pPr>
                      <a:endParaRPr sz="1100" u="none" strike="noStrike" cap="none" dirty="0">
                        <a:solidFill>
                          <a:schemeClr val="dk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800"/>
                        <a:buFont typeface="Arial"/>
                        <a:buNone/>
                      </a:pP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1"/>
                  </a:ext>
                </a:extLst>
              </a:tr>
            </a:tbl>
          </a:graphicData>
        </a:graphic>
      </p:graphicFrame>
      <p:sp>
        <p:nvSpPr>
          <p:cNvPr id="248" name="Google Shape;248;p44"/>
          <p:cNvSpPr txBox="1"/>
          <p:nvPr/>
        </p:nvSpPr>
        <p:spPr>
          <a:xfrm>
            <a:off x="1497100" y="0"/>
            <a:ext cx="43041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latin typeface="Times New Roman"/>
                <a:ea typeface="Times New Roman"/>
                <a:cs typeface="Times New Roman"/>
                <a:sym typeface="Times New Roman"/>
              </a:rPr>
              <a:t>Literature Review</a:t>
            </a:r>
            <a:endParaRPr lang="en-GB" sz="2400" b="1" dirty="0">
              <a:solidFill>
                <a:schemeClr val="dk1"/>
              </a:solidFill>
              <a:latin typeface="Calibri"/>
              <a:ea typeface="Calibri"/>
              <a:cs typeface="Calibri"/>
              <a:sym typeface="Calibri"/>
            </a:endParaRPr>
          </a:p>
        </p:txBody>
      </p:sp>
      <p:sp>
        <p:nvSpPr>
          <p:cNvPr id="249" name="Google Shape;249;p44"/>
          <p:cNvSpPr txBox="1"/>
          <p:nvPr/>
        </p:nvSpPr>
        <p:spPr>
          <a:xfrm>
            <a:off x="1655367" y="4738532"/>
            <a:ext cx="61455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250" name="Google Shape;250;p44"/>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5BE0F909-8A2C-F315-3EF6-546379036DDA}"/>
            </a:ext>
          </a:extLst>
        </p:cNvPr>
        <p:cNvGrpSpPr/>
        <p:nvPr/>
      </p:nvGrpSpPr>
      <p:grpSpPr>
        <a:xfrm>
          <a:off x="0" y="0"/>
          <a:ext cx="0" cy="0"/>
          <a:chOff x="0" y="0"/>
          <a:chExt cx="0" cy="0"/>
        </a:xfrm>
      </p:grpSpPr>
      <p:graphicFrame>
        <p:nvGraphicFramePr>
          <p:cNvPr id="247" name="Google Shape;247;p44">
            <a:extLst>
              <a:ext uri="{FF2B5EF4-FFF2-40B4-BE49-F238E27FC236}">
                <a16:creationId xmlns:a16="http://schemas.microsoft.com/office/drawing/2014/main" id="{316E82F5-8F2F-F6BB-DC04-FA4281C59921}"/>
              </a:ext>
            </a:extLst>
          </p:cNvPr>
          <p:cNvGraphicFramePr/>
          <p:nvPr>
            <p:extLst>
              <p:ext uri="{D42A27DB-BD31-4B8C-83A1-F6EECF244321}">
                <p14:modId xmlns:p14="http://schemas.microsoft.com/office/powerpoint/2010/main" val="4238818594"/>
              </p:ext>
            </p:extLst>
          </p:nvPr>
        </p:nvGraphicFramePr>
        <p:xfrm>
          <a:off x="587298" y="553968"/>
          <a:ext cx="8244469" cy="3879775"/>
        </p:xfrm>
        <a:graphic>
          <a:graphicData uri="http://schemas.openxmlformats.org/drawingml/2006/table">
            <a:tbl>
              <a:tblPr>
                <a:noFill/>
                <a:tableStyleId>{A69CD3E9-7AF9-4501-8DF7-6F84E3247698}</a:tableStyleId>
              </a:tblPr>
              <a:tblGrid>
                <a:gridCol w="942307">
                  <a:extLst>
                    <a:ext uri="{9D8B030D-6E8A-4147-A177-3AD203B41FA5}">
                      <a16:colId xmlns:a16="http://schemas.microsoft.com/office/drawing/2014/main" val="20000"/>
                    </a:ext>
                  </a:extLst>
                </a:gridCol>
                <a:gridCol w="1093810">
                  <a:extLst>
                    <a:ext uri="{9D8B030D-6E8A-4147-A177-3AD203B41FA5}">
                      <a16:colId xmlns:a16="http://schemas.microsoft.com/office/drawing/2014/main" val="20001"/>
                    </a:ext>
                  </a:extLst>
                </a:gridCol>
                <a:gridCol w="1166002">
                  <a:extLst>
                    <a:ext uri="{9D8B030D-6E8A-4147-A177-3AD203B41FA5}">
                      <a16:colId xmlns:a16="http://schemas.microsoft.com/office/drawing/2014/main" val="20002"/>
                    </a:ext>
                  </a:extLst>
                </a:gridCol>
                <a:gridCol w="2010994">
                  <a:extLst>
                    <a:ext uri="{9D8B030D-6E8A-4147-A177-3AD203B41FA5}">
                      <a16:colId xmlns:a16="http://schemas.microsoft.com/office/drawing/2014/main" val="20003"/>
                    </a:ext>
                  </a:extLst>
                </a:gridCol>
                <a:gridCol w="3031356">
                  <a:extLst>
                    <a:ext uri="{9D8B030D-6E8A-4147-A177-3AD203B41FA5}">
                      <a16:colId xmlns:a16="http://schemas.microsoft.com/office/drawing/2014/main" val="20004"/>
                    </a:ext>
                  </a:extLst>
                </a:gridCol>
              </a:tblGrid>
              <a:tr h="828650">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Title of the patent </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051125">
                <a:tc>
                  <a:txBody>
                    <a:bodyPr/>
                    <a:lstStyle/>
                    <a:p>
                      <a:pPr marL="0" marR="292100" lvl="0" indent="0" algn="l" rtl="0">
                        <a:lnSpc>
                          <a:spcPct val="100000"/>
                        </a:lnSpc>
                        <a:spcBef>
                          <a:spcPts val="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1.</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Time Aware Application Task Scheduling System  </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pl-PL" sz="1100" dirty="0">
                          <a:solidFill>
                            <a:schemeClr val="bg1"/>
                          </a:solidFill>
                          <a:latin typeface="Times New Roman" panose="02020603050405020304" pitchFamily="18" charset="0"/>
                          <a:cs typeface="Times New Roman" panose="02020603050405020304" pitchFamily="18" charset="0"/>
                        </a:rPr>
                        <a:t>Jing Bi, Bo Li, Zhen Liu</a:t>
                      </a:r>
                      <a:endParaRPr sz="1100" u="none" strike="noStrike" cap="none" dirty="0">
                        <a:solidFill>
                          <a:schemeClr val="bg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chemeClr val="dk1"/>
                        </a:buClr>
                        <a:buSzPts val="800"/>
                        <a:buFont typeface="Arial"/>
                        <a:buNone/>
                      </a:pP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Publisher</a:t>
                      </a:r>
                      <a:r>
                        <a:rPr lang="en-GB" sz="1100" u="none" strike="noStrike" cap="none" dirty="0" err="1">
                          <a:solidFill>
                            <a:schemeClr val="lt1"/>
                          </a:solidFill>
                          <a:latin typeface="Times New Roman" panose="02020603050405020304" pitchFamily="18" charset="0"/>
                          <a:ea typeface="Calibri"/>
                          <a:cs typeface="Times New Roman" panose="02020603050405020304" pitchFamily="18" charset="0"/>
                          <a:sym typeface="Calibri"/>
                        </a:rPr>
                        <a:t>:USPTO</a:t>
                      </a:r>
                      <a:endParaRPr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2023 / U.S. Patent No. US 11,531,568 B2, </a:t>
                      </a: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457200" marR="0" lvl="0" indent="-298450" algn="l" rtl="0">
                        <a:lnSpc>
                          <a:spcPct val="115000"/>
                        </a:lnSpc>
                        <a:spcBef>
                          <a:spcPts val="0"/>
                        </a:spcBef>
                        <a:spcAft>
                          <a:spcPts val="0"/>
                        </a:spcAft>
                        <a:buClr>
                          <a:schemeClr val="lt1"/>
                        </a:buClr>
                        <a:buSzPts val="1100"/>
                        <a:buFont typeface="Arial"/>
                        <a:buChar char="●"/>
                      </a:pPr>
                      <a:r>
                        <a:rPr lang="en-US"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Proposes a time-aware task scheduling system for green data centers that optimizes task execution based on energy availability (renewable + grid) and queue rates, improving energy efficiency and task throughput.</a:t>
                      </a: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1"/>
                  </a:ext>
                </a:extLst>
              </a:tr>
            </a:tbl>
          </a:graphicData>
        </a:graphic>
      </p:graphicFrame>
      <p:sp>
        <p:nvSpPr>
          <p:cNvPr id="248" name="Google Shape;248;p44">
            <a:extLst>
              <a:ext uri="{FF2B5EF4-FFF2-40B4-BE49-F238E27FC236}">
                <a16:creationId xmlns:a16="http://schemas.microsoft.com/office/drawing/2014/main" id="{ED431443-258A-C79F-5FD9-6F4156939D00}"/>
              </a:ext>
            </a:extLst>
          </p:cNvPr>
          <p:cNvSpPr txBox="1"/>
          <p:nvPr/>
        </p:nvSpPr>
        <p:spPr>
          <a:xfrm>
            <a:off x="1497100" y="0"/>
            <a:ext cx="43041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solidFill>
                  <a:schemeClr val="dk1"/>
                </a:solidFill>
                <a:latin typeface="Times New Roman"/>
                <a:ea typeface="Calibri"/>
                <a:cs typeface="Times New Roman"/>
                <a:sym typeface="Times New Roman"/>
              </a:rPr>
              <a:t>Patent Search</a:t>
            </a:r>
            <a:endParaRPr lang="en-GB" sz="2400" b="1" dirty="0">
              <a:solidFill>
                <a:schemeClr val="dk1"/>
              </a:solidFill>
              <a:latin typeface="Calibri"/>
              <a:ea typeface="Calibri"/>
              <a:cs typeface="Calibri"/>
              <a:sym typeface="Calibri"/>
            </a:endParaRPr>
          </a:p>
        </p:txBody>
      </p:sp>
      <p:sp>
        <p:nvSpPr>
          <p:cNvPr id="249" name="Google Shape;249;p44">
            <a:extLst>
              <a:ext uri="{FF2B5EF4-FFF2-40B4-BE49-F238E27FC236}">
                <a16:creationId xmlns:a16="http://schemas.microsoft.com/office/drawing/2014/main" id="{6DB8325C-C3F6-3A2D-5D31-40AC4F5E862F}"/>
              </a:ext>
            </a:extLst>
          </p:cNvPr>
          <p:cNvSpPr txBox="1"/>
          <p:nvPr/>
        </p:nvSpPr>
        <p:spPr>
          <a:xfrm>
            <a:off x="1636782" y="4738532"/>
            <a:ext cx="61455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250" name="Google Shape;250;p44">
            <a:extLst>
              <a:ext uri="{FF2B5EF4-FFF2-40B4-BE49-F238E27FC236}">
                <a16:creationId xmlns:a16="http://schemas.microsoft.com/office/drawing/2014/main" id="{9669C53A-D9D4-9066-DD86-AE08715CBA6E}"/>
              </a:ext>
            </a:extLst>
          </p:cNvPr>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17</a:t>
            </a:fld>
            <a:endParaRPr/>
          </a:p>
        </p:txBody>
      </p:sp>
    </p:spTree>
    <p:extLst>
      <p:ext uri="{BB962C8B-B14F-4D97-AF65-F5344CB8AC3E}">
        <p14:creationId xmlns:p14="http://schemas.microsoft.com/office/powerpoint/2010/main" val="1116601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a:extLst>
            <a:ext uri="{FF2B5EF4-FFF2-40B4-BE49-F238E27FC236}">
              <a16:creationId xmlns:a16="http://schemas.microsoft.com/office/drawing/2014/main" id="{B890473B-DF67-9D76-6DD4-FE50F535D4DE}"/>
            </a:ext>
          </a:extLst>
        </p:cNvPr>
        <p:cNvGrpSpPr/>
        <p:nvPr/>
      </p:nvGrpSpPr>
      <p:grpSpPr>
        <a:xfrm>
          <a:off x="0" y="0"/>
          <a:ext cx="0" cy="0"/>
          <a:chOff x="0" y="0"/>
          <a:chExt cx="0" cy="0"/>
        </a:xfrm>
      </p:grpSpPr>
      <p:graphicFrame>
        <p:nvGraphicFramePr>
          <p:cNvPr id="247" name="Google Shape;247;p44">
            <a:extLst>
              <a:ext uri="{FF2B5EF4-FFF2-40B4-BE49-F238E27FC236}">
                <a16:creationId xmlns:a16="http://schemas.microsoft.com/office/drawing/2014/main" id="{D6BD15F9-E29E-40E7-D049-6FF88E313CF3}"/>
              </a:ext>
            </a:extLst>
          </p:cNvPr>
          <p:cNvGraphicFramePr/>
          <p:nvPr>
            <p:extLst>
              <p:ext uri="{D42A27DB-BD31-4B8C-83A1-F6EECF244321}">
                <p14:modId xmlns:p14="http://schemas.microsoft.com/office/powerpoint/2010/main" val="3221448683"/>
              </p:ext>
            </p:extLst>
          </p:nvPr>
        </p:nvGraphicFramePr>
        <p:xfrm>
          <a:off x="587298" y="553968"/>
          <a:ext cx="8244469" cy="3879775"/>
        </p:xfrm>
        <a:graphic>
          <a:graphicData uri="http://schemas.openxmlformats.org/drawingml/2006/table">
            <a:tbl>
              <a:tblPr>
                <a:noFill/>
                <a:tableStyleId>{A69CD3E9-7AF9-4501-8DF7-6F84E3247698}</a:tableStyleId>
              </a:tblPr>
              <a:tblGrid>
                <a:gridCol w="942307">
                  <a:extLst>
                    <a:ext uri="{9D8B030D-6E8A-4147-A177-3AD203B41FA5}">
                      <a16:colId xmlns:a16="http://schemas.microsoft.com/office/drawing/2014/main" val="20000"/>
                    </a:ext>
                  </a:extLst>
                </a:gridCol>
                <a:gridCol w="1093810">
                  <a:extLst>
                    <a:ext uri="{9D8B030D-6E8A-4147-A177-3AD203B41FA5}">
                      <a16:colId xmlns:a16="http://schemas.microsoft.com/office/drawing/2014/main" val="20001"/>
                    </a:ext>
                  </a:extLst>
                </a:gridCol>
                <a:gridCol w="1166002">
                  <a:extLst>
                    <a:ext uri="{9D8B030D-6E8A-4147-A177-3AD203B41FA5}">
                      <a16:colId xmlns:a16="http://schemas.microsoft.com/office/drawing/2014/main" val="20002"/>
                    </a:ext>
                  </a:extLst>
                </a:gridCol>
                <a:gridCol w="2010994">
                  <a:extLst>
                    <a:ext uri="{9D8B030D-6E8A-4147-A177-3AD203B41FA5}">
                      <a16:colId xmlns:a16="http://schemas.microsoft.com/office/drawing/2014/main" val="20003"/>
                    </a:ext>
                  </a:extLst>
                </a:gridCol>
                <a:gridCol w="3031356">
                  <a:extLst>
                    <a:ext uri="{9D8B030D-6E8A-4147-A177-3AD203B41FA5}">
                      <a16:colId xmlns:a16="http://schemas.microsoft.com/office/drawing/2014/main" val="20004"/>
                    </a:ext>
                  </a:extLst>
                </a:gridCol>
              </a:tblGrid>
              <a:tr h="828650">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Sr. No</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Title of the patent </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Author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Year of Publication/ Publisher</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Major observations/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p>
                      <a:pPr marL="63500" marR="127000" lvl="0" indent="0" algn="l" rtl="0">
                        <a:lnSpc>
                          <a:spcPct val="100000"/>
                        </a:lnSpc>
                        <a:spcBef>
                          <a:spcPts val="0"/>
                        </a:spcBef>
                        <a:spcAft>
                          <a:spcPts val="0"/>
                        </a:spcAft>
                        <a:buClr>
                          <a:srgbClr val="000000"/>
                        </a:buClr>
                        <a:buSzPts val="1100"/>
                        <a:buFont typeface="Arial"/>
                        <a:buNone/>
                      </a:pPr>
                      <a:r>
                        <a:rPr lang="en-GB"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rPr>
                        <a:t>findings</a:t>
                      </a:r>
                      <a:endParaRPr sz="1100" b="1" u="none" strike="noStrike" cap="none">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051125">
                <a:tc>
                  <a:txBody>
                    <a:bodyPr/>
                    <a:lstStyle/>
                    <a:p>
                      <a:pPr marL="0" marR="292100" lvl="0" indent="0" algn="l" rtl="0">
                        <a:lnSpc>
                          <a:spcPct val="100000"/>
                        </a:lnSpc>
                        <a:spcBef>
                          <a:spcPts val="0"/>
                        </a:spcBef>
                        <a:spcAft>
                          <a:spcPts val="0"/>
                        </a:spcAft>
                        <a:buClr>
                          <a:srgbClr val="000000"/>
                        </a:buClr>
                        <a:buSzPts val="1100"/>
                        <a:buFont typeface="Arial"/>
                        <a:buNone/>
                      </a:pPr>
                      <a:r>
                        <a:rPr lang="en-GB"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2.</a:t>
                      </a:r>
                      <a:endParaRPr sz="1100" b="1"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r>
                        <a:rPr lang="en-US"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Time-aware Method of Scheduling Application Tasks in a Green Data Centre</a:t>
                      </a: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pl-PL"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Jing Bi, Bo Li, Zhen Liu</a:t>
                      </a: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GB" sz="1100" b="1" u="none" strike="noStrike" cap="none"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rPr>
                        <a:t>Publisher</a:t>
                      </a:r>
                      <a:r>
                        <a:rPr lang="en-GB" sz="1100" u="none" strike="noStrike" cap="none"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rPr>
                        <a:t>:USPTO</a:t>
                      </a: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1100"/>
                        <a:buFont typeface="Arial"/>
                        <a:buNone/>
                      </a:pPr>
                      <a:r>
                        <a:rPr lang="en-US"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2021 / U.S. </a:t>
                      </a:r>
                    </a:p>
                    <a:p>
                      <a:pPr marL="0" marR="0" lvl="0" indent="0" algn="l" rtl="0">
                        <a:lnSpc>
                          <a:spcPct val="100000"/>
                        </a:lnSpc>
                        <a:spcBef>
                          <a:spcPts val="0"/>
                        </a:spcBef>
                        <a:spcAft>
                          <a:spcPts val="0"/>
                        </a:spcAft>
                        <a:buClr>
                          <a:srgbClr val="000000"/>
                        </a:buClr>
                        <a:buSzPts val="1100"/>
                        <a:buFont typeface="Arial"/>
                        <a:buNone/>
                      </a:pPr>
                      <a:r>
                        <a:rPr lang="en-US"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Patent No. US 10,871,993 B2</a:t>
                      </a: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tc>
                  <a:txBody>
                    <a:bodyPr/>
                    <a:lstStyle/>
                    <a:p>
                      <a:pPr marL="457200" marR="0" lvl="0" indent="-298450" algn="l" defTabSz="914400" rtl="0" eaLnBrk="1" fontAlgn="auto" latinLnBrk="0" hangingPunct="1">
                        <a:lnSpc>
                          <a:spcPct val="115000"/>
                        </a:lnSpc>
                        <a:spcBef>
                          <a:spcPts val="0"/>
                        </a:spcBef>
                        <a:spcAft>
                          <a:spcPts val="0"/>
                        </a:spcAft>
                        <a:buClr>
                          <a:schemeClr val="lt1"/>
                        </a:buClr>
                        <a:buSzPts val="1100"/>
                        <a:buFont typeface="Arial"/>
                        <a:buChar char="●"/>
                        <a:tabLst/>
                        <a:defRPr/>
                      </a:pPr>
                      <a:r>
                        <a:rPr lang="en-US" sz="1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Introduces a scheduling method using time-aware parameters to allocate tasks dynamically among servers, reducing power consumption and balancing workload in cloud-based data centers.</a:t>
                      </a:r>
                    </a:p>
                    <a:p>
                      <a:pPr marL="457200" marR="0" lvl="0" indent="-298450" algn="l" rtl="0">
                        <a:lnSpc>
                          <a:spcPct val="115000"/>
                        </a:lnSpc>
                        <a:spcBef>
                          <a:spcPts val="0"/>
                        </a:spcBef>
                        <a:spcAft>
                          <a:spcPts val="0"/>
                        </a:spcAft>
                        <a:buClr>
                          <a:schemeClr val="lt1"/>
                        </a:buClr>
                        <a:buSzPts val="1100"/>
                        <a:buFont typeface="Arial"/>
                        <a:buChar char="●"/>
                      </a:pPr>
                      <a:endParaRPr sz="1100" u="none" strike="noStrike" cap="none" dirty="0">
                        <a:solidFill>
                          <a:schemeClr val="bg1"/>
                        </a:solidFill>
                        <a:latin typeface="Times New Roman" panose="02020603050405020304" pitchFamily="18" charset="0"/>
                        <a:ea typeface="Calibri" panose="020F0502020204030204" pitchFamily="34" charset="0"/>
                        <a:cs typeface="Times New Roman" panose="02020603050405020304" pitchFamily="18" charset="0"/>
                        <a:sym typeface="Calibri"/>
                      </a:endParaRPr>
                    </a:p>
                  </a:txBody>
                  <a:tcPr marL="91425" marR="91425" marT="68575" marB="6857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4F81BD"/>
                    </a:solidFill>
                  </a:tcPr>
                </a:tc>
                <a:extLst>
                  <a:ext uri="{0D108BD9-81ED-4DB2-BD59-A6C34878D82A}">
                    <a16:rowId xmlns:a16="http://schemas.microsoft.com/office/drawing/2014/main" val="10001"/>
                  </a:ext>
                </a:extLst>
              </a:tr>
            </a:tbl>
          </a:graphicData>
        </a:graphic>
      </p:graphicFrame>
      <p:sp>
        <p:nvSpPr>
          <p:cNvPr id="248" name="Google Shape;248;p44">
            <a:extLst>
              <a:ext uri="{FF2B5EF4-FFF2-40B4-BE49-F238E27FC236}">
                <a16:creationId xmlns:a16="http://schemas.microsoft.com/office/drawing/2014/main" id="{80217112-7CD5-31E0-265A-62125B9A8E6A}"/>
              </a:ext>
            </a:extLst>
          </p:cNvPr>
          <p:cNvSpPr txBox="1"/>
          <p:nvPr/>
        </p:nvSpPr>
        <p:spPr>
          <a:xfrm>
            <a:off x="1497100" y="0"/>
            <a:ext cx="4304100" cy="553968"/>
          </a:xfrm>
          <a:prstGeom prst="rect">
            <a:avLst/>
          </a:prstGeom>
          <a:noFill/>
          <a:ln>
            <a:noFill/>
          </a:ln>
        </p:spPr>
        <p:txBody>
          <a:bodyPr spcFirstLastPara="1" wrap="square" lIns="91425" tIns="91425" rIns="91425" bIns="91425" anchor="t" anchorCtr="0">
            <a:spAutoFit/>
          </a:bodyPr>
          <a:lstStyle/>
          <a:p>
            <a:pPr marL="1739263" lvl="0">
              <a:buSzPts val="2400"/>
            </a:pPr>
            <a:r>
              <a:rPr lang="en-GB" sz="2400" b="1" dirty="0">
                <a:solidFill>
                  <a:schemeClr val="dk1"/>
                </a:solidFill>
                <a:latin typeface="Times New Roman"/>
                <a:ea typeface="Calibri"/>
                <a:cs typeface="Times New Roman"/>
                <a:sym typeface="Times New Roman"/>
              </a:rPr>
              <a:t>Patent Search</a:t>
            </a:r>
            <a:endParaRPr lang="en-GB" sz="2400" b="1" dirty="0">
              <a:solidFill>
                <a:schemeClr val="dk1"/>
              </a:solidFill>
              <a:latin typeface="Calibri"/>
              <a:ea typeface="Calibri"/>
              <a:cs typeface="Calibri"/>
              <a:sym typeface="Calibri"/>
            </a:endParaRPr>
          </a:p>
        </p:txBody>
      </p:sp>
      <p:sp>
        <p:nvSpPr>
          <p:cNvPr id="249" name="Google Shape;249;p44">
            <a:extLst>
              <a:ext uri="{FF2B5EF4-FFF2-40B4-BE49-F238E27FC236}">
                <a16:creationId xmlns:a16="http://schemas.microsoft.com/office/drawing/2014/main" id="{6B7850AD-6B55-679F-CAC5-4A0EEA0CE4C7}"/>
              </a:ext>
            </a:extLst>
          </p:cNvPr>
          <p:cNvSpPr txBox="1"/>
          <p:nvPr/>
        </p:nvSpPr>
        <p:spPr>
          <a:xfrm>
            <a:off x="1499250" y="4738532"/>
            <a:ext cx="61455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250" name="Google Shape;250;p44">
            <a:extLst>
              <a:ext uri="{FF2B5EF4-FFF2-40B4-BE49-F238E27FC236}">
                <a16:creationId xmlns:a16="http://schemas.microsoft.com/office/drawing/2014/main" id="{FCE52EF5-2338-D820-0A10-878EF87B7D1C}"/>
              </a:ext>
            </a:extLst>
          </p:cNvPr>
          <p:cNvSpPr txBox="1">
            <a:spLocks noGrp="1"/>
          </p:cNvSpPr>
          <p:nvPr>
            <p:ph type="sldNum" idx="12"/>
          </p:nvPr>
        </p:nvSpPr>
        <p:spPr>
          <a:xfrm>
            <a:off x="8408491" y="4850082"/>
            <a:ext cx="243300" cy="115425"/>
          </a:xfrm>
          <a:prstGeom prst="rect">
            <a:avLst/>
          </a:prstGeom>
          <a:noFill/>
          <a:ln>
            <a:noFill/>
          </a:ln>
        </p:spPr>
        <p:txBody>
          <a:bodyPr spcFirstLastPara="1" wrap="square" lIns="0" tIns="0" rIns="0" bIns="0" anchor="t" anchorCtr="0">
            <a:spAutoFit/>
          </a:bodyPr>
          <a:lstStyle/>
          <a:p>
            <a:pPr marL="38100" lvl="0" indent="0" algn="r" rtl="0">
              <a:lnSpc>
                <a:spcPct val="103333"/>
              </a:lnSpc>
              <a:spcBef>
                <a:spcPts val="0"/>
              </a:spcBef>
              <a:spcAft>
                <a:spcPts val="0"/>
              </a:spcAft>
              <a:buSzPts val="1000"/>
              <a:buNone/>
            </a:pPr>
            <a:fld id="{00000000-1234-1234-1234-123412341234}" type="slidenum">
              <a:rPr lang="en-GB"/>
              <a:t>18</a:t>
            </a:fld>
            <a:endParaRPr/>
          </a:p>
        </p:txBody>
      </p:sp>
    </p:spTree>
    <p:extLst>
      <p:ext uri="{BB962C8B-B14F-4D97-AF65-F5344CB8AC3E}">
        <p14:creationId xmlns:p14="http://schemas.microsoft.com/office/powerpoint/2010/main" val="1901579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45"/>
          <p:cNvSpPr txBox="1">
            <a:spLocks noGrp="1"/>
          </p:cNvSpPr>
          <p:nvPr>
            <p:ph type="ftr" idx="11"/>
          </p:nvPr>
        </p:nvSpPr>
        <p:spPr>
          <a:xfrm>
            <a:off x="2006769" y="4850454"/>
            <a:ext cx="5569283"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dirty="0">
              <a:solidFill>
                <a:schemeClr val="dk2"/>
              </a:solidFill>
              <a:highlight>
                <a:schemeClr val="lt1"/>
              </a:highlight>
              <a:latin typeface="Times New Roman"/>
              <a:ea typeface="Times New Roman"/>
              <a:cs typeface="Times New Roman"/>
              <a:sym typeface="Times New Roman"/>
            </a:endParaRPr>
          </a:p>
        </p:txBody>
      </p:sp>
      <p:sp>
        <p:nvSpPr>
          <p:cNvPr id="256" name="Google Shape;256;p45"/>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19</a:t>
            </a:fld>
            <a:endParaRPr/>
          </a:p>
        </p:txBody>
      </p:sp>
      <p:sp>
        <p:nvSpPr>
          <p:cNvPr id="258" name="Google Shape;258;p45"/>
          <p:cNvSpPr txBox="1">
            <a:spLocks noGrp="1"/>
          </p:cNvSpPr>
          <p:nvPr>
            <p:ph type="ctrTitle"/>
          </p:nvPr>
        </p:nvSpPr>
        <p:spPr>
          <a:xfrm>
            <a:off x="2406517" y="139158"/>
            <a:ext cx="4176600" cy="382200"/>
          </a:xfrm>
          <a:prstGeom prst="rect">
            <a:avLst/>
          </a:prstGeom>
          <a:noFill/>
          <a:ln>
            <a:noFill/>
          </a:ln>
        </p:spPr>
        <p:txBody>
          <a:bodyPr spcFirstLastPara="1" wrap="square" lIns="0" tIns="12700" rIns="0" bIns="0" anchor="t" anchorCtr="0">
            <a:spAutoFit/>
          </a:bodyPr>
          <a:lstStyle/>
          <a:p>
            <a:pPr marL="1239520" lvl="0" indent="0" algn="l" rtl="0">
              <a:lnSpc>
                <a:spcPct val="100000"/>
              </a:lnSpc>
              <a:spcBef>
                <a:spcPts val="0"/>
              </a:spcBef>
              <a:spcAft>
                <a:spcPts val="0"/>
              </a:spcAft>
              <a:buSzPts val="1400"/>
              <a:buNone/>
            </a:pPr>
            <a:r>
              <a:rPr lang="en-GB" sz="2400" dirty="0">
                <a:latin typeface="Times New Roman" panose="02020603050405020304" pitchFamily="18" charset="0"/>
                <a:ea typeface="Calibri" panose="020F0502020204030204" pitchFamily="34" charset="0"/>
                <a:cs typeface="Times New Roman" panose="02020603050405020304" pitchFamily="18" charset="0"/>
                <a:sym typeface="Calibri"/>
              </a:rPr>
              <a:t>Research Gap</a:t>
            </a:r>
            <a:endParaRPr sz="2400" dirty="0">
              <a:latin typeface="Times New Roman" panose="02020603050405020304" pitchFamily="18" charset="0"/>
              <a:ea typeface="Calibri" panose="020F0502020204030204" pitchFamily="34" charset="0"/>
              <a:cs typeface="Times New Roman" panose="02020603050405020304" pitchFamily="18" charset="0"/>
              <a:sym typeface="Calibri"/>
            </a:endParaRPr>
          </a:p>
        </p:txBody>
      </p:sp>
      <p:sp>
        <p:nvSpPr>
          <p:cNvPr id="3" name="Rectangle 2">
            <a:extLst>
              <a:ext uri="{FF2B5EF4-FFF2-40B4-BE49-F238E27FC236}">
                <a16:creationId xmlns:a16="http://schemas.microsoft.com/office/drawing/2014/main" id="{0F20BD48-7B43-A1E7-B8BF-CD66BD7EB568}"/>
              </a:ext>
            </a:extLst>
          </p:cNvPr>
          <p:cNvSpPr>
            <a:spLocks noChangeArrowheads="1"/>
          </p:cNvSpPr>
          <p:nvPr/>
        </p:nvSpPr>
        <p:spPr bwMode="auto">
          <a:xfrm>
            <a:off x="527114" y="932582"/>
            <a:ext cx="8528591"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research mostly relies on single algorithms like FA and ALO for load balancing and optimization.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Major issues include poor task distribution, causing uneven resource utilization and performance drops.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 and ALO often fail to maintain accuracy and stability when system demands fluctuate.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methods do not combine multiple optimization strengths or address multiple objectives together.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Incorporating an energy-aware load balancing mechanism can further improve efficiency, scalability, and system performance.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47"/>
          <p:cNvSpPr txBox="1">
            <a:spLocks noGrp="1"/>
          </p:cNvSpPr>
          <p:nvPr>
            <p:ph type="ftr" idx="11"/>
          </p:nvPr>
        </p:nvSpPr>
        <p:spPr>
          <a:xfrm>
            <a:off x="1557454" y="4850082"/>
            <a:ext cx="6029092"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dirty="0">
              <a:solidFill>
                <a:schemeClr val="dk2"/>
              </a:solidFill>
              <a:highlight>
                <a:schemeClr val="lt1"/>
              </a:highlight>
              <a:latin typeface="Times New Roman"/>
              <a:ea typeface="Times New Roman"/>
              <a:cs typeface="Times New Roman"/>
              <a:sym typeface="Times New Roman"/>
            </a:endParaRPr>
          </a:p>
        </p:txBody>
      </p:sp>
      <p:sp>
        <p:nvSpPr>
          <p:cNvPr id="270" name="Google Shape;270;p47"/>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20</a:t>
            </a:fld>
            <a:endParaRPr/>
          </a:p>
        </p:txBody>
      </p:sp>
      <p:sp>
        <p:nvSpPr>
          <p:cNvPr id="271" name="Google Shape;271;p47"/>
          <p:cNvSpPr txBox="1"/>
          <p:nvPr/>
        </p:nvSpPr>
        <p:spPr>
          <a:xfrm>
            <a:off x="225425" y="1181861"/>
            <a:ext cx="8628900" cy="33277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Calibri"/>
              <a:ea typeface="Calibri"/>
              <a:cs typeface="Calibri"/>
              <a:sym typeface="Calibri"/>
            </a:endParaRPr>
          </a:p>
        </p:txBody>
      </p:sp>
      <p:sp>
        <p:nvSpPr>
          <p:cNvPr id="272" name="Google Shape;272;p47"/>
          <p:cNvSpPr txBox="1">
            <a:spLocks noGrp="1"/>
          </p:cNvSpPr>
          <p:nvPr>
            <p:ph type="ctrTitle"/>
          </p:nvPr>
        </p:nvSpPr>
        <p:spPr>
          <a:xfrm>
            <a:off x="2483742" y="187071"/>
            <a:ext cx="4606606"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GB" sz="2400" dirty="0">
                <a:latin typeface="Times New Roman" panose="02020603050405020304" pitchFamily="18" charset="0"/>
                <a:cs typeface="Times New Roman" panose="02020603050405020304" pitchFamily="18" charset="0"/>
                <a:sym typeface="Calibri"/>
              </a:rPr>
              <a:t>Hardware/Software Requirement</a:t>
            </a:r>
            <a:endParaRPr sz="2400" dirty="0">
              <a:latin typeface="Times New Roman" panose="02020603050405020304" pitchFamily="18" charset="0"/>
              <a:cs typeface="Times New Roman" panose="02020603050405020304" pitchFamily="18" charset="0"/>
              <a:sym typeface="Calibri"/>
            </a:endParaRPr>
          </a:p>
        </p:txBody>
      </p:sp>
      <p:sp>
        <p:nvSpPr>
          <p:cNvPr id="273" name="Google Shape;273;p47"/>
          <p:cNvSpPr txBox="1"/>
          <p:nvPr/>
        </p:nvSpPr>
        <p:spPr>
          <a:xfrm>
            <a:off x="704577" y="477888"/>
            <a:ext cx="7889020" cy="3604400"/>
          </a:xfrm>
          <a:prstGeom prst="rect">
            <a:avLst/>
          </a:prstGeom>
          <a:noFill/>
          <a:ln>
            <a:noFill/>
          </a:ln>
        </p:spPr>
        <p:txBody>
          <a:bodyPr spcFirstLastPara="1" wrap="square" lIns="91425" tIns="91425" rIns="91425" bIns="91425" anchor="t" anchorCtr="0">
            <a:noAutofit/>
          </a:bodyPr>
          <a:lstStyle/>
          <a:p>
            <a:endParaRPr lang="en-IN" dirty="0">
              <a:latin typeface="Times New Roman" panose="02020603050405020304" pitchFamily="18" charset="0"/>
              <a:cs typeface="Times New Roman" panose="02020603050405020304" pitchFamily="18" charset="0"/>
            </a:endParaRPr>
          </a:p>
          <a:p>
            <a:pPr>
              <a:lnSpc>
                <a:spcPct val="200000"/>
              </a:lnSpc>
            </a:pPr>
            <a:r>
              <a:rPr lang="en-IN" sz="1800" b="1" dirty="0">
                <a:latin typeface="Times New Roman" panose="02020603050405020304" pitchFamily="18" charset="0"/>
                <a:cs typeface="Times New Roman" panose="02020603050405020304" pitchFamily="18" charset="0"/>
              </a:rPr>
              <a:t>Software Requirements</a:t>
            </a:r>
          </a:p>
          <a:p>
            <a:pPr marL="28575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Operating System: Windows 10/11</a:t>
            </a:r>
          </a:p>
          <a:p>
            <a:pPr marL="28575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Programming Language: Python 3.x</a:t>
            </a:r>
          </a:p>
          <a:p>
            <a:pPr marL="28575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Libraries / Frameworks : Flask , Matplotlib,</a:t>
            </a:r>
          </a:p>
          <a:p>
            <a:pPr marL="285750" lvl="1"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 Processing: NumPy, Pandas</a:t>
            </a:r>
          </a:p>
          <a:p>
            <a:pPr marL="285750" lvl="1"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Visualization: Matplotlib, Seaborn</a:t>
            </a:r>
          </a:p>
          <a:p>
            <a:pPr marL="28575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 / Tools: Google </a:t>
            </a:r>
            <a:r>
              <a:rPr lang="en-IN" sz="1600" dirty="0" err="1">
                <a:latin typeface="Times New Roman" panose="02020603050405020304" pitchFamily="18" charset="0"/>
                <a:cs typeface="Times New Roman" panose="02020603050405020304" pitchFamily="18" charset="0"/>
              </a:rPr>
              <a:t>Colab</a:t>
            </a:r>
            <a:r>
              <a:rPr lang="en-IN" sz="1600" dirty="0">
                <a:latin typeface="Times New Roman" panose="02020603050405020304" pitchFamily="18" charset="0"/>
                <a:cs typeface="Times New Roman" panose="02020603050405020304" pitchFamily="18" charset="0"/>
              </a:rPr>
              <a:t>, VS Code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77"/>
        <p:cNvGrpSpPr/>
        <p:nvPr/>
      </p:nvGrpSpPr>
      <p:grpSpPr>
        <a:xfrm>
          <a:off x="0" y="0"/>
          <a:ext cx="0" cy="0"/>
          <a:chOff x="0" y="0"/>
          <a:chExt cx="0" cy="0"/>
        </a:xfrm>
      </p:grpSpPr>
      <p:sp>
        <p:nvSpPr>
          <p:cNvPr id="278" name="Google Shape;278;p48"/>
          <p:cNvSpPr txBox="1">
            <a:spLocks noGrp="1"/>
          </p:cNvSpPr>
          <p:nvPr>
            <p:ph type="ftr" idx="11"/>
          </p:nvPr>
        </p:nvSpPr>
        <p:spPr>
          <a:xfrm>
            <a:off x="952925" y="4949048"/>
            <a:ext cx="7577168"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dirty="0">
              <a:solidFill>
                <a:schemeClr val="dk2"/>
              </a:solidFill>
              <a:highlight>
                <a:schemeClr val="lt1"/>
              </a:highlight>
              <a:latin typeface="Calibri"/>
              <a:ea typeface="Calibri"/>
              <a:cs typeface="Calibri"/>
              <a:sym typeface="Calibri"/>
            </a:endParaRPr>
          </a:p>
        </p:txBody>
      </p:sp>
      <p:sp>
        <p:nvSpPr>
          <p:cNvPr id="279" name="Google Shape;279;p48"/>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21</a:t>
            </a:fld>
            <a:endParaRPr/>
          </a:p>
        </p:txBody>
      </p:sp>
      <p:sp>
        <p:nvSpPr>
          <p:cNvPr id="281" name="Google Shape;281;p48"/>
          <p:cNvSpPr txBox="1">
            <a:spLocks noGrp="1"/>
          </p:cNvSpPr>
          <p:nvPr>
            <p:ph type="ctrTitle"/>
          </p:nvPr>
        </p:nvSpPr>
        <p:spPr>
          <a:xfrm>
            <a:off x="2483700" y="-246761"/>
            <a:ext cx="4176600" cy="616093"/>
          </a:xfrm>
          <a:prstGeom prst="rect">
            <a:avLst/>
          </a:prstGeom>
          <a:noFill/>
          <a:ln>
            <a:noFill/>
          </a:ln>
        </p:spPr>
        <p:txBody>
          <a:bodyPr spcFirstLastPara="1" wrap="square" lIns="0" tIns="244375" rIns="0" bIns="0" anchor="t" anchorCtr="0">
            <a:spAutoFit/>
          </a:bodyPr>
          <a:lstStyle/>
          <a:p>
            <a:pPr marL="472440" lvl="0" indent="0" algn="l" rtl="0">
              <a:lnSpc>
                <a:spcPct val="100000"/>
              </a:lnSpc>
              <a:spcBef>
                <a:spcPts val="0"/>
              </a:spcBef>
              <a:spcAft>
                <a:spcPts val="0"/>
              </a:spcAft>
              <a:buSzPts val="1400"/>
              <a:buNone/>
            </a:pPr>
            <a:r>
              <a:rPr lang="en-GB" sz="2400" dirty="0"/>
              <a:t> Methodology</a:t>
            </a:r>
            <a:endParaRPr sz="2400" dirty="0"/>
          </a:p>
        </p:txBody>
      </p:sp>
      <p:sp>
        <p:nvSpPr>
          <p:cNvPr id="5" name="TextBox 4">
            <a:extLst>
              <a:ext uri="{FF2B5EF4-FFF2-40B4-BE49-F238E27FC236}">
                <a16:creationId xmlns:a16="http://schemas.microsoft.com/office/drawing/2014/main" id="{05E24A03-64FF-D5C4-4962-AD38DA03141B}"/>
              </a:ext>
            </a:extLst>
          </p:cNvPr>
          <p:cNvSpPr txBox="1"/>
          <p:nvPr/>
        </p:nvSpPr>
        <p:spPr>
          <a:xfrm>
            <a:off x="2148469" y="4494866"/>
            <a:ext cx="5242328" cy="492443"/>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Figure 2: System Architecture of the Proposed Hybrid FAO Model</a:t>
            </a:r>
          </a:p>
          <a:p>
            <a:endParaRPr lang="en-US" dirty="0"/>
          </a:p>
        </p:txBody>
      </p:sp>
      <p:pic>
        <p:nvPicPr>
          <p:cNvPr id="4" name="Picture 3">
            <a:extLst>
              <a:ext uri="{FF2B5EF4-FFF2-40B4-BE49-F238E27FC236}">
                <a16:creationId xmlns:a16="http://schemas.microsoft.com/office/drawing/2014/main" id="{18603ACC-FFCC-4FB9-DCA9-89C446760E1A}"/>
              </a:ext>
            </a:extLst>
          </p:cNvPr>
          <p:cNvPicPr>
            <a:picLocks noChangeAspect="1"/>
          </p:cNvPicPr>
          <p:nvPr/>
        </p:nvPicPr>
        <p:blipFill>
          <a:blip r:embed="rId3"/>
          <a:stretch>
            <a:fillRect/>
          </a:stretch>
        </p:blipFill>
        <p:spPr>
          <a:xfrm>
            <a:off x="2259121" y="369332"/>
            <a:ext cx="4583121" cy="4125534"/>
          </a:xfrm>
          <a:prstGeom prst="rect">
            <a:avLst/>
          </a:prstGeom>
        </p:spPr>
      </p:pic>
      <p:pic>
        <p:nvPicPr>
          <p:cNvPr id="3" name="Picture 2">
            <a:extLst>
              <a:ext uri="{FF2B5EF4-FFF2-40B4-BE49-F238E27FC236}">
                <a16:creationId xmlns:a16="http://schemas.microsoft.com/office/drawing/2014/main" id="{9155CB5C-6B7B-29F3-D14A-911ECC18EC91}"/>
              </a:ext>
            </a:extLst>
          </p:cNvPr>
          <p:cNvPicPr>
            <a:picLocks noChangeAspect="1"/>
          </p:cNvPicPr>
          <p:nvPr/>
        </p:nvPicPr>
        <p:blipFill>
          <a:blip r:embed="rId4"/>
          <a:stretch>
            <a:fillRect/>
          </a:stretch>
        </p:blipFill>
        <p:spPr>
          <a:xfrm>
            <a:off x="1487773" y="389436"/>
            <a:ext cx="6168453" cy="435165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6E71F6D-18D7-9309-AFE3-1FDB5BFE6B20}"/>
              </a:ext>
            </a:extLst>
          </p:cNvPr>
          <p:cNvSpPr txBox="1"/>
          <p:nvPr/>
        </p:nvSpPr>
        <p:spPr>
          <a:xfrm>
            <a:off x="2709837" y="15388"/>
            <a:ext cx="4572000" cy="461665"/>
          </a:xfrm>
          <a:prstGeom prst="rect">
            <a:avLst/>
          </a:prstGeom>
          <a:noFill/>
        </p:spPr>
        <p:txBody>
          <a:bodyPr wrap="square">
            <a:spAutoFit/>
          </a:bodyPr>
          <a:lstStyle/>
          <a:p>
            <a:pPr algn="ctr"/>
            <a:r>
              <a:rPr lang="en-GB" sz="2400" b="1" dirty="0"/>
              <a:t> Module Of Methodology</a:t>
            </a:r>
            <a:endParaRPr lang="en-IN" sz="2400" b="1" dirty="0"/>
          </a:p>
        </p:txBody>
      </p:sp>
      <p:sp>
        <p:nvSpPr>
          <p:cNvPr id="9" name="TextBox 8">
            <a:extLst>
              <a:ext uri="{FF2B5EF4-FFF2-40B4-BE49-F238E27FC236}">
                <a16:creationId xmlns:a16="http://schemas.microsoft.com/office/drawing/2014/main" id="{1B875A27-668A-B3B0-A3D4-D0A410A577B6}"/>
              </a:ext>
            </a:extLst>
          </p:cNvPr>
          <p:cNvSpPr txBox="1"/>
          <p:nvPr/>
        </p:nvSpPr>
        <p:spPr>
          <a:xfrm>
            <a:off x="1639228" y="4897279"/>
            <a:ext cx="5966085"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sp>
        <p:nvSpPr>
          <p:cNvPr id="11" name="TextBox 10">
            <a:extLst>
              <a:ext uri="{FF2B5EF4-FFF2-40B4-BE49-F238E27FC236}">
                <a16:creationId xmlns:a16="http://schemas.microsoft.com/office/drawing/2014/main" id="{92DF5FA5-1420-4E1B-76B4-A81A10F322CF}"/>
              </a:ext>
            </a:extLst>
          </p:cNvPr>
          <p:cNvSpPr txBox="1"/>
          <p:nvPr/>
        </p:nvSpPr>
        <p:spPr>
          <a:xfrm>
            <a:off x="8252085" y="4743390"/>
            <a:ext cx="779489"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22</a:t>
            </a:fld>
            <a:endParaRPr lang="en-GB" sz="1000" dirty="0">
              <a:solidFill>
                <a:schemeClr val="bg1">
                  <a:lumMod val="50000"/>
                </a:schemeClr>
              </a:solidFill>
            </a:endParaRPr>
          </a:p>
        </p:txBody>
      </p:sp>
      <p:pic>
        <p:nvPicPr>
          <p:cNvPr id="14" name="Picture 13">
            <a:extLst>
              <a:ext uri="{FF2B5EF4-FFF2-40B4-BE49-F238E27FC236}">
                <a16:creationId xmlns:a16="http://schemas.microsoft.com/office/drawing/2014/main" id="{C3D95D4A-118C-DA29-25E6-726F02C4154C}"/>
              </a:ext>
            </a:extLst>
          </p:cNvPr>
          <p:cNvPicPr>
            <a:picLocks noChangeAspect="1"/>
          </p:cNvPicPr>
          <p:nvPr/>
        </p:nvPicPr>
        <p:blipFill>
          <a:blip r:embed="rId2"/>
          <a:srcRect l="7362" t="16623" r="7940" b="13279"/>
          <a:stretch>
            <a:fillRect/>
          </a:stretch>
        </p:blipFill>
        <p:spPr>
          <a:xfrm>
            <a:off x="2393886" y="461665"/>
            <a:ext cx="5099725" cy="4346818"/>
          </a:xfrm>
          <a:prstGeom prst="rect">
            <a:avLst/>
          </a:prstGeom>
        </p:spPr>
      </p:pic>
    </p:spTree>
    <p:extLst>
      <p:ext uri="{BB962C8B-B14F-4D97-AF65-F5344CB8AC3E}">
        <p14:creationId xmlns:p14="http://schemas.microsoft.com/office/powerpoint/2010/main" val="3982220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89;p49">
            <a:extLst>
              <a:ext uri="{FF2B5EF4-FFF2-40B4-BE49-F238E27FC236}">
                <a16:creationId xmlns:a16="http://schemas.microsoft.com/office/drawing/2014/main" id="{21334151-81A0-852E-62E0-7CEE29CBD323}"/>
              </a:ext>
            </a:extLst>
          </p:cNvPr>
          <p:cNvSpPr txBox="1">
            <a:spLocks noGrp="1"/>
          </p:cNvSpPr>
          <p:nvPr>
            <p:ph type="ctrTitle"/>
          </p:nvPr>
        </p:nvSpPr>
        <p:spPr>
          <a:xfrm>
            <a:off x="1516566" y="178421"/>
            <a:ext cx="6408234" cy="553968"/>
          </a:xfrm>
          <a:prstGeom prst="rect">
            <a:avLst/>
          </a:prstGeom>
          <a:noFill/>
          <a:ln>
            <a:noFill/>
          </a:ln>
        </p:spPr>
        <p:txBody>
          <a:bodyPr spcFirstLastPara="1" wrap="square" lIns="91425" tIns="91425" rIns="91425" bIns="91425" anchor="t" anchorCtr="0">
            <a:spAutoFit/>
          </a:bodyPr>
          <a:lstStyle/>
          <a:p>
            <a:pPr marL="472440" lvl="0" indent="0" algn="l" rtl="0">
              <a:spcBef>
                <a:spcPts val="0"/>
              </a:spcBef>
              <a:spcAft>
                <a:spcPts val="0"/>
              </a:spcAft>
              <a:buNone/>
            </a:pPr>
            <a:r>
              <a:rPr lang="en-GB" sz="2400" dirty="0">
                <a:solidFill>
                  <a:schemeClr val="dk1"/>
                </a:solidFill>
                <a:latin typeface="Times New Roman" panose="02020603050405020304" pitchFamily="18" charset="0"/>
                <a:cs typeface="Times New Roman" panose="02020603050405020304" pitchFamily="18" charset="0"/>
                <a:sym typeface="Calibri"/>
              </a:rPr>
              <a:t>Experimental results/output/Snapshots</a:t>
            </a:r>
          </a:p>
        </p:txBody>
      </p:sp>
      <p:sp>
        <p:nvSpPr>
          <p:cNvPr id="5" name="TextBox 4">
            <a:extLst>
              <a:ext uri="{FF2B5EF4-FFF2-40B4-BE49-F238E27FC236}">
                <a16:creationId xmlns:a16="http://schemas.microsoft.com/office/drawing/2014/main" id="{7A96A49A-FF9D-5722-B9FE-DBC5883FA92E}"/>
              </a:ext>
            </a:extLst>
          </p:cNvPr>
          <p:cNvSpPr txBox="1"/>
          <p:nvPr/>
        </p:nvSpPr>
        <p:spPr>
          <a:xfrm>
            <a:off x="8221855" y="4633607"/>
            <a:ext cx="1376222"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23</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F9885E85-19EA-AE85-7BEF-33393F18C61E}"/>
              </a:ext>
            </a:extLst>
          </p:cNvPr>
          <p:cNvSpPr txBox="1"/>
          <p:nvPr/>
        </p:nvSpPr>
        <p:spPr>
          <a:xfrm>
            <a:off x="1754923" y="4780197"/>
            <a:ext cx="593152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sp>
        <p:nvSpPr>
          <p:cNvPr id="9" name="TextBox 8">
            <a:extLst>
              <a:ext uri="{FF2B5EF4-FFF2-40B4-BE49-F238E27FC236}">
                <a16:creationId xmlns:a16="http://schemas.microsoft.com/office/drawing/2014/main" id="{084EEBFB-04F4-921D-6595-BFD4AD0C58FB}"/>
              </a:ext>
            </a:extLst>
          </p:cNvPr>
          <p:cNvSpPr txBox="1"/>
          <p:nvPr/>
        </p:nvSpPr>
        <p:spPr>
          <a:xfrm>
            <a:off x="5341495" y="1125200"/>
            <a:ext cx="3208146" cy="224676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The fitness function here combines multiple objectives such as response time, energy consumption, and resource utilization using the following formula:</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Fitness=  </a:t>
            </a:r>
            <a:r>
              <a:rPr lang="en-US" dirty="0">
                <a:latin typeface="Times New Roman" panose="02020603050405020304" pitchFamily="18" charset="0"/>
                <a:cs typeface="Times New Roman" panose="02020603050405020304" pitchFamily="18" charset="0"/>
              </a:rPr>
              <a:t>w1​ × </a:t>
            </a:r>
            <a:r>
              <a:rPr lang="en-US" dirty="0" err="1">
                <a:latin typeface="Times New Roman" panose="02020603050405020304" pitchFamily="18" charset="0"/>
                <a:cs typeface="Times New Roman" panose="02020603050405020304" pitchFamily="18" charset="0"/>
              </a:rPr>
              <a:t>ResponseTime</a:t>
            </a:r>
            <a:r>
              <a:rPr lang="en-US" dirty="0">
                <a:latin typeface="Times New Roman" panose="02020603050405020304" pitchFamily="18" charset="0"/>
                <a:cs typeface="Times New Roman" panose="02020603050405020304" pitchFamily="18" charset="0"/>
              </a:rPr>
              <a:t> + w2 ​× </a:t>
            </a:r>
            <a:r>
              <a:rPr lang="en-US" dirty="0" err="1">
                <a:latin typeface="Times New Roman" panose="02020603050405020304" pitchFamily="18" charset="0"/>
                <a:cs typeface="Times New Roman" panose="02020603050405020304" pitchFamily="18" charset="0"/>
              </a:rPr>
              <a:t>EnergyCost</a:t>
            </a:r>
            <a:r>
              <a:rPr lang="en-US" dirty="0">
                <a:latin typeface="Times New Roman" panose="02020603050405020304" pitchFamily="18" charset="0"/>
                <a:cs typeface="Times New Roman" panose="02020603050405020304" pitchFamily="18" charset="0"/>
              </a:rPr>
              <a:t> − w3 ​× </a:t>
            </a:r>
            <a:r>
              <a:rPr lang="en-US" dirty="0" err="1">
                <a:latin typeface="Times New Roman" panose="02020603050405020304" pitchFamily="18" charset="0"/>
                <a:cs typeface="Times New Roman" panose="02020603050405020304" pitchFamily="18" charset="0"/>
              </a:rPr>
              <a:t>ResourceUtilization</a:t>
            </a:r>
            <a:r>
              <a:rPr lang="en-US" dirty="0">
                <a:latin typeface="Times New Roman" panose="02020603050405020304" pitchFamily="18" charset="0"/>
                <a:cs typeface="Times New Roman" panose="02020603050405020304" pitchFamily="18" charset="0"/>
              </a:rPr>
              <a:t> </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Lower fitness indicates a better solution.</a:t>
            </a:r>
          </a:p>
        </p:txBody>
      </p:sp>
      <p:pic>
        <p:nvPicPr>
          <p:cNvPr id="3" name="Picture 2" descr="A graph with lines and numbers&#10;&#10;AI-generated content may be incorrect.">
            <a:extLst>
              <a:ext uri="{FF2B5EF4-FFF2-40B4-BE49-F238E27FC236}">
                <a16:creationId xmlns:a16="http://schemas.microsoft.com/office/drawing/2014/main" id="{9E1B40C6-2BA0-1660-FC55-362F4AB1544A}"/>
              </a:ext>
            </a:extLst>
          </p:cNvPr>
          <p:cNvPicPr>
            <a:picLocks noChangeAspect="1"/>
          </p:cNvPicPr>
          <p:nvPr/>
        </p:nvPicPr>
        <p:blipFill>
          <a:blip r:embed="rId3"/>
          <a:stretch>
            <a:fillRect/>
          </a:stretch>
        </p:blipFill>
        <p:spPr>
          <a:xfrm>
            <a:off x="933160" y="575391"/>
            <a:ext cx="4153480" cy="4058216"/>
          </a:xfrm>
          <a:prstGeom prst="rect">
            <a:avLst/>
          </a:prstGeom>
        </p:spPr>
      </p:pic>
    </p:spTree>
    <p:extLst>
      <p:ext uri="{BB962C8B-B14F-4D97-AF65-F5344CB8AC3E}">
        <p14:creationId xmlns:p14="http://schemas.microsoft.com/office/powerpoint/2010/main" val="51926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4F221A-02DD-979A-1F61-3DF48936302A}"/>
              </a:ext>
            </a:extLst>
          </p:cNvPr>
          <p:cNvSpPr txBox="1"/>
          <p:nvPr/>
        </p:nvSpPr>
        <p:spPr>
          <a:xfrm>
            <a:off x="4572000" y="1299569"/>
            <a:ext cx="4572000" cy="2031325"/>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formula implemented in the code is:</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Here, ‘Total Resources Used’ is obtained by summing the capacity of all VMs that were assigned at least one task.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‘Total Available Resources’ is the total capacity of all VMs in the </a:t>
            </a:r>
            <a:r>
              <a:rPr lang="en-IN" dirty="0" err="1">
                <a:latin typeface="Times New Roman" panose="02020603050405020304" pitchFamily="18" charset="0"/>
                <a:cs typeface="Times New Roman" panose="02020603050405020304" pitchFamily="18" charset="0"/>
              </a:rPr>
              <a:t>datacenter</a:t>
            </a:r>
            <a:r>
              <a:rPr lang="en-IN"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C08FFBA9-ECD1-4D24-6654-BFB60C7DA0B2}"/>
              </a:ext>
            </a:extLst>
          </p:cNvPr>
          <p:cNvSpPr txBox="1"/>
          <p:nvPr/>
        </p:nvSpPr>
        <p:spPr>
          <a:xfrm>
            <a:off x="1901252" y="4868701"/>
            <a:ext cx="6153087"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sp>
        <p:nvSpPr>
          <p:cNvPr id="9" name="TextBox 8">
            <a:extLst>
              <a:ext uri="{FF2B5EF4-FFF2-40B4-BE49-F238E27FC236}">
                <a16:creationId xmlns:a16="http://schemas.microsoft.com/office/drawing/2014/main" id="{182A35A3-415C-FA49-9A31-43354F935AEA}"/>
              </a:ext>
            </a:extLst>
          </p:cNvPr>
          <p:cNvSpPr txBox="1"/>
          <p:nvPr/>
        </p:nvSpPr>
        <p:spPr>
          <a:xfrm>
            <a:off x="8260080" y="4758779"/>
            <a:ext cx="4572000" cy="246221"/>
          </a:xfrm>
          <a:prstGeom prst="rect">
            <a:avLst/>
          </a:prstGeom>
          <a:noFill/>
        </p:spPr>
        <p:txBody>
          <a:bodyPr wrap="square">
            <a:spAutoFit/>
          </a:bodyPr>
          <a:lstStyle/>
          <a:p>
            <a:fld id="{00000000-1234-1234-1234-123412341234}" type="slidenum">
              <a:rPr lang="en-GB" sz="1000" smtClean="0">
                <a:solidFill>
                  <a:schemeClr val="bg1">
                    <a:lumMod val="50000"/>
                  </a:schemeClr>
                </a:solidFill>
              </a:rPr>
              <a:pPr/>
              <a:t>24</a:t>
            </a:fld>
            <a:endParaRPr lang="en-IN" sz="1000" dirty="0"/>
          </a:p>
        </p:txBody>
      </p:sp>
      <p:sp>
        <p:nvSpPr>
          <p:cNvPr id="11" name="TextBox 10">
            <a:extLst>
              <a:ext uri="{FF2B5EF4-FFF2-40B4-BE49-F238E27FC236}">
                <a16:creationId xmlns:a16="http://schemas.microsoft.com/office/drawing/2014/main" id="{0A77C399-A713-BF52-4B4F-2617C62A6328}"/>
              </a:ext>
            </a:extLst>
          </p:cNvPr>
          <p:cNvSpPr txBox="1"/>
          <p:nvPr/>
        </p:nvSpPr>
        <p:spPr>
          <a:xfrm>
            <a:off x="2247900" y="138500"/>
            <a:ext cx="6416040" cy="461665"/>
          </a:xfrm>
          <a:prstGeom prst="rect">
            <a:avLst/>
          </a:prstGeom>
          <a:noFill/>
        </p:spPr>
        <p:txBody>
          <a:bodyPr wrap="square">
            <a:spAutoFit/>
          </a:bodyPr>
          <a:lstStyle/>
          <a:p>
            <a:r>
              <a:rPr lang="en-GB" sz="2400" b="1" dirty="0">
                <a:solidFill>
                  <a:schemeClr val="dk1"/>
                </a:solidFill>
                <a:latin typeface="Times New Roman" panose="02020603050405020304" pitchFamily="18" charset="0"/>
                <a:ea typeface="Calibri"/>
                <a:cs typeface="Times New Roman" panose="02020603050405020304" pitchFamily="18" charset="0"/>
                <a:sym typeface="Calibri"/>
              </a:rPr>
              <a:t>Experimental results/output/Snapshots</a:t>
            </a:r>
            <a:endParaRPr lang="en-IN" sz="2400" b="1" dirty="0">
              <a:latin typeface="Times New Roman" panose="02020603050405020304" pitchFamily="18" charset="0"/>
              <a:cs typeface="Times New Roman" panose="02020603050405020304" pitchFamily="18" charset="0"/>
            </a:endParaRPr>
          </a:p>
        </p:txBody>
      </p:sp>
      <p:pic>
        <p:nvPicPr>
          <p:cNvPr id="13" name="Picture 12" descr="A graph of a graph showing different colored bars&#10;&#10;AI-generated content may be incorrect.">
            <a:extLst>
              <a:ext uri="{FF2B5EF4-FFF2-40B4-BE49-F238E27FC236}">
                <a16:creationId xmlns:a16="http://schemas.microsoft.com/office/drawing/2014/main" id="{F2E4B1FF-B45C-1EBB-5102-3A08E23560FD}"/>
              </a:ext>
            </a:extLst>
          </p:cNvPr>
          <p:cNvPicPr>
            <a:picLocks noChangeAspect="1"/>
          </p:cNvPicPr>
          <p:nvPr/>
        </p:nvPicPr>
        <p:blipFill>
          <a:blip r:embed="rId3"/>
          <a:stretch>
            <a:fillRect/>
          </a:stretch>
        </p:blipFill>
        <p:spPr>
          <a:xfrm>
            <a:off x="342347" y="600165"/>
            <a:ext cx="3962953" cy="4105848"/>
          </a:xfrm>
          <a:prstGeom prst="rect">
            <a:avLst/>
          </a:prstGeom>
        </p:spPr>
      </p:pic>
      <p:pic>
        <p:nvPicPr>
          <p:cNvPr id="15" name="Picture 14">
            <a:extLst>
              <a:ext uri="{FF2B5EF4-FFF2-40B4-BE49-F238E27FC236}">
                <a16:creationId xmlns:a16="http://schemas.microsoft.com/office/drawing/2014/main" id="{ABB89CE5-232B-3EB5-E697-DC1B3BBAC756}"/>
              </a:ext>
            </a:extLst>
          </p:cNvPr>
          <p:cNvPicPr>
            <a:picLocks noChangeAspect="1"/>
          </p:cNvPicPr>
          <p:nvPr/>
        </p:nvPicPr>
        <p:blipFill>
          <a:blip r:embed="rId4"/>
          <a:stretch>
            <a:fillRect/>
          </a:stretch>
        </p:blipFill>
        <p:spPr>
          <a:xfrm>
            <a:off x="4305300" y="1777058"/>
            <a:ext cx="4483324" cy="691821"/>
          </a:xfrm>
          <a:prstGeom prst="rect">
            <a:avLst/>
          </a:prstGeom>
        </p:spPr>
      </p:pic>
    </p:spTree>
    <p:extLst>
      <p:ext uri="{BB962C8B-B14F-4D97-AF65-F5344CB8AC3E}">
        <p14:creationId xmlns:p14="http://schemas.microsoft.com/office/powerpoint/2010/main" val="75142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E3E0A-D882-B7C1-AFCA-B1170E9F33A9}"/>
            </a:ext>
          </a:extLst>
        </p:cNvPr>
        <p:cNvGrpSpPr/>
        <p:nvPr/>
      </p:nvGrpSpPr>
      <p:grpSpPr>
        <a:xfrm>
          <a:off x="0" y="0"/>
          <a:ext cx="0" cy="0"/>
          <a:chOff x="0" y="0"/>
          <a:chExt cx="0" cy="0"/>
        </a:xfrm>
      </p:grpSpPr>
      <p:sp>
        <p:nvSpPr>
          <p:cNvPr id="4" name="Google Shape;289;p49">
            <a:extLst>
              <a:ext uri="{FF2B5EF4-FFF2-40B4-BE49-F238E27FC236}">
                <a16:creationId xmlns:a16="http://schemas.microsoft.com/office/drawing/2014/main" id="{319FF996-92C2-62DF-5120-6CA79B172D44}"/>
              </a:ext>
            </a:extLst>
          </p:cNvPr>
          <p:cNvSpPr txBox="1">
            <a:spLocks noGrp="1"/>
          </p:cNvSpPr>
          <p:nvPr>
            <p:ph type="ctrTitle"/>
          </p:nvPr>
        </p:nvSpPr>
        <p:spPr>
          <a:xfrm>
            <a:off x="1516566" y="178421"/>
            <a:ext cx="6408234" cy="553968"/>
          </a:xfrm>
          <a:prstGeom prst="rect">
            <a:avLst/>
          </a:prstGeom>
          <a:noFill/>
          <a:ln>
            <a:noFill/>
          </a:ln>
        </p:spPr>
        <p:txBody>
          <a:bodyPr spcFirstLastPara="1" wrap="square" lIns="91425" tIns="91425" rIns="91425" bIns="91425" anchor="t" anchorCtr="0">
            <a:spAutoFit/>
          </a:bodyPr>
          <a:lstStyle/>
          <a:p>
            <a:pPr marL="472440" lvl="0" indent="0" algn="l" rtl="0">
              <a:spcBef>
                <a:spcPts val="0"/>
              </a:spcBef>
              <a:spcAft>
                <a:spcPts val="0"/>
              </a:spcAft>
              <a:buNone/>
            </a:pPr>
            <a:r>
              <a:rPr lang="en-GB" sz="2400" dirty="0">
                <a:solidFill>
                  <a:schemeClr val="dk1"/>
                </a:solidFill>
                <a:latin typeface="Times New Roman" panose="02020603050405020304" pitchFamily="18" charset="0"/>
                <a:cs typeface="Times New Roman" panose="02020603050405020304" pitchFamily="18" charset="0"/>
                <a:sym typeface="Calibri"/>
              </a:rPr>
              <a:t>Experimental results/output/Snapshots</a:t>
            </a:r>
          </a:p>
        </p:txBody>
      </p:sp>
      <p:sp>
        <p:nvSpPr>
          <p:cNvPr id="5" name="TextBox 4">
            <a:extLst>
              <a:ext uri="{FF2B5EF4-FFF2-40B4-BE49-F238E27FC236}">
                <a16:creationId xmlns:a16="http://schemas.microsoft.com/office/drawing/2014/main" id="{2592BCFB-0F89-AE96-1F63-1F0C14AD1447}"/>
              </a:ext>
            </a:extLst>
          </p:cNvPr>
          <p:cNvSpPr txBox="1"/>
          <p:nvPr/>
        </p:nvSpPr>
        <p:spPr>
          <a:xfrm>
            <a:off x="8469442" y="4680661"/>
            <a:ext cx="593111"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25</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440150EC-FFB7-36F5-1324-1768F119D0B4}"/>
              </a:ext>
            </a:extLst>
          </p:cNvPr>
          <p:cNvSpPr txBox="1"/>
          <p:nvPr/>
        </p:nvSpPr>
        <p:spPr>
          <a:xfrm>
            <a:off x="1855748" y="4814111"/>
            <a:ext cx="624078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sp>
        <p:nvSpPr>
          <p:cNvPr id="11" name="TextBox 10">
            <a:extLst>
              <a:ext uri="{FF2B5EF4-FFF2-40B4-BE49-F238E27FC236}">
                <a16:creationId xmlns:a16="http://schemas.microsoft.com/office/drawing/2014/main" id="{A47439B7-E296-80A5-51F8-69A177DF28F0}"/>
              </a:ext>
            </a:extLst>
          </p:cNvPr>
          <p:cNvSpPr txBox="1"/>
          <p:nvPr/>
        </p:nvSpPr>
        <p:spPr>
          <a:xfrm>
            <a:off x="3992880" y="1578363"/>
            <a:ext cx="4572000" cy="224676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The formula used is:</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Lower values mean faster task scheduling and improved system responsiveness.</a:t>
            </a:r>
          </a:p>
        </p:txBody>
      </p:sp>
      <p:pic>
        <p:nvPicPr>
          <p:cNvPr id="15" name="Picture 14">
            <a:extLst>
              <a:ext uri="{FF2B5EF4-FFF2-40B4-BE49-F238E27FC236}">
                <a16:creationId xmlns:a16="http://schemas.microsoft.com/office/drawing/2014/main" id="{588E42AB-B99A-190B-9319-B5EA5DF0875F}"/>
              </a:ext>
            </a:extLst>
          </p:cNvPr>
          <p:cNvPicPr>
            <a:picLocks noChangeAspect="1"/>
          </p:cNvPicPr>
          <p:nvPr/>
        </p:nvPicPr>
        <p:blipFill>
          <a:blip r:embed="rId3"/>
          <a:stretch>
            <a:fillRect/>
          </a:stretch>
        </p:blipFill>
        <p:spPr>
          <a:xfrm>
            <a:off x="3945674" y="2171205"/>
            <a:ext cx="4820323" cy="638264"/>
          </a:xfrm>
          <a:prstGeom prst="rect">
            <a:avLst/>
          </a:prstGeom>
        </p:spPr>
      </p:pic>
      <p:pic>
        <p:nvPicPr>
          <p:cNvPr id="3" name="Picture 2" descr="A graph of a number of numbers&#10;&#10;AI-generated content may be incorrect.">
            <a:extLst>
              <a:ext uri="{FF2B5EF4-FFF2-40B4-BE49-F238E27FC236}">
                <a16:creationId xmlns:a16="http://schemas.microsoft.com/office/drawing/2014/main" id="{035EEABD-1916-C636-A159-52EFBDEA48B7}"/>
              </a:ext>
            </a:extLst>
          </p:cNvPr>
          <p:cNvPicPr>
            <a:picLocks noChangeAspect="1"/>
          </p:cNvPicPr>
          <p:nvPr/>
        </p:nvPicPr>
        <p:blipFill>
          <a:blip r:embed="rId4"/>
          <a:stretch>
            <a:fillRect/>
          </a:stretch>
        </p:blipFill>
        <p:spPr>
          <a:xfrm>
            <a:off x="304518" y="643384"/>
            <a:ext cx="3784437" cy="3748734"/>
          </a:xfrm>
          <a:prstGeom prst="rect">
            <a:avLst/>
          </a:prstGeom>
        </p:spPr>
      </p:pic>
    </p:spTree>
    <p:extLst>
      <p:ext uri="{BB962C8B-B14F-4D97-AF65-F5344CB8AC3E}">
        <p14:creationId xmlns:p14="http://schemas.microsoft.com/office/powerpoint/2010/main" val="663293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F555F-A718-450F-4B03-E34CA9BDDE8B}"/>
            </a:ext>
          </a:extLst>
        </p:cNvPr>
        <p:cNvGrpSpPr/>
        <p:nvPr/>
      </p:nvGrpSpPr>
      <p:grpSpPr>
        <a:xfrm>
          <a:off x="0" y="0"/>
          <a:ext cx="0" cy="0"/>
          <a:chOff x="0" y="0"/>
          <a:chExt cx="0" cy="0"/>
        </a:xfrm>
      </p:grpSpPr>
      <p:sp>
        <p:nvSpPr>
          <p:cNvPr id="4" name="Google Shape;289;p49">
            <a:extLst>
              <a:ext uri="{FF2B5EF4-FFF2-40B4-BE49-F238E27FC236}">
                <a16:creationId xmlns:a16="http://schemas.microsoft.com/office/drawing/2014/main" id="{EED7D7C4-1997-E3C3-7B5C-DB159ECC5185}"/>
              </a:ext>
            </a:extLst>
          </p:cNvPr>
          <p:cNvSpPr txBox="1">
            <a:spLocks noGrp="1"/>
          </p:cNvSpPr>
          <p:nvPr>
            <p:ph type="ctrTitle"/>
          </p:nvPr>
        </p:nvSpPr>
        <p:spPr>
          <a:xfrm>
            <a:off x="1516566" y="178421"/>
            <a:ext cx="6408234" cy="553968"/>
          </a:xfrm>
          <a:prstGeom prst="rect">
            <a:avLst/>
          </a:prstGeom>
          <a:noFill/>
          <a:ln>
            <a:noFill/>
          </a:ln>
        </p:spPr>
        <p:txBody>
          <a:bodyPr spcFirstLastPara="1" wrap="square" lIns="91425" tIns="91425" rIns="91425" bIns="91425" anchor="t" anchorCtr="0">
            <a:spAutoFit/>
          </a:bodyPr>
          <a:lstStyle/>
          <a:p>
            <a:pPr marL="472440" lvl="0" indent="0" algn="l" rtl="0">
              <a:spcBef>
                <a:spcPts val="0"/>
              </a:spcBef>
              <a:spcAft>
                <a:spcPts val="0"/>
              </a:spcAft>
              <a:buNone/>
            </a:pPr>
            <a:r>
              <a:rPr lang="en-GB" sz="2400" dirty="0">
                <a:solidFill>
                  <a:schemeClr val="dk1"/>
                </a:solidFill>
                <a:latin typeface="Times New Roman" panose="02020603050405020304" pitchFamily="18" charset="0"/>
                <a:cs typeface="Times New Roman" panose="02020603050405020304" pitchFamily="18" charset="0"/>
                <a:sym typeface="Calibri"/>
              </a:rPr>
              <a:t>Experimental results/output/Snapshots</a:t>
            </a:r>
          </a:p>
        </p:txBody>
      </p:sp>
      <p:sp>
        <p:nvSpPr>
          <p:cNvPr id="5" name="TextBox 4">
            <a:extLst>
              <a:ext uri="{FF2B5EF4-FFF2-40B4-BE49-F238E27FC236}">
                <a16:creationId xmlns:a16="http://schemas.microsoft.com/office/drawing/2014/main" id="{A49379DB-DA26-6C81-EE03-088ED5B7E3E3}"/>
              </a:ext>
            </a:extLst>
          </p:cNvPr>
          <p:cNvSpPr txBox="1"/>
          <p:nvPr/>
        </p:nvSpPr>
        <p:spPr>
          <a:xfrm>
            <a:off x="8229600" y="4549599"/>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26</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2B714921-AABE-1B95-8361-73E704BA9B6A}"/>
              </a:ext>
            </a:extLst>
          </p:cNvPr>
          <p:cNvSpPr txBox="1"/>
          <p:nvPr/>
        </p:nvSpPr>
        <p:spPr>
          <a:xfrm>
            <a:off x="1958340" y="4789986"/>
            <a:ext cx="640080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75F89D-EAC1-19A7-A059-101F2C79F0A6}"/>
                  </a:ext>
                </a:extLst>
              </p:cNvPr>
              <p:cNvSpPr txBox="1"/>
              <p:nvPr/>
            </p:nvSpPr>
            <p:spPr>
              <a:xfrm>
                <a:off x="4130040" y="1723298"/>
                <a:ext cx="5344160" cy="157915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The formula used here is: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𝑇</m:t>
                      </m:r>
                      <m:r>
                        <a:rPr lang="en-IN" i="1">
                          <a:latin typeface="Cambria Math" panose="02040503050406030204" pitchFamily="18" charset="0"/>
                        </a:rPr>
                        <m:t>h</m:t>
                      </m:r>
                      <m:r>
                        <a:rPr lang="en-IN" i="1">
                          <a:latin typeface="Cambria Math" panose="02040503050406030204" pitchFamily="18" charset="0"/>
                        </a:rPr>
                        <m:t>𝑟𝑜𝑢𝑔</m:t>
                      </m:r>
                      <m:r>
                        <a:rPr lang="en-IN" i="1">
                          <a:latin typeface="Cambria Math" panose="02040503050406030204" pitchFamily="18" charset="0"/>
                        </a:rPr>
                        <m:t>h</m:t>
                      </m:r>
                      <m:r>
                        <a:rPr lang="en-IN" i="1">
                          <a:latin typeface="Cambria Math" panose="02040503050406030204" pitchFamily="18" charset="0"/>
                        </a:rPr>
                        <m:t>𝑝𝑢𝑡</m:t>
                      </m:r>
                      <m:r>
                        <a:rPr lang="en-IN"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𝑁𝑢𝑚𝑏𝑒𝑟</m:t>
                          </m:r>
                          <m:r>
                            <m:rPr>
                              <m:nor/>
                            </m:rPr>
                            <a:rPr lang="ar-AE" b="0" i="1">
                              <a:latin typeface="Times New Roman" panose="02020603050405020304" pitchFamily="18" charset="0"/>
                              <a:cs typeface="Times New Roman" panose="02020603050405020304" pitchFamily="18" charset="0"/>
                            </a:rPr>
                            <m:t> </m:t>
                          </m:r>
                          <m:r>
                            <a:rPr lang="ar-AE" b="0" i="1">
                              <a:latin typeface="Cambria Math" panose="02040503050406030204" pitchFamily="18" charset="0"/>
                            </a:rPr>
                            <m:t>𝑜𝑓</m:t>
                          </m:r>
                          <m:r>
                            <m:rPr>
                              <m:nor/>
                            </m:rPr>
                            <a:rPr lang="ar-AE" b="0" i="1">
                              <a:latin typeface="Times New Roman" panose="02020603050405020304" pitchFamily="18" charset="0"/>
                              <a:cs typeface="Times New Roman" panose="02020603050405020304" pitchFamily="18" charset="0"/>
                            </a:rPr>
                            <m:t> </m:t>
                          </m:r>
                          <m:r>
                            <a:rPr lang="ar-AE" b="0" i="1">
                              <a:latin typeface="Cambria Math" panose="02040503050406030204" pitchFamily="18" charset="0"/>
                            </a:rPr>
                            <m:t>𝐶𝑜𝑚𝑝𝑙𝑒𝑡𝑒𝑑</m:t>
                          </m:r>
                          <m:r>
                            <m:rPr>
                              <m:nor/>
                            </m:rPr>
                            <a:rPr lang="ar-AE" b="0" i="1">
                              <a:latin typeface="Times New Roman" panose="02020603050405020304" pitchFamily="18" charset="0"/>
                              <a:cs typeface="Times New Roman" panose="02020603050405020304" pitchFamily="18" charset="0"/>
                            </a:rPr>
                            <m:t> </m:t>
                          </m:r>
                          <m:r>
                            <a:rPr lang="ar-AE" b="0" i="1">
                              <a:latin typeface="Cambria Math" panose="02040503050406030204" pitchFamily="18" charset="0"/>
                            </a:rPr>
                            <m:t>𝑇𝑎𝑠𝑘𝑠</m:t>
                          </m:r>
                        </m:num>
                        <m:den>
                          <m:r>
                            <a:rPr lang="ar-AE" b="0" i="1">
                              <a:latin typeface="Cambria Math" panose="02040503050406030204" pitchFamily="18" charset="0"/>
                            </a:rPr>
                            <m:t>𝑇𝑜𝑡𝑎𝑙</m:t>
                          </m:r>
                          <m:r>
                            <m:rPr>
                              <m:nor/>
                            </m:rPr>
                            <a:rPr lang="ar-AE" b="0" i="1">
                              <a:latin typeface="Times New Roman" panose="02020603050405020304" pitchFamily="18" charset="0"/>
                              <a:cs typeface="Times New Roman" panose="02020603050405020304" pitchFamily="18" charset="0"/>
                            </a:rPr>
                            <m:t> </m:t>
                          </m:r>
                          <m:r>
                            <a:rPr lang="ar-AE" b="0" i="1">
                              <a:latin typeface="Cambria Math" panose="02040503050406030204" pitchFamily="18" charset="0"/>
                            </a:rPr>
                            <m:t>𝐸𝑥𝑒𝑐𝑢𝑡𝑖𝑜𝑛</m:t>
                          </m:r>
                          <m:r>
                            <m:rPr>
                              <m:nor/>
                            </m:rPr>
                            <a:rPr lang="ar-AE" b="0" i="1">
                              <a:latin typeface="Times New Roman" panose="02020603050405020304" pitchFamily="18" charset="0"/>
                              <a:cs typeface="Times New Roman" panose="02020603050405020304" pitchFamily="18" charset="0"/>
                            </a:rPr>
                            <m:t> </m:t>
                          </m:r>
                          <m:r>
                            <a:rPr lang="ar-AE" b="0" i="1">
                              <a:latin typeface="Cambria Math" panose="02040503050406030204" pitchFamily="18" charset="0"/>
                            </a:rPr>
                            <m:t>𝑇𝑖𝑚𝑒</m:t>
                          </m:r>
                        </m:den>
                      </m:f>
                    </m:oMath>
                  </m:oMathPara>
                </a14:m>
                <a:endParaRPr lang="en-IN" b="0"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a:p>
                <a:pPr>
                  <a:buNone/>
                </a:pPr>
                <a:endParaRPr lang="ar-AE" b="0"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A higher throughput means that the algorithm processes more tasks within a given time frame.</a:t>
                </a:r>
              </a:p>
            </p:txBody>
          </p:sp>
        </mc:Choice>
        <mc:Fallback xmlns="">
          <p:sp>
            <p:nvSpPr>
              <p:cNvPr id="11" name="TextBox 10">
                <a:extLst>
                  <a:ext uri="{FF2B5EF4-FFF2-40B4-BE49-F238E27FC236}">
                    <a16:creationId xmlns:a16="http://schemas.microsoft.com/office/drawing/2014/main" id="{4875F89D-EAC1-19A7-A059-101F2C79F0A6}"/>
                  </a:ext>
                </a:extLst>
              </p:cNvPr>
              <p:cNvSpPr txBox="1">
                <a:spLocks noRot="1" noChangeAspect="1" noMove="1" noResize="1" noEditPoints="1" noAdjustHandles="1" noChangeArrowheads="1" noChangeShapeType="1" noTextEdit="1"/>
              </p:cNvSpPr>
              <p:nvPr/>
            </p:nvSpPr>
            <p:spPr>
              <a:xfrm>
                <a:off x="4130040" y="1723298"/>
                <a:ext cx="5344160" cy="1579150"/>
              </a:xfrm>
              <a:prstGeom prst="rect">
                <a:avLst/>
              </a:prstGeom>
              <a:blipFill>
                <a:blip r:embed="rId3"/>
                <a:stretch>
                  <a:fillRect l="-342" t="-772" b="-3089"/>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3A6146EC-5A0E-8C1D-E451-9C83E26826E3}"/>
              </a:ext>
            </a:extLst>
          </p:cNvPr>
          <p:cNvPicPr>
            <a:picLocks noChangeAspect="1"/>
          </p:cNvPicPr>
          <p:nvPr/>
        </p:nvPicPr>
        <p:blipFill>
          <a:blip r:embed="rId4"/>
          <a:srcRect t="1366"/>
          <a:stretch>
            <a:fillRect/>
          </a:stretch>
        </p:blipFill>
        <p:spPr>
          <a:xfrm>
            <a:off x="62297" y="662940"/>
            <a:ext cx="4067743" cy="3871234"/>
          </a:xfrm>
          <a:prstGeom prst="rect">
            <a:avLst/>
          </a:prstGeom>
        </p:spPr>
      </p:pic>
    </p:spTree>
    <p:extLst>
      <p:ext uri="{BB962C8B-B14F-4D97-AF65-F5344CB8AC3E}">
        <p14:creationId xmlns:p14="http://schemas.microsoft.com/office/powerpoint/2010/main" val="837314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89;p49">
            <a:extLst>
              <a:ext uri="{FF2B5EF4-FFF2-40B4-BE49-F238E27FC236}">
                <a16:creationId xmlns:a16="http://schemas.microsoft.com/office/drawing/2014/main" id="{0F1BEF8F-83BF-DF2C-33D3-BBCE5B1EF677}"/>
              </a:ext>
            </a:extLst>
          </p:cNvPr>
          <p:cNvSpPr txBox="1">
            <a:spLocks/>
          </p:cNvSpPr>
          <p:nvPr/>
        </p:nvSpPr>
        <p:spPr>
          <a:xfrm>
            <a:off x="1487383" y="303085"/>
            <a:ext cx="6408234"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72440"/>
            <a:r>
              <a:rPr lang="en-GB" sz="2400" dirty="0">
                <a:latin typeface="Times New Roman" panose="02020603050405020304" pitchFamily="18" charset="0"/>
                <a:cs typeface="Times New Roman" panose="02020603050405020304" pitchFamily="18" charset="0"/>
              </a:rPr>
              <a:t>Experimental results/output/Snapshots</a:t>
            </a:r>
          </a:p>
        </p:txBody>
      </p:sp>
      <p:sp>
        <p:nvSpPr>
          <p:cNvPr id="6" name="TextBox 5">
            <a:extLst>
              <a:ext uri="{FF2B5EF4-FFF2-40B4-BE49-F238E27FC236}">
                <a16:creationId xmlns:a16="http://schemas.microsoft.com/office/drawing/2014/main" id="{2F50F194-6716-FC91-21B8-257AD6B16521}"/>
              </a:ext>
            </a:extLst>
          </p:cNvPr>
          <p:cNvSpPr txBox="1"/>
          <p:nvPr/>
        </p:nvSpPr>
        <p:spPr>
          <a:xfrm>
            <a:off x="8229600" y="4549599"/>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27</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BFBFA81D-5C27-09FA-7E42-7CF1FC528A32}"/>
              </a:ext>
            </a:extLst>
          </p:cNvPr>
          <p:cNvSpPr txBox="1"/>
          <p:nvPr/>
        </p:nvSpPr>
        <p:spPr>
          <a:xfrm>
            <a:off x="1638300" y="4822113"/>
            <a:ext cx="640080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97CE06C-D356-5CC7-8797-28D9CE3F462C}"/>
                  </a:ext>
                </a:extLst>
              </p:cNvPr>
              <p:cNvSpPr txBox="1"/>
              <p:nvPr/>
            </p:nvSpPr>
            <p:spPr>
              <a:xfrm>
                <a:off x="4292600" y="1554285"/>
                <a:ext cx="5029200" cy="2031325"/>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The formula used for calculating </a:t>
                </a:r>
                <a:r>
                  <a:rPr lang="en-IN" dirty="0" err="1">
                    <a:latin typeface="Times New Roman" panose="02020603050405020304" pitchFamily="18" charset="0"/>
                    <a:cs typeface="Times New Roman" panose="02020603050405020304" pitchFamily="18" charset="0"/>
                  </a:rPr>
                  <a:t>makespan</a:t>
                </a:r>
                <a:r>
                  <a:rPr lang="en-IN" dirty="0">
                    <a:latin typeface="Times New Roman" panose="02020603050405020304" pitchFamily="18" charset="0"/>
                    <a:cs typeface="Times New Roman" panose="02020603050405020304" pitchFamily="18" charset="0"/>
                  </a:rPr>
                  <a:t> is:</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Makespan</a:t>
                </a:r>
                <a:r>
                  <a:rPr lang="en-IN" dirty="0">
                    <a:latin typeface="Times New Roman" panose="02020603050405020304" pitchFamily="18" charset="0"/>
                    <a:cs typeface="Times New Roman" panose="02020603050405020304" pitchFamily="18" charset="0"/>
                  </a:rPr>
                  <a:t> = MAX(</a:t>
                </a:r>
                <a14:m>
                  <m:oMath xmlns:m="http://schemas.openxmlformats.org/officeDocument/2006/math">
                    <m:r>
                      <a:rPr lang="en-IN" i="1">
                        <a:latin typeface="Cambria Math" panose="02040503050406030204" pitchFamily="18" charset="0"/>
                      </a:rPr>
                      <m:t>𝐹𝑖𝑛𝑖𝑠</m:t>
                    </m:r>
                    <m:r>
                      <a:rPr lang="en-IN" i="1">
                        <a:latin typeface="Cambria Math" panose="02040503050406030204" pitchFamily="18" charset="0"/>
                      </a:rPr>
                      <m:t>h</m:t>
                    </m:r>
                    <m:r>
                      <a:rPr lang="en-IN" i="1">
                        <a:latin typeface="Cambria Math" panose="02040503050406030204" pitchFamily="18" charset="0"/>
                      </a:rPr>
                      <m:t>𝑇𝑖𝑚</m:t>
                    </m:r>
                    <m:sSub>
                      <m:sSubPr>
                        <m:ctrlPr>
                          <a:rPr lang="ar-AE" i="1">
                            <a:latin typeface="Cambria Math" panose="02040503050406030204" pitchFamily="18" charset="0"/>
                          </a:rPr>
                        </m:ctrlPr>
                      </m:sSubPr>
                      <m:e>
                        <m:r>
                          <a:rPr lang="ar-AE" i="1">
                            <a:latin typeface="Cambria Math" panose="02040503050406030204" pitchFamily="18" charset="0"/>
                          </a:rPr>
                          <m:t>𝑒</m:t>
                        </m:r>
                      </m:e>
                      <m:sub>
                        <m:r>
                          <a:rPr lang="ar-AE" i="1">
                            <a:latin typeface="Cambria Math" panose="02040503050406030204" pitchFamily="18" charset="0"/>
                          </a:rPr>
                          <m:t>𝑖</m:t>
                        </m:r>
                      </m:sub>
                    </m:sSub>
                    <m:r>
                      <a:rPr lang="en-IN" b="0" i="1" smtClean="0">
                        <a:latin typeface="Cambria Math" panose="02040503050406030204" pitchFamily="18" charset="0"/>
                      </a:rPr>
                      <m:t>)</m:t>
                    </m:r>
                  </m:oMath>
                </a14:m>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where </a:t>
                </a:r>
                <a14:m>
                  <m:oMath xmlns:m="http://schemas.openxmlformats.org/officeDocument/2006/math">
                    <m:r>
                      <a:rPr lang="en-IN" i="1">
                        <a:latin typeface="Cambria Math" panose="02040503050406030204" pitchFamily="18" charset="0"/>
                      </a:rPr>
                      <m:t>𝐹𝑖𝑛𝑖𝑠</m:t>
                    </m:r>
                    <m:r>
                      <a:rPr lang="en-IN" i="1">
                        <a:latin typeface="Cambria Math" panose="02040503050406030204" pitchFamily="18" charset="0"/>
                      </a:rPr>
                      <m:t>h</m:t>
                    </m:r>
                    <m:r>
                      <a:rPr lang="en-IN" i="1">
                        <a:latin typeface="Cambria Math" panose="02040503050406030204" pitchFamily="18" charset="0"/>
                      </a:rPr>
                      <m:t>𝑇𝑖𝑚</m:t>
                    </m:r>
                    <m:sSub>
                      <m:sSubPr>
                        <m:ctrlPr>
                          <a:rPr lang="ar-AE" i="1">
                            <a:latin typeface="Cambria Math" panose="02040503050406030204" pitchFamily="18" charset="0"/>
                          </a:rPr>
                        </m:ctrlPr>
                      </m:sSubPr>
                      <m:e>
                        <m:r>
                          <a:rPr lang="ar-AE" i="1">
                            <a:latin typeface="Cambria Math" panose="02040503050406030204" pitchFamily="18" charset="0"/>
                          </a:rPr>
                          <m:t>𝑒</m:t>
                        </m:r>
                      </m:e>
                      <m:sub>
                        <m:r>
                          <a:rPr lang="ar-AE" i="1">
                            <a:latin typeface="Cambria Math" panose="02040503050406030204" pitchFamily="18" charset="0"/>
                          </a:rPr>
                          <m:t>𝑖</m:t>
                        </m:r>
                      </m:sub>
                    </m:sSub>
                  </m:oMath>
                </a14:m>
                <a:r>
                  <a:rPr lang="en-IN" dirty="0">
                    <a:latin typeface="Times New Roman" panose="02020603050405020304" pitchFamily="18" charset="0"/>
                    <a:cs typeface="Times New Roman" panose="02020603050405020304" pitchFamily="18" charset="0"/>
                  </a:rPr>
                  <a:t>represents the completion time of each individual task.</a:t>
                </a:r>
              </a:p>
              <a:p>
                <a:pPr>
                  <a:buNone/>
                </a:pP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Lower </a:t>
                </a:r>
                <a:r>
                  <a:rPr lang="en-IN" dirty="0" err="1">
                    <a:latin typeface="Times New Roman" panose="02020603050405020304" pitchFamily="18" charset="0"/>
                    <a:cs typeface="Times New Roman" panose="02020603050405020304" pitchFamily="18" charset="0"/>
                  </a:rPr>
                  <a:t>makespan</a:t>
                </a:r>
                <a:r>
                  <a:rPr lang="en-IN" dirty="0">
                    <a:latin typeface="Times New Roman" panose="02020603050405020304" pitchFamily="18" charset="0"/>
                    <a:cs typeface="Times New Roman" panose="02020603050405020304" pitchFamily="18" charset="0"/>
                  </a:rPr>
                  <a:t> means that the scheduling algorithm is faster and more efficient in allocating tasks to VMs.</a:t>
                </a:r>
              </a:p>
            </p:txBody>
          </p:sp>
        </mc:Choice>
        <mc:Fallback xmlns="">
          <p:sp>
            <p:nvSpPr>
              <p:cNvPr id="11" name="TextBox 10">
                <a:extLst>
                  <a:ext uri="{FF2B5EF4-FFF2-40B4-BE49-F238E27FC236}">
                    <a16:creationId xmlns:a16="http://schemas.microsoft.com/office/drawing/2014/main" id="{A97CE06C-D356-5CC7-8797-28D9CE3F462C}"/>
                  </a:ext>
                </a:extLst>
              </p:cNvPr>
              <p:cNvSpPr txBox="1">
                <a:spLocks noRot="1" noChangeAspect="1" noMove="1" noResize="1" noEditPoints="1" noAdjustHandles="1" noChangeArrowheads="1" noChangeShapeType="1" noTextEdit="1"/>
              </p:cNvSpPr>
              <p:nvPr/>
            </p:nvSpPr>
            <p:spPr>
              <a:xfrm>
                <a:off x="4292600" y="1554285"/>
                <a:ext cx="5029200" cy="2031325"/>
              </a:xfrm>
              <a:prstGeom prst="rect">
                <a:avLst/>
              </a:prstGeom>
              <a:blipFill>
                <a:blip r:embed="rId3"/>
                <a:stretch>
                  <a:fillRect l="-364" t="-601" b="-2102"/>
                </a:stretch>
              </a:blipFill>
            </p:spPr>
            <p:txBody>
              <a:bodyPr/>
              <a:lstStyle/>
              <a:p>
                <a:r>
                  <a:rPr lang="en-IN">
                    <a:noFill/>
                  </a:rPr>
                  <a:t> </a:t>
                </a:r>
              </a:p>
            </p:txBody>
          </p:sp>
        </mc:Fallback>
      </mc:AlternateContent>
      <p:pic>
        <p:nvPicPr>
          <p:cNvPr id="3" name="Picture 2" descr="A graph with numbers and a pink and blue bar&#10;&#10;AI-generated content may be incorrect.">
            <a:extLst>
              <a:ext uri="{FF2B5EF4-FFF2-40B4-BE49-F238E27FC236}">
                <a16:creationId xmlns:a16="http://schemas.microsoft.com/office/drawing/2014/main" id="{1BC964B3-2838-5B82-8BEB-2A94C0BAD102}"/>
              </a:ext>
            </a:extLst>
          </p:cNvPr>
          <p:cNvPicPr>
            <a:picLocks noChangeAspect="1"/>
          </p:cNvPicPr>
          <p:nvPr/>
        </p:nvPicPr>
        <p:blipFill>
          <a:blip r:embed="rId4"/>
          <a:stretch>
            <a:fillRect/>
          </a:stretch>
        </p:blipFill>
        <p:spPr>
          <a:xfrm>
            <a:off x="165100" y="857053"/>
            <a:ext cx="3782060" cy="3729287"/>
          </a:xfrm>
          <a:prstGeom prst="rect">
            <a:avLst/>
          </a:prstGeom>
        </p:spPr>
      </p:pic>
    </p:spTree>
    <p:extLst>
      <p:ext uri="{BB962C8B-B14F-4D97-AF65-F5344CB8AC3E}">
        <p14:creationId xmlns:p14="http://schemas.microsoft.com/office/powerpoint/2010/main" val="1425400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0215-6F3A-337A-C3AA-085AA885EACC}"/>
            </a:ext>
          </a:extLst>
        </p:cNvPr>
        <p:cNvGrpSpPr/>
        <p:nvPr/>
      </p:nvGrpSpPr>
      <p:grpSpPr>
        <a:xfrm>
          <a:off x="0" y="0"/>
          <a:ext cx="0" cy="0"/>
          <a:chOff x="0" y="0"/>
          <a:chExt cx="0" cy="0"/>
        </a:xfrm>
      </p:grpSpPr>
      <p:sp>
        <p:nvSpPr>
          <p:cNvPr id="4" name="Google Shape;289;p49">
            <a:extLst>
              <a:ext uri="{FF2B5EF4-FFF2-40B4-BE49-F238E27FC236}">
                <a16:creationId xmlns:a16="http://schemas.microsoft.com/office/drawing/2014/main" id="{BDA30999-2F39-BE09-9EA5-2DA43AD4716A}"/>
              </a:ext>
            </a:extLst>
          </p:cNvPr>
          <p:cNvSpPr txBox="1">
            <a:spLocks/>
          </p:cNvSpPr>
          <p:nvPr/>
        </p:nvSpPr>
        <p:spPr>
          <a:xfrm>
            <a:off x="1487383" y="295118"/>
            <a:ext cx="6408234"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72440"/>
            <a:r>
              <a:rPr lang="en-GB" sz="2400" dirty="0">
                <a:latin typeface="Times New Roman" panose="02020603050405020304" pitchFamily="18" charset="0"/>
                <a:cs typeface="Times New Roman" panose="02020603050405020304" pitchFamily="18" charset="0"/>
              </a:rPr>
              <a:t>User Interface of System Model</a:t>
            </a:r>
          </a:p>
        </p:txBody>
      </p:sp>
      <p:sp>
        <p:nvSpPr>
          <p:cNvPr id="6" name="TextBox 5">
            <a:extLst>
              <a:ext uri="{FF2B5EF4-FFF2-40B4-BE49-F238E27FC236}">
                <a16:creationId xmlns:a16="http://schemas.microsoft.com/office/drawing/2014/main" id="{32D6115D-CF53-25F6-6901-B311633A2E3C}"/>
              </a:ext>
            </a:extLst>
          </p:cNvPr>
          <p:cNvSpPr txBox="1"/>
          <p:nvPr/>
        </p:nvSpPr>
        <p:spPr>
          <a:xfrm>
            <a:off x="8229600" y="4549599"/>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28</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6BB47F82-578F-4CD8-86DC-7C879F3AAA22}"/>
              </a:ext>
            </a:extLst>
          </p:cNvPr>
          <p:cNvSpPr txBox="1"/>
          <p:nvPr/>
        </p:nvSpPr>
        <p:spPr>
          <a:xfrm>
            <a:off x="1638300" y="4822113"/>
            <a:ext cx="640080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pic>
        <p:nvPicPr>
          <p:cNvPr id="3" name="Picture 2">
            <a:extLst>
              <a:ext uri="{FF2B5EF4-FFF2-40B4-BE49-F238E27FC236}">
                <a16:creationId xmlns:a16="http://schemas.microsoft.com/office/drawing/2014/main" id="{22E44EC3-EFF2-88CF-C3C6-C170E82BB145}"/>
              </a:ext>
            </a:extLst>
          </p:cNvPr>
          <p:cNvPicPr>
            <a:picLocks noChangeAspect="1"/>
          </p:cNvPicPr>
          <p:nvPr/>
        </p:nvPicPr>
        <p:blipFill>
          <a:blip r:embed="rId3"/>
          <a:srcRect/>
          <a:stretch/>
        </p:blipFill>
        <p:spPr>
          <a:xfrm>
            <a:off x="1061357" y="1028700"/>
            <a:ext cx="6834260" cy="3600450"/>
          </a:xfrm>
          <a:prstGeom prst="rect">
            <a:avLst/>
          </a:prstGeom>
        </p:spPr>
      </p:pic>
    </p:spTree>
    <p:extLst>
      <p:ext uri="{BB962C8B-B14F-4D97-AF65-F5344CB8AC3E}">
        <p14:creationId xmlns:p14="http://schemas.microsoft.com/office/powerpoint/2010/main" val="912975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9261-20DF-1A0E-CF40-AE7815960598}"/>
            </a:ext>
          </a:extLst>
        </p:cNvPr>
        <p:cNvGrpSpPr/>
        <p:nvPr/>
      </p:nvGrpSpPr>
      <p:grpSpPr>
        <a:xfrm>
          <a:off x="0" y="0"/>
          <a:ext cx="0" cy="0"/>
          <a:chOff x="0" y="0"/>
          <a:chExt cx="0" cy="0"/>
        </a:xfrm>
      </p:grpSpPr>
      <p:sp>
        <p:nvSpPr>
          <p:cNvPr id="4" name="Google Shape;289;p49">
            <a:extLst>
              <a:ext uri="{FF2B5EF4-FFF2-40B4-BE49-F238E27FC236}">
                <a16:creationId xmlns:a16="http://schemas.microsoft.com/office/drawing/2014/main" id="{AAFDBB78-A5DE-EC06-070A-E39541B91818}"/>
              </a:ext>
            </a:extLst>
          </p:cNvPr>
          <p:cNvSpPr txBox="1">
            <a:spLocks/>
          </p:cNvSpPr>
          <p:nvPr/>
        </p:nvSpPr>
        <p:spPr>
          <a:xfrm>
            <a:off x="1487383" y="295118"/>
            <a:ext cx="6408234"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72440"/>
            <a:r>
              <a:rPr lang="en-GB" sz="2400" dirty="0">
                <a:latin typeface="Times New Roman" panose="02020603050405020304" pitchFamily="18" charset="0"/>
                <a:cs typeface="Times New Roman" panose="02020603050405020304" pitchFamily="18" charset="0"/>
              </a:rPr>
              <a:t>User Interface of System Model</a:t>
            </a:r>
          </a:p>
        </p:txBody>
      </p:sp>
      <p:sp>
        <p:nvSpPr>
          <p:cNvPr id="6" name="TextBox 5">
            <a:extLst>
              <a:ext uri="{FF2B5EF4-FFF2-40B4-BE49-F238E27FC236}">
                <a16:creationId xmlns:a16="http://schemas.microsoft.com/office/drawing/2014/main" id="{1EE32BA0-7F45-FA1F-7A6C-D388B489B252}"/>
              </a:ext>
            </a:extLst>
          </p:cNvPr>
          <p:cNvSpPr txBox="1"/>
          <p:nvPr/>
        </p:nvSpPr>
        <p:spPr>
          <a:xfrm>
            <a:off x="8229600" y="4549599"/>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29</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D91D733E-AA56-920D-B71C-B86FD47FEF1F}"/>
              </a:ext>
            </a:extLst>
          </p:cNvPr>
          <p:cNvSpPr txBox="1"/>
          <p:nvPr/>
        </p:nvSpPr>
        <p:spPr>
          <a:xfrm>
            <a:off x="1638300" y="4822113"/>
            <a:ext cx="640080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pic>
        <p:nvPicPr>
          <p:cNvPr id="3" name="Picture 2">
            <a:extLst>
              <a:ext uri="{FF2B5EF4-FFF2-40B4-BE49-F238E27FC236}">
                <a16:creationId xmlns:a16="http://schemas.microsoft.com/office/drawing/2014/main" id="{E0612C5D-CD02-34E8-39A0-4A6A869C1582}"/>
              </a:ext>
            </a:extLst>
          </p:cNvPr>
          <p:cNvPicPr>
            <a:picLocks noChangeAspect="1"/>
          </p:cNvPicPr>
          <p:nvPr/>
        </p:nvPicPr>
        <p:blipFill>
          <a:blip r:embed="rId3"/>
          <a:srcRect/>
          <a:stretch/>
        </p:blipFill>
        <p:spPr>
          <a:xfrm>
            <a:off x="1061357" y="947058"/>
            <a:ext cx="6834260" cy="3602542"/>
          </a:xfrm>
          <a:prstGeom prst="rect">
            <a:avLst/>
          </a:prstGeom>
        </p:spPr>
      </p:pic>
    </p:spTree>
    <p:extLst>
      <p:ext uri="{BB962C8B-B14F-4D97-AF65-F5344CB8AC3E}">
        <p14:creationId xmlns:p14="http://schemas.microsoft.com/office/powerpoint/2010/main" val="2757005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036DD-2D5C-A402-2A25-820DF12A280A}"/>
            </a:ext>
          </a:extLst>
        </p:cNvPr>
        <p:cNvGrpSpPr/>
        <p:nvPr/>
      </p:nvGrpSpPr>
      <p:grpSpPr>
        <a:xfrm>
          <a:off x="0" y="0"/>
          <a:ext cx="0" cy="0"/>
          <a:chOff x="0" y="0"/>
          <a:chExt cx="0" cy="0"/>
        </a:xfrm>
      </p:grpSpPr>
      <p:sp>
        <p:nvSpPr>
          <p:cNvPr id="4" name="Google Shape;289;p49">
            <a:extLst>
              <a:ext uri="{FF2B5EF4-FFF2-40B4-BE49-F238E27FC236}">
                <a16:creationId xmlns:a16="http://schemas.microsoft.com/office/drawing/2014/main" id="{F141C847-7E3D-30E4-DCA0-E88B6EC1220F}"/>
              </a:ext>
            </a:extLst>
          </p:cNvPr>
          <p:cNvSpPr txBox="1">
            <a:spLocks/>
          </p:cNvSpPr>
          <p:nvPr/>
        </p:nvSpPr>
        <p:spPr>
          <a:xfrm>
            <a:off x="1487383" y="295118"/>
            <a:ext cx="6408234"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72440"/>
            <a:r>
              <a:rPr lang="en-GB" sz="2400" dirty="0">
                <a:latin typeface="Times New Roman" panose="02020603050405020304" pitchFamily="18" charset="0"/>
                <a:cs typeface="Times New Roman" panose="02020603050405020304" pitchFamily="18" charset="0"/>
              </a:rPr>
              <a:t>User Interface of System Model</a:t>
            </a:r>
          </a:p>
        </p:txBody>
      </p:sp>
      <p:sp>
        <p:nvSpPr>
          <p:cNvPr id="6" name="TextBox 5">
            <a:extLst>
              <a:ext uri="{FF2B5EF4-FFF2-40B4-BE49-F238E27FC236}">
                <a16:creationId xmlns:a16="http://schemas.microsoft.com/office/drawing/2014/main" id="{5392ECD7-052D-8B7A-D5A3-B13FB891D23D}"/>
              </a:ext>
            </a:extLst>
          </p:cNvPr>
          <p:cNvSpPr txBox="1"/>
          <p:nvPr/>
        </p:nvSpPr>
        <p:spPr>
          <a:xfrm>
            <a:off x="8229600" y="4549599"/>
            <a:ext cx="4572000" cy="240387"/>
          </a:xfrm>
          <a:prstGeom prst="rect">
            <a:avLst/>
          </a:prstGeom>
          <a:noFill/>
        </p:spPr>
        <p:txBody>
          <a:bodyPr wrap="square">
            <a:spAutoFit/>
          </a:bodyPr>
          <a:lstStyle/>
          <a:p>
            <a:pPr marL="38100" lvl="0" indent="0" algn="l" rtl="0">
              <a:lnSpc>
                <a:spcPct val="103333"/>
              </a:lnSpc>
              <a:spcBef>
                <a:spcPts val="0"/>
              </a:spcBef>
              <a:spcAft>
                <a:spcPts val="0"/>
              </a:spcAft>
              <a:buSzPts val="1200"/>
              <a:buNone/>
            </a:pPr>
            <a:fld id="{00000000-1234-1234-1234-123412341234}" type="slidenum">
              <a:rPr lang="en-GB" sz="1000" smtClean="0">
                <a:solidFill>
                  <a:schemeClr val="bg1">
                    <a:lumMod val="50000"/>
                  </a:schemeClr>
                </a:solidFill>
              </a:rPr>
              <a:pPr marL="38100" lvl="0" indent="0" algn="l" rtl="0">
                <a:lnSpc>
                  <a:spcPct val="103333"/>
                </a:lnSpc>
                <a:spcBef>
                  <a:spcPts val="0"/>
                </a:spcBef>
                <a:spcAft>
                  <a:spcPts val="0"/>
                </a:spcAft>
                <a:buSzPts val="1200"/>
                <a:buNone/>
              </a:pPr>
              <a:t>30</a:t>
            </a:fld>
            <a:endParaRPr lang="en-GB" sz="1000" dirty="0">
              <a:solidFill>
                <a:schemeClr val="bg1">
                  <a:lumMod val="50000"/>
                </a:schemeClr>
              </a:solidFill>
            </a:endParaRPr>
          </a:p>
        </p:txBody>
      </p:sp>
      <p:sp>
        <p:nvSpPr>
          <p:cNvPr id="7" name="TextBox 6">
            <a:extLst>
              <a:ext uri="{FF2B5EF4-FFF2-40B4-BE49-F238E27FC236}">
                <a16:creationId xmlns:a16="http://schemas.microsoft.com/office/drawing/2014/main" id="{EBEBBF4C-D0CA-9575-579A-B73A9B986D47}"/>
              </a:ext>
            </a:extLst>
          </p:cNvPr>
          <p:cNvSpPr txBox="1"/>
          <p:nvPr/>
        </p:nvSpPr>
        <p:spPr>
          <a:xfrm>
            <a:off x="1638300" y="4822113"/>
            <a:ext cx="6400800" cy="246221"/>
          </a:xfrm>
          <a:prstGeom prst="rect">
            <a:avLst/>
          </a:prstGeom>
          <a:noFill/>
        </p:spPr>
        <p:txBody>
          <a:bodyPr wrap="square">
            <a:spAutoFit/>
          </a:bodyPr>
          <a:lstStyle/>
          <a:p>
            <a:pPr marL="0" lvl="0" indent="0" algn="ctr" rtl="0">
              <a:lnSpc>
                <a:spcPct val="100000"/>
              </a:lnSpc>
              <a:spcBef>
                <a:spcPts val="20"/>
              </a:spcBef>
              <a:spcAft>
                <a:spcPts val="0"/>
              </a:spcAft>
              <a:buClr>
                <a:schemeClr val="dk1"/>
              </a:buClr>
              <a:buSzPts val="1400"/>
              <a:buNone/>
            </a:pPr>
            <a:r>
              <a:rPr lang="en-US" sz="1000"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lang="en-US" sz="1000" dirty="0">
              <a:solidFill>
                <a:schemeClr val="dk2"/>
              </a:solidFill>
              <a:highlight>
                <a:schemeClr val="lt1"/>
              </a:highlight>
              <a:latin typeface="Calibri"/>
              <a:ea typeface="Calibri"/>
              <a:cs typeface="Calibri"/>
              <a:sym typeface="Calibri"/>
            </a:endParaRPr>
          </a:p>
        </p:txBody>
      </p:sp>
      <p:pic>
        <p:nvPicPr>
          <p:cNvPr id="3" name="Picture 2">
            <a:extLst>
              <a:ext uri="{FF2B5EF4-FFF2-40B4-BE49-F238E27FC236}">
                <a16:creationId xmlns:a16="http://schemas.microsoft.com/office/drawing/2014/main" id="{9827F1E6-A393-AFAC-3A53-3C89151EEADB}"/>
              </a:ext>
            </a:extLst>
          </p:cNvPr>
          <p:cNvPicPr>
            <a:picLocks noChangeAspect="1"/>
          </p:cNvPicPr>
          <p:nvPr/>
        </p:nvPicPr>
        <p:blipFill>
          <a:blip r:embed="rId3"/>
          <a:srcRect/>
          <a:stretch/>
        </p:blipFill>
        <p:spPr>
          <a:xfrm>
            <a:off x="1061357" y="1076863"/>
            <a:ext cx="6834260" cy="3593108"/>
          </a:xfrm>
          <a:prstGeom prst="rect">
            <a:avLst/>
          </a:prstGeom>
        </p:spPr>
      </p:pic>
    </p:spTree>
    <p:extLst>
      <p:ext uri="{BB962C8B-B14F-4D97-AF65-F5344CB8AC3E}">
        <p14:creationId xmlns:p14="http://schemas.microsoft.com/office/powerpoint/2010/main" val="4200300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9"/>
          <p:cNvSpPr txBox="1">
            <a:spLocks noGrp="1"/>
          </p:cNvSpPr>
          <p:nvPr>
            <p:ph type="title"/>
          </p:nvPr>
        </p:nvSpPr>
        <p:spPr>
          <a:xfrm>
            <a:off x="1686541" y="-164778"/>
            <a:ext cx="5585100" cy="567000"/>
          </a:xfrm>
          <a:prstGeom prst="rect">
            <a:avLst/>
          </a:prstGeom>
          <a:noFill/>
          <a:ln>
            <a:noFill/>
          </a:ln>
        </p:spPr>
        <p:txBody>
          <a:bodyPr spcFirstLastPara="1" wrap="square" lIns="0" tIns="134600" rIns="0" bIns="0" anchor="t" anchorCtr="0">
            <a:spAutoFit/>
          </a:bodyPr>
          <a:lstStyle/>
          <a:p>
            <a:pPr marL="1760220" lvl="0" indent="0" algn="l" rtl="0">
              <a:lnSpc>
                <a:spcPct val="100000"/>
              </a:lnSpc>
              <a:spcBef>
                <a:spcPts val="0"/>
              </a:spcBef>
              <a:spcAft>
                <a:spcPts val="0"/>
              </a:spcAft>
              <a:buSzPts val="1400"/>
              <a:buNone/>
            </a:pPr>
            <a:r>
              <a:rPr lang="en-GB" dirty="0">
                <a:latin typeface="Times New Roman" panose="02020603050405020304" pitchFamily="18" charset="0"/>
                <a:cs typeface="Times New Roman" panose="02020603050405020304" pitchFamily="18" charset="0"/>
              </a:rPr>
              <a:t>Plan of Action</a:t>
            </a:r>
            <a:endParaRPr dirty="0">
              <a:latin typeface="Times New Roman" panose="02020603050405020304" pitchFamily="18" charset="0"/>
              <a:cs typeface="Times New Roman" panose="02020603050405020304" pitchFamily="18" charset="0"/>
            </a:endParaRPr>
          </a:p>
        </p:txBody>
      </p:sp>
      <p:graphicFrame>
        <p:nvGraphicFramePr>
          <p:cNvPr id="292" name="Google Shape;292;p49"/>
          <p:cNvGraphicFramePr/>
          <p:nvPr>
            <p:extLst>
              <p:ext uri="{D42A27DB-BD31-4B8C-83A1-F6EECF244321}">
                <p14:modId xmlns:p14="http://schemas.microsoft.com/office/powerpoint/2010/main" val="1028231233"/>
              </p:ext>
            </p:extLst>
          </p:nvPr>
        </p:nvGraphicFramePr>
        <p:xfrm>
          <a:off x="401444" y="402237"/>
          <a:ext cx="8073456" cy="4296282"/>
        </p:xfrm>
        <a:graphic>
          <a:graphicData uri="http://schemas.openxmlformats.org/drawingml/2006/table">
            <a:tbl>
              <a:tblPr firstRow="1" bandRow="1">
                <a:noFill/>
              </a:tblPr>
              <a:tblGrid>
                <a:gridCol w="2381831">
                  <a:extLst>
                    <a:ext uri="{9D8B030D-6E8A-4147-A177-3AD203B41FA5}">
                      <a16:colId xmlns:a16="http://schemas.microsoft.com/office/drawing/2014/main" val="20000"/>
                    </a:ext>
                  </a:extLst>
                </a:gridCol>
                <a:gridCol w="1072650">
                  <a:extLst>
                    <a:ext uri="{9D8B030D-6E8A-4147-A177-3AD203B41FA5}">
                      <a16:colId xmlns:a16="http://schemas.microsoft.com/office/drawing/2014/main" val="20001"/>
                    </a:ext>
                  </a:extLst>
                </a:gridCol>
                <a:gridCol w="863750">
                  <a:extLst>
                    <a:ext uri="{9D8B030D-6E8A-4147-A177-3AD203B41FA5}">
                      <a16:colId xmlns:a16="http://schemas.microsoft.com/office/drawing/2014/main" val="20002"/>
                    </a:ext>
                  </a:extLst>
                </a:gridCol>
                <a:gridCol w="888425">
                  <a:extLst>
                    <a:ext uri="{9D8B030D-6E8A-4147-A177-3AD203B41FA5}">
                      <a16:colId xmlns:a16="http://schemas.microsoft.com/office/drawing/2014/main" val="20003"/>
                    </a:ext>
                  </a:extLst>
                </a:gridCol>
                <a:gridCol w="906525">
                  <a:extLst>
                    <a:ext uri="{9D8B030D-6E8A-4147-A177-3AD203B41FA5}">
                      <a16:colId xmlns:a16="http://schemas.microsoft.com/office/drawing/2014/main" val="20004"/>
                    </a:ext>
                  </a:extLst>
                </a:gridCol>
                <a:gridCol w="1960275">
                  <a:extLst>
                    <a:ext uri="{9D8B030D-6E8A-4147-A177-3AD203B41FA5}">
                      <a16:colId xmlns:a16="http://schemas.microsoft.com/office/drawing/2014/main" val="20005"/>
                    </a:ext>
                  </a:extLst>
                </a:gridCol>
              </a:tblGrid>
              <a:tr h="597225">
                <a:tc>
                  <a:txBody>
                    <a:bodyPr/>
                    <a:lstStyle/>
                    <a:p>
                      <a:pPr marL="50800" marR="101600" lvl="0" indent="0" algn="l" rtl="0">
                        <a:lnSpc>
                          <a:spcPct val="150000"/>
                        </a:lnSpc>
                        <a:spcBef>
                          <a:spcPts val="0"/>
                        </a:spcBef>
                        <a:spcAft>
                          <a:spcPts val="0"/>
                        </a:spcAft>
                        <a:buClr>
                          <a:srgbClr val="000000"/>
                        </a:buClr>
                        <a:buSzPts val="1100"/>
                        <a:buFont typeface="Arial"/>
                        <a:buNone/>
                      </a:pPr>
                      <a:r>
                        <a:rPr lang="en-GB" sz="1100" b="1" u="none" strike="noStrike" cap="none" dirty="0">
                          <a:latin typeface="Times New Roman" panose="02020603050405020304" pitchFamily="18" charset="0"/>
                          <a:ea typeface="Calibri"/>
                          <a:cs typeface="Times New Roman" panose="02020603050405020304" pitchFamily="18" charset="0"/>
                          <a:sym typeface="Calibri"/>
                        </a:rPr>
                        <a:t>Activity  (2024-25)</a:t>
                      </a:r>
                      <a:endParaRPr sz="1100" u="none" strike="noStrike" cap="none" dirty="0">
                        <a:latin typeface="Times New Roman" panose="02020603050405020304" pitchFamily="18" charset="0"/>
                        <a:ea typeface="Calibri"/>
                        <a:cs typeface="Times New Roman" panose="02020603050405020304" pitchFamily="18" charset="0"/>
                        <a:sym typeface="Calibri"/>
                      </a:endParaRPr>
                    </a:p>
                  </a:txBody>
                  <a:tcPr marL="0" marR="0" marT="133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30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279400" marR="0" lvl="0" indent="0" algn="l" rtl="0">
                        <a:lnSpc>
                          <a:spcPct val="114000"/>
                        </a:lnSpc>
                        <a:spcBef>
                          <a:spcPts val="0"/>
                        </a:spcBef>
                        <a:spcAft>
                          <a:spcPts val="0"/>
                        </a:spcAft>
                        <a:buClr>
                          <a:srgbClr val="000000"/>
                        </a:buClr>
                        <a:buSzPts val="800"/>
                        <a:buFont typeface="Arial"/>
                        <a:buNone/>
                      </a:pPr>
                      <a:r>
                        <a:rPr lang="en-GB" sz="800" b="1" u="none" strike="noStrike" cap="none">
                          <a:latin typeface="Times New Roman" panose="02020603050405020304" pitchFamily="18" charset="0"/>
                          <a:ea typeface="Calibri"/>
                          <a:cs typeface="Times New Roman" panose="02020603050405020304" pitchFamily="18" charset="0"/>
                          <a:sym typeface="Calibri"/>
                        </a:rPr>
                        <a:t>J</a:t>
                      </a:r>
                      <a:r>
                        <a:rPr lang="en-GB" sz="800" b="1">
                          <a:latin typeface="Times New Roman" panose="02020603050405020304" pitchFamily="18" charset="0"/>
                          <a:cs typeface="Times New Roman" panose="02020603050405020304" pitchFamily="18" charset="0"/>
                        </a:rPr>
                        <a:t>uly-Aug</a:t>
                      </a:r>
                      <a:endParaRPr sz="800" u="none" strike="noStrike" cap="none">
                        <a:latin typeface="Times New Roman" panose="02020603050405020304" pitchFamily="18" charset="0"/>
                        <a:ea typeface="Calibri"/>
                        <a:cs typeface="Times New Roman" panose="02020603050405020304" pitchFamily="18" charset="0"/>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30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177800" marR="0" lvl="0" indent="0" algn="l" rtl="0">
                        <a:lnSpc>
                          <a:spcPct val="114000"/>
                        </a:lnSpc>
                        <a:spcBef>
                          <a:spcPts val="0"/>
                        </a:spcBef>
                        <a:spcAft>
                          <a:spcPts val="0"/>
                        </a:spcAft>
                        <a:buClr>
                          <a:srgbClr val="000000"/>
                        </a:buClr>
                        <a:buSzPts val="800"/>
                        <a:buFont typeface="Arial"/>
                        <a:buNone/>
                      </a:pPr>
                      <a:r>
                        <a:rPr lang="en-GB" sz="800" b="1">
                          <a:latin typeface="Times New Roman" panose="02020603050405020304" pitchFamily="18" charset="0"/>
                          <a:cs typeface="Times New Roman" panose="02020603050405020304" pitchFamily="18" charset="0"/>
                        </a:rPr>
                        <a:t>Aug-Sept</a:t>
                      </a:r>
                      <a:endParaRPr sz="800" u="none" strike="noStrike" cap="none">
                        <a:latin typeface="Times New Roman" panose="02020603050405020304" pitchFamily="18" charset="0"/>
                        <a:ea typeface="Calibri"/>
                        <a:cs typeface="Times New Roman" panose="02020603050405020304" pitchFamily="18" charset="0"/>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30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139700" marR="0" lvl="0" indent="0" algn="l" rtl="0">
                        <a:lnSpc>
                          <a:spcPct val="114000"/>
                        </a:lnSpc>
                        <a:spcBef>
                          <a:spcPts val="0"/>
                        </a:spcBef>
                        <a:spcAft>
                          <a:spcPts val="0"/>
                        </a:spcAft>
                        <a:buClr>
                          <a:srgbClr val="000000"/>
                        </a:buClr>
                        <a:buSzPts val="800"/>
                        <a:buFont typeface="Arial"/>
                        <a:buNone/>
                      </a:pPr>
                      <a:r>
                        <a:rPr lang="en-GB" sz="800" b="1">
                          <a:latin typeface="Times New Roman" panose="02020603050405020304" pitchFamily="18" charset="0"/>
                          <a:cs typeface="Times New Roman" panose="02020603050405020304" pitchFamily="18" charset="0"/>
                        </a:rPr>
                        <a:t>Sept-Oct</a:t>
                      </a:r>
                      <a:endParaRPr sz="800" u="none" strike="noStrike" cap="none">
                        <a:latin typeface="Times New Roman" panose="02020603050405020304" pitchFamily="18" charset="0"/>
                        <a:ea typeface="Calibri"/>
                        <a:cs typeface="Times New Roman" panose="02020603050405020304" pitchFamily="18" charset="0"/>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30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190500" marR="0" lvl="0" indent="0" algn="l" rtl="0">
                        <a:lnSpc>
                          <a:spcPct val="114000"/>
                        </a:lnSpc>
                        <a:spcBef>
                          <a:spcPts val="0"/>
                        </a:spcBef>
                        <a:spcAft>
                          <a:spcPts val="0"/>
                        </a:spcAft>
                        <a:buClr>
                          <a:srgbClr val="000000"/>
                        </a:buClr>
                        <a:buSzPts val="800"/>
                        <a:buFont typeface="Arial"/>
                        <a:buNone/>
                      </a:pPr>
                      <a:r>
                        <a:rPr lang="en-GB" sz="800" b="1">
                          <a:latin typeface="Times New Roman" panose="02020603050405020304" pitchFamily="18" charset="0"/>
                          <a:cs typeface="Times New Roman" panose="02020603050405020304" pitchFamily="18" charset="0"/>
                        </a:rPr>
                        <a:t>Oct-Nov</a:t>
                      </a:r>
                      <a:endParaRPr sz="800" u="none" strike="noStrike" cap="none">
                        <a:latin typeface="Times New Roman" panose="02020603050405020304" pitchFamily="18" charset="0"/>
                        <a:ea typeface="Calibri"/>
                        <a:cs typeface="Times New Roman" panose="02020603050405020304" pitchFamily="18" charset="0"/>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300"/>
                        </a:spcBef>
                        <a:spcAft>
                          <a:spcPts val="0"/>
                        </a:spcAft>
                        <a:buClr>
                          <a:srgbClr val="000000"/>
                        </a:buClr>
                        <a:buSzPts val="800"/>
                        <a:buFont typeface="Arial"/>
                        <a:buNone/>
                      </a:pPr>
                      <a:endParaRPr sz="800" u="none" strike="noStrike" cap="none">
                        <a:latin typeface="Times New Roman" panose="02020603050405020304" pitchFamily="18" charset="0"/>
                        <a:ea typeface="Times New Roman"/>
                        <a:cs typeface="Times New Roman" panose="02020603050405020304" pitchFamily="18" charset="0"/>
                        <a:sym typeface="Times New Roman"/>
                      </a:endParaRPr>
                    </a:p>
                    <a:p>
                      <a:pPr marL="228600" marR="0" lvl="0" indent="0" algn="l" rtl="0">
                        <a:lnSpc>
                          <a:spcPct val="114000"/>
                        </a:lnSpc>
                        <a:spcBef>
                          <a:spcPts val="0"/>
                        </a:spcBef>
                        <a:spcAft>
                          <a:spcPts val="0"/>
                        </a:spcAft>
                        <a:buClr>
                          <a:srgbClr val="000000"/>
                        </a:buClr>
                        <a:buSzPts val="800"/>
                        <a:buFont typeface="Arial"/>
                        <a:buNone/>
                      </a:pPr>
                      <a:r>
                        <a:rPr lang="en-GB" sz="800" b="1">
                          <a:latin typeface="Times New Roman" panose="02020603050405020304" pitchFamily="18" charset="0"/>
                          <a:cs typeface="Times New Roman" panose="02020603050405020304" pitchFamily="18" charset="0"/>
                        </a:rPr>
                        <a:t>Nov-Dec</a:t>
                      </a:r>
                      <a:endParaRPr sz="800" u="none" strike="noStrike" cap="none">
                        <a:latin typeface="Times New Roman" panose="02020603050405020304" pitchFamily="18" charset="0"/>
                        <a:ea typeface="Calibri"/>
                        <a:cs typeface="Times New Roman" panose="02020603050405020304" pitchFamily="18" charset="0"/>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0"/>
                  </a:ext>
                </a:extLst>
              </a:tr>
              <a:tr h="44242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p>
                      <a:pPr marL="50800" marR="0" lvl="0" indent="0" algn="l" rtl="0">
                        <a:lnSpc>
                          <a:spcPct val="10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Calibri"/>
                          <a:cs typeface="Times New Roman" panose="02020603050405020304" pitchFamily="18" charset="0"/>
                          <a:sym typeface="Calibri"/>
                        </a:rPr>
                        <a:t>Literature Survey</a:t>
                      </a:r>
                      <a:endParaRPr sz="900" u="none" strike="noStrike" cap="none">
                        <a:latin typeface="Times New Roman" panose="02020603050405020304" pitchFamily="18" charset="0"/>
                        <a:ea typeface="Calibri"/>
                        <a:cs typeface="Times New Roman" panose="02020603050405020304" pitchFamily="18" charset="0"/>
                        <a:sym typeface="Calibri"/>
                      </a:endParaRPr>
                    </a:p>
                  </a:txBody>
                  <a:tcPr marL="0" marR="0" marT="166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50800" marR="0" lvl="0" indent="0" algn="l" rtl="0">
                        <a:lnSpc>
                          <a:spcPct val="115833"/>
                        </a:lnSpc>
                        <a:spcBef>
                          <a:spcPts val="0"/>
                        </a:spcBef>
                        <a:spcAft>
                          <a:spcPts val="0"/>
                        </a:spcAft>
                        <a:buClr>
                          <a:srgbClr val="000000"/>
                        </a:buClr>
                        <a:buSzPts val="900"/>
                        <a:buFont typeface="Arial"/>
                        <a:buNone/>
                      </a:pPr>
                      <a:r>
                        <a:rPr lang="en-GB" sz="900" u="none" strike="noStrike" cap="none">
                          <a:latin typeface="Times New Roman" panose="02020603050405020304" pitchFamily="18" charset="0"/>
                          <a:ea typeface="Times New Roman"/>
                          <a:cs typeface="Times New Roman" panose="02020603050405020304" pitchFamily="18" charset="0"/>
                          <a:sym typeface="Times New Roman"/>
                        </a:rPr>
                        <a:t>Complete</a:t>
                      </a: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1"/>
                  </a:ext>
                </a:extLst>
              </a:tr>
              <a:tr h="44242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p>
                      <a:pPr marL="50800" marR="0" lvl="0" indent="0" algn="l" rtl="0">
                        <a:lnSpc>
                          <a:spcPct val="10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Calibri"/>
                          <a:cs typeface="Times New Roman" panose="02020603050405020304" pitchFamily="18" charset="0"/>
                          <a:sym typeface="Calibri"/>
                        </a:rPr>
                        <a:t>Analysis of literature data</a:t>
                      </a:r>
                      <a:endParaRPr sz="900" u="none" strike="noStrike" cap="none">
                        <a:latin typeface="Times New Roman" panose="02020603050405020304" pitchFamily="18" charset="0"/>
                        <a:ea typeface="Calibri"/>
                        <a:cs typeface="Times New Roman" panose="02020603050405020304" pitchFamily="18" charset="0"/>
                        <a:sym typeface="Calibri"/>
                      </a:endParaRPr>
                    </a:p>
                  </a:txBody>
                  <a:tcPr marL="0" marR="0" marT="166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50800" marR="0" lvl="0" indent="0" algn="l" rtl="0">
                        <a:lnSpc>
                          <a:spcPct val="115833"/>
                        </a:lnSpc>
                        <a:spcBef>
                          <a:spcPts val="0"/>
                        </a:spcBef>
                        <a:spcAft>
                          <a:spcPts val="0"/>
                        </a:spcAft>
                        <a:buClr>
                          <a:srgbClr val="000000"/>
                        </a:buClr>
                        <a:buSzPts val="900"/>
                        <a:buFont typeface="Arial"/>
                        <a:buNone/>
                      </a:pPr>
                      <a:r>
                        <a:rPr lang="en-GB" sz="900" u="none" strike="noStrike" cap="none">
                          <a:latin typeface="Times New Roman" panose="02020603050405020304" pitchFamily="18" charset="0"/>
                          <a:ea typeface="Times New Roman"/>
                          <a:cs typeface="Times New Roman" panose="02020603050405020304" pitchFamily="18" charset="0"/>
                          <a:sym typeface="Times New Roman"/>
                        </a:rPr>
                        <a:t>Complete</a:t>
                      </a: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4438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p>
                      <a:pPr marL="50800" marR="0" lvl="0" indent="0" algn="l" rtl="0">
                        <a:lnSpc>
                          <a:spcPct val="10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Times New Roman"/>
                          <a:cs typeface="Times New Roman" panose="02020603050405020304" pitchFamily="18" charset="0"/>
                          <a:sym typeface="Times New Roman"/>
                        </a:rPr>
                        <a:t>Dataset Preparation</a:t>
                      </a: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171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dirty="0">
                          <a:latin typeface="Times New Roman" panose="02020603050405020304" pitchFamily="18" charset="0"/>
                          <a:ea typeface="Times New Roman"/>
                          <a:cs typeface="Times New Roman" panose="02020603050405020304" pitchFamily="18" charset="0"/>
                          <a:sym typeface="Times New Roman"/>
                        </a:rPr>
                        <a:t>complete</a:t>
                      </a:r>
                      <a:endParaRPr sz="9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50800" marR="0" lvl="0" indent="0" algn="l" rtl="0">
                        <a:lnSpc>
                          <a:spcPct val="115833"/>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3"/>
                  </a:ext>
                </a:extLst>
              </a:tr>
              <a:tr h="47100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p>
                      <a:pPr marL="50800" marR="0" lvl="0" indent="0" algn="l" rtl="0">
                        <a:lnSpc>
                          <a:spcPct val="10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Times New Roman"/>
                          <a:cs typeface="Times New Roman" panose="02020603050405020304" pitchFamily="18" charset="0"/>
                          <a:sym typeface="Times New Roman"/>
                        </a:rPr>
                        <a:t>Proposed Methodology</a:t>
                      </a: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309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9D9D9"/>
                    </a:solidFill>
                  </a:tcPr>
                </a:tc>
                <a:tc>
                  <a:txBody>
                    <a:bodyPr/>
                    <a:lstStyle/>
                    <a:p>
                      <a:pPr marL="50800" marR="0" lvl="0" indent="0" algn="l" rtl="0">
                        <a:lnSpc>
                          <a:spcPct val="115833"/>
                        </a:lnSpc>
                        <a:spcBef>
                          <a:spcPts val="0"/>
                        </a:spcBef>
                        <a:spcAft>
                          <a:spcPts val="0"/>
                        </a:spcAft>
                        <a:buClr>
                          <a:srgbClr val="000000"/>
                        </a:buClr>
                        <a:buSzPts val="900"/>
                        <a:buFont typeface="Arial"/>
                        <a:buNone/>
                      </a:pPr>
                      <a:r>
                        <a:rPr lang="en-US" sz="900" u="none" strike="noStrike" cap="none" dirty="0">
                          <a:latin typeface="Times New Roman" panose="02020603050405020304" pitchFamily="18" charset="0"/>
                          <a:ea typeface="Times New Roman"/>
                          <a:cs typeface="Times New Roman" panose="02020603050405020304" pitchFamily="18" charset="0"/>
                          <a:sym typeface="Times New Roman"/>
                        </a:rPr>
                        <a:t>complete</a:t>
                      </a:r>
                      <a:endParaRPr sz="9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736750">
                <a:tc>
                  <a:txBody>
                    <a:bodyPr/>
                    <a:lstStyle/>
                    <a:p>
                      <a:pPr marL="50800" marR="1600200" lvl="0" indent="0" algn="l" rtl="0">
                        <a:lnSpc>
                          <a:spcPct val="15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Times New Roman"/>
                          <a:cs typeface="Times New Roman" panose="02020603050405020304" pitchFamily="18" charset="0"/>
                          <a:sym typeface="Times New Roman"/>
                        </a:rPr>
                        <a:t>Algorithm Selection/ Experimentation</a:t>
                      </a: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12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1"/>
                    </a:solidFill>
                  </a:tcPr>
                </a:tc>
                <a:tc>
                  <a:txBody>
                    <a:bodyPr/>
                    <a:lstStyle/>
                    <a:p>
                      <a:pPr marL="50800" marR="0" lvl="0" indent="0" algn="l" rtl="0">
                        <a:lnSpc>
                          <a:spcPct val="115833"/>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Calibri"/>
                        <a:cs typeface="Times New Roman" panose="02020603050405020304" pitchFamily="18" charset="0"/>
                        <a:sym typeface="Calibri"/>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1"/>
                    </a:solidFill>
                  </a:tcPr>
                </a:tc>
                <a:tc>
                  <a:txBody>
                    <a:bodyPr/>
                    <a:lstStyle/>
                    <a:p>
                      <a:pPr marL="50800" marR="0" lvl="0" indent="0" algn="l" rtl="0">
                        <a:lnSpc>
                          <a:spcPct val="115833"/>
                        </a:lnSpc>
                        <a:spcBef>
                          <a:spcPts val="0"/>
                        </a:spcBef>
                        <a:spcAft>
                          <a:spcPts val="0"/>
                        </a:spcAft>
                        <a:buClr>
                          <a:schemeClr val="dk1"/>
                        </a:buClr>
                        <a:buSzPts val="900"/>
                        <a:buFont typeface="Arial"/>
                        <a:buNone/>
                      </a:pPr>
                      <a:r>
                        <a:rPr lang="en-US" sz="900" u="none" strike="noStrike" cap="none" dirty="0">
                          <a:latin typeface="Times New Roman" panose="02020603050405020304" pitchFamily="18" charset="0"/>
                          <a:ea typeface="Times New Roman"/>
                          <a:cs typeface="Times New Roman" panose="02020603050405020304" pitchFamily="18" charset="0"/>
                          <a:sym typeface="Times New Roman"/>
                        </a:rPr>
                        <a:t>complete</a:t>
                      </a:r>
                      <a:endParaRPr sz="9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0005"/>
                  </a:ext>
                </a:extLst>
              </a:tr>
              <a:tr h="44242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p>
                      <a:pPr marL="50800" marR="0" lvl="0" indent="0" algn="l" rtl="0">
                        <a:lnSpc>
                          <a:spcPct val="10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Times New Roman"/>
                          <a:cs typeface="Times New Roman" panose="02020603050405020304" pitchFamily="18" charset="0"/>
                          <a:sym typeface="Times New Roman"/>
                        </a:rPr>
                        <a:t>Result Evaluation/Testing</a:t>
                      </a: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166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1"/>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6F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IN" sz="900" u="none" strike="noStrike" cap="none" dirty="0">
                          <a:latin typeface="Times New Roman" panose="02020603050405020304" pitchFamily="18" charset="0"/>
                          <a:ea typeface="Times New Roman"/>
                          <a:cs typeface="Times New Roman" panose="02020603050405020304" pitchFamily="18" charset="0"/>
                          <a:sym typeface="Times New Roman"/>
                        </a:rPr>
                        <a:t>   Complete</a:t>
                      </a:r>
                      <a:endParaRPr sz="9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extLst>
                  <a:ext uri="{0D108BD9-81ED-4DB2-BD59-A6C34878D82A}">
                    <a16:rowId xmlns:a16="http://schemas.microsoft.com/office/drawing/2014/main" val="10006"/>
                  </a:ext>
                </a:extLst>
              </a:tr>
              <a:tr h="4781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p>
                      <a:pPr marL="50800" marR="0" lvl="0" indent="0" algn="l" rtl="0">
                        <a:lnSpc>
                          <a:spcPct val="100000"/>
                        </a:lnSpc>
                        <a:spcBef>
                          <a:spcPts val="0"/>
                        </a:spcBef>
                        <a:spcAft>
                          <a:spcPts val="0"/>
                        </a:spcAft>
                        <a:buClr>
                          <a:srgbClr val="000000"/>
                        </a:buClr>
                        <a:buSzPts val="900"/>
                        <a:buFont typeface="Arial"/>
                        <a:buNone/>
                      </a:pPr>
                      <a:r>
                        <a:rPr lang="en-GB" sz="900" b="1" u="none" strike="noStrike" cap="none">
                          <a:latin typeface="Times New Roman" panose="02020603050405020304" pitchFamily="18" charset="0"/>
                          <a:ea typeface="Calibri"/>
                          <a:cs typeface="Times New Roman" panose="02020603050405020304" pitchFamily="18" charset="0"/>
                          <a:sym typeface="Calibri"/>
                        </a:rPr>
                        <a:t>Preparation of Project Report/Paper Writing</a:t>
                      </a:r>
                      <a:endParaRPr sz="900" u="none" strike="noStrike" cap="none">
                        <a:latin typeface="Times New Roman" panose="02020603050405020304" pitchFamily="18" charset="0"/>
                        <a:ea typeface="Calibri"/>
                        <a:cs typeface="Times New Roman" panose="02020603050405020304" pitchFamily="18" charset="0"/>
                        <a:sym typeface="Calibri"/>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IN" sz="900" u="none" strike="noStrike" cap="none" dirty="0">
                          <a:latin typeface="Times New Roman" panose="02020603050405020304" pitchFamily="18" charset="0"/>
                          <a:ea typeface="Times New Roman"/>
                          <a:cs typeface="Times New Roman" panose="02020603050405020304" pitchFamily="18" charset="0"/>
                          <a:sym typeface="Times New Roman"/>
                        </a:rPr>
                        <a:t>   Complete</a:t>
                      </a:r>
                      <a:endParaRPr sz="9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3D69B"/>
                    </a:solidFill>
                  </a:tcPr>
                </a:tc>
                <a:extLst>
                  <a:ext uri="{0D108BD9-81ED-4DB2-BD59-A6C34878D82A}">
                    <a16:rowId xmlns:a16="http://schemas.microsoft.com/office/drawing/2014/main" val="10007"/>
                  </a:ext>
                </a:extLst>
              </a:tr>
            </a:tbl>
          </a:graphicData>
        </a:graphic>
      </p:graphicFrame>
      <p:sp>
        <p:nvSpPr>
          <p:cNvPr id="293" name="Google Shape;293;p49"/>
          <p:cNvSpPr txBox="1"/>
          <p:nvPr/>
        </p:nvSpPr>
        <p:spPr>
          <a:xfrm>
            <a:off x="1627474" y="4878008"/>
            <a:ext cx="5889051" cy="166712"/>
          </a:xfrm>
          <a:prstGeom prst="rect">
            <a:avLst/>
          </a:prstGeom>
          <a:noFill/>
          <a:ln>
            <a:noFill/>
          </a:ln>
        </p:spPr>
        <p:txBody>
          <a:bodyPr spcFirstLastPara="1" wrap="square" lIns="0" tIns="12700" rIns="0" bIns="0" anchor="t" anchorCtr="0">
            <a:spAutoFit/>
          </a:bodyPr>
          <a:lstStyle/>
          <a:p>
            <a:pPr lvl="0" algn="ctr">
              <a:spcBef>
                <a:spcPts val="20"/>
              </a:spcBef>
              <a:buClr>
                <a:schemeClr val="dk1"/>
              </a:buClr>
              <a:buSzPts val="1100"/>
            </a:pPr>
            <a:r>
              <a:rPr lang="en-US" sz="1000" dirty="0">
                <a:solidFill>
                  <a:schemeClr val="bg1">
                    <a:lumMod val="50000"/>
                  </a:schemeClr>
                </a:solidFill>
                <a:highlight>
                  <a:schemeClr val="lt1"/>
                </a:highlight>
              </a:rPr>
              <a:t>A Hybrid Firefly–Antlion Optimizer with Energy-Aware Load Balancing for Sustainable Cloud Scheduling</a:t>
            </a:r>
            <a:endParaRPr lang="en-US" sz="1000" u="sng" dirty="0">
              <a:solidFill>
                <a:schemeClr val="bg1">
                  <a:lumMod val="50000"/>
                </a:schemeClr>
              </a:solidFill>
              <a:highlight>
                <a:schemeClr val="lt1"/>
              </a:highlight>
              <a:latin typeface="Calibri"/>
              <a:ea typeface="Calibri"/>
              <a:cs typeface="Calibri"/>
              <a:sym typeface="Calibri"/>
            </a:endParaRPr>
          </a:p>
        </p:txBody>
      </p:sp>
      <p:sp>
        <p:nvSpPr>
          <p:cNvPr id="294" name="Google Shape;294;p49"/>
          <p:cNvSpPr txBox="1"/>
          <p:nvPr/>
        </p:nvSpPr>
        <p:spPr>
          <a:xfrm>
            <a:off x="8433891" y="4821507"/>
            <a:ext cx="17970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GB" sz="1200" dirty="0">
                <a:solidFill>
                  <a:srgbClr val="888888"/>
                </a:solidFill>
                <a:latin typeface="Calibri"/>
                <a:ea typeface="Calibri"/>
                <a:cs typeface="Calibri"/>
                <a:sym typeface="Calibri"/>
              </a:rPr>
              <a:t>25</a:t>
            </a:r>
            <a:endParaRPr sz="12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10"/>
        <p:cNvGrpSpPr/>
        <p:nvPr/>
      </p:nvGrpSpPr>
      <p:grpSpPr>
        <a:xfrm>
          <a:off x="0" y="0"/>
          <a:ext cx="0" cy="0"/>
          <a:chOff x="0" y="0"/>
          <a:chExt cx="0" cy="0"/>
        </a:xfrm>
      </p:grpSpPr>
      <p:pic>
        <p:nvPicPr>
          <p:cNvPr id="311" name="Google Shape;311;p52"/>
          <p:cNvPicPr preferRelativeResize="0"/>
          <p:nvPr/>
        </p:nvPicPr>
        <p:blipFill rotWithShape="1">
          <a:blip r:embed="rId3">
            <a:alphaModFix/>
          </a:blip>
          <a:srcRect/>
          <a:stretch/>
        </p:blipFill>
        <p:spPr>
          <a:xfrm>
            <a:off x="0" y="15477"/>
            <a:ext cx="9144000" cy="685799"/>
          </a:xfrm>
          <a:prstGeom prst="rect">
            <a:avLst/>
          </a:prstGeom>
          <a:noFill/>
          <a:ln>
            <a:noFill/>
          </a:ln>
        </p:spPr>
      </p:pic>
      <p:sp>
        <p:nvSpPr>
          <p:cNvPr id="312" name="Google Shape;312;p52"/>
          <p:cNvSpPr txBox="1">
            <a:spLocks noGrp="1"/>
          </p:cNvSpPr>
          <p:nvPr>
            <p:ph type="title"/>
          </p:nvPr>
        </p:nvSpPr>
        <p:spPr>
          <a:xfrm>
            <a:off x="1779391" y="71247"/>
            <a:ext cx="5585216" cy="587653"/>
          </a:xfrm>
          <a:prstGeom prst="rect">
            <a:avLst/>
          </a:prstGeom>
          <a:noFill/>
          <a:ln>
            <a:noFill/>
          </a:ln>
        </p:spPr>
        <p:txBody>
          <a:bodyPr spcFirstLastPara="1" wrap="square" lIns="0" tIns="155250" rIns="0" bIns="0" anchor="t" anchorCtr="0">
            <a:spAutoFit/>
          </a:bodyPr>
          <a:lstStyle/>
          <a:p>
            <a:pPr marL="655955" lvl="0" indent="0" algn="l" rtl="0">
              <a:lnSpc>
                <a:spcPct val="100000"/>
              </a:lnSpc>
              <a:spcBef>
                <a:spcPts val="0"/>
              </a:spcBef>
              <a:spcAft>
                <a:spcPts val="0"/>
              </a:spcAft>
              <a:buSzPts val="1400"/>
              <a:buNone/>
            </a:pPr>
            <a:r>
              <a:rPr lang="en-GB" dirty="0">
                <a:latin typeface="Times New Roman" panose="02020603050405020304" pitchFamily="18" charset="0"/>
                <a:cs typeface="Times New Roman" panose="02020603050405020304" pitchFamily="18" charset="0"/>
              </a:rPr>
              <a:t>Conclusion and Future scope</a:t>
            </a:r>
            <a:endParaRPr dirty="0">
              <a:latin typeface="Times New Roman" panose="02020603050405020304" pitchFamily="18" charset="0"/>
              <a:cs typeface="Times New Roman" panose="02020603050405020304" pitchFamily="18" charset="0"/>
            </a:endParaRPr>
          </a:p>
        </p:txBody>
      </p:sp>
      <p:sp>
        <p:nvSpPr>
          <p:cNvPr id="313" name="Google Shape;313;p52"/>
          <p:cNvSpPr txBox="1"/>
          <p:nvPr/>
        </p:nvSpPr>
        <p:spPr>
          <a:xfrm>
            <a:off x="252275" y="795350"/>
            <a:ext cx="8340300" cy="461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120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4" name="Google Shape;314;p52"/>
          <p:cNvSpPr txBox="1"/>
          <p:nvPr/>
        </p:nvSpPr>
        <p:spPr>
          <a:xfrm>
            <a:off x="1136025" y="4773678"/>
            <a:ext cx="7147500" cy="29857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315" name="Google Shape;315;p52"/>
          <p:cNvSpPr txBox="1">
            <a:spLocks noGrp="1"/>
          </p:cNvSpPr>
          <p:nvPr>
            <p:ph type="sldNum" idx="12"/>
          </p:nvPr>
        </p:nvSpPr>
        <p:spPr>
          <a:xfrm>
            <a:off x="8408491" y="4850082"/>
            <a:ext cx="243300" cy="1386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32</a:t>
            </a:fld>
            <a:endParaRPr/>
          </a:p>
        </p:txBody>
      </p:sp>
      <p:sp>
        <p:nvSpPr>
          <p:cNvPr id="3" name="TextBox 2">
            <a:extLst>
              <a:ext uri="{FF2B5EF4-FFF2-40B4-BE49-F238E27FC236}">
                <a16:creationId xmlns:a16="http://schemas.microsoft.com/office/drawing/2014/main" id="{A9473614-C5A5-AE7E-3DC1-5220856A5371}"/>
              </a:ext>
            </a:extLst>
          </p:cNvPr>
          <p:cNvSpPr txBox="1"/>
          <p:nvPr/>
        </p:nvSpPr>
        <p:spPr>
          <a:xfrm>
            <a:off x="252274" y="1011044"/>
            <a:ext cx="8639451" cy="2796728"/>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Future Scope</a:t>
            </a:r>
          </a:p>
          <a:p>
            <a:endParaRPr lang="en-US" sz="2000" dirty="0">
              <a:latin typeface="Times New Roman" panose="02020603050405020304" pitchFamily="18" charset="0"/>
              <a:cs typeface="Times New Roman" panose="02020603050405020304" pitchFamily="18" charset="0"/>
            </a:endParaRPr>
          </a:p>
          <a:p>
            <a:pPr>
              <a:lnSpc>
                <a:spcPct val="200000"/>
              </a:lnSpc>
            </a:pPr>
            <a:r>
              <a:rPr lang="en-US" dirty="0">
                <a:latin typeface="Times New Roman" panose="02020603050405020304" pitchFamily="18" charset="0"/>
                <a:cs typeface="Times New Roman" panose="02020603050405020304" pitchFamily="18" charset="0"/>
              </a:rPr>
              <a:t>The hybrid Firefly–Antlion Optimizer (FAO) approach has strong potential for further development. Future work can focus on:</a:t>
            </a:r>
          </a:p>
          <a:p>
            <a:pPr marL="342900" indent="-34290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Refining the model to improve accuracy while reducing computational overhead.</a:t>
            </a:r>
          </a:p>
          <a:p>
            <a:pPr marL="342900" indent="-34290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Implementing real-time task management for dynamic and faster scheduling.</a:t>
            </a:r>
          </a:p>
          <a:p>
            <a:pPr marL="342900" indent="-34290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Extending applications to diverse domains such as cloud computing, IoT networks, and industrial automation.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32"/>
        <p:cNvGrpSpPr/>
        <p:nvPr/>
      </p:nvGrpSpPr>
      <p:grpSpPr>
        <a:xfrm>
          <a:off x="0" y="0"/>
          <a:ext cx="0" cy="0"/>
          <a:chOff x="0" y="0"/>
          <a:chExt cx="0" cy="0"/>
        </a:xfrm>
      </p:grpSpPr>
      <p:pic>
        <p:nvPicPr>
          <p:cNvPr id="333" name="Google Shape;333;p53"/>
          <p:cNvPicPr preferRelativeResize="0"/>
          <p:nvPr/>
        </p:nvPicPr>
        <p:blipFill rotWithShape="1">
          <a:blip r:embed="rId3">
            <a:alphaModFix/>
          </a:blip>
          <a:srcRect/>
          <a:stretch/>
        </p:blipFill>
        <p:spPr>
          <a:xfrm>
            <a:off x="0" y="15477"/>
            <a:ext cx="9144000" cy="685799"/>
          </a:xfrm>
          <a:prstGeom prst="rect">
            <a:avLst/>
          </a:prstGeom>
          <a:noFill/>
          <a:ln>
            <a:noFill/>
          </a:ln>
        </p:spPr>
      </p:pic>
      <p:sp>
        <p:nvSpPr>
          <p:cNvPr id="334" name="Google Shape;334;p53"/>
          <p:cNvSpPr txBox="1">
            <a:spLocks noGrp="1"/>
          </p:cNvSpPr>
          <p:nvPr>
            <p:ph type="title"/>
          </p:nvPr>
        </p:nvSpPr>
        <p:spPr>
          <a:xfrm>
            <a:off x="1779391" y="71247"/>
            <a:ext cx="7810658" cy="587653"/>
          </a:xfrm>
          <a:prstGeom prst="rect">
            <a:avLst/>
          </a:prstGeom>
          <a:noFill/>
          <a:ln>
            <a:noFill/>
          </a:ln>
        </p:spPr>
        <p:txBody>
          <a:bodyPr spcFirstLastPara="1" wrap="square" lIns="0" tIns="155250" rIns="0" bIns="0" anchor="t" anchorCtr="0">
            <a:spAutoFit/>
          </a:bodyPr>
          <a:lstStyle/>
          <a:p>
            <a:pPr marL="655955" lvl="0" indent="0" algn="l" rtl="0">
              <a:lnSpc>
                <a:spcPct val="100000"/>
              </a:lnSpc>
              <a:spcBef>
                <a:spcPts val="0"/>
              </a:spcBef>
              <a:spcAft>
                <a:spcPts val="0"/>
              </a:spcAft>
              <a:buSzPts val="1400"/>
              <a:buNone/>
            </a:pPr>
            <a:r>
              <a:rPr lang="en-GB" dirty="0">
                <a:latin typeface="Times New Roman" panose="02020603050405020304" pitchFamily="18" charset="0"/>
                <a:cs typeface="Times New Roman" panose="02020603050405020304" pitchFamily="18" charset="0"/>
              </a:rPr>
              <a:t>Conclusion and Future scope</a:t>
            </a:r>
            <a:endParaRPr dirty="0">
              <a:latin typeface="Times New Roman" panose="02020603050405020304" pitchFamily="18" charset="0"/>
              <a:cs typeface="Times New Roman" panose="02020603050405020304" pitchFamily="18" charset="0"/>
            </a:endParaRPr>
          </a:p>
        </p:txBody>
      </p:sp>
      <p:sp>
        <p:nvSpPr>
          <p:cNvPr id="335" name="Google Shape;335;p53"/>
          <p:cNvSpPr txBox="1"/>
          <p:nvPr/>
        </p:nvSpPr>
        <p:spPr>
          <a:xfrm>
            <a:off x="379741" y="903847"/>
            <a:ext cx="8384400" cy="37332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rgbClr val="000000"/>
              </a:buClr>
              <a:buSzPts val="1700"/>
              <a:buFont typeface="Arial"/>
              <a:buNone/>
            </a:pPr>
            <a:endParaRPr sz="1800" b="1" i="0" u="none" strike="noStrike" cap="none">
              <a:solidFill>
                <a:schemeClr val="dk1"/>
              </a:solidFill>
              <a:latin typeface="Calibri"/>
              <a:ea typeface="Calibri"/>
              <a:cs typeface="Calibri"/>
              <a:sym typeface="Calibri"/>
            </a:endParaRPr>
          </a:p>
        </p:txBody>
      </p:sp>
      <p:sp>
        <p:nvSpPr>
          <p:cNvPr id="336" name="Google Shape;336;p53"/>
          <p:cNvSpPr txBox="1"/>
          <p:nvPr/>
        </p:nvSpPr>
        <p:spPr>
          <a:xfrm>
            <a:off x="1178546" y="4770094"/>
            <a:ext cx="7024800" cy="29857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sp>
        <p:nvSpPr>
          <p:cNvPr id="337" name="Google Shape;337;p53"/>
          <p:cNvSpPr txBox="1">
            <a:spLocks noGrp="1"/>
          </p:cNvSpPr>
          <p:nvPr>
            <p:ph type="sldNum" idx="12"/>
          </p:nvPr>
        </p:nvSpPr>
        <p:spPr>
          <a:xfrm>
            <a:off x="8408491" y="4850082"/>
            <a:ext cx="243300" cy="1386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33</a:t>
            </a:fld>
            <a:endParaRPr/>
          </a:p>
        </p:txBody>
      </p:sp>
      <p:sp>
        <p:nvSpPr>
          <p:cNvPr id="3" name="TextBox 2">
            <a:extLst>
              <a:ext uri="{FF2B5EF4-FFF2-40B4-BE49-F238E27FC236}">
                <a16:creationId xmlns:a16="http://schemas.microsoft.com/office/drawing/2014/main" id="{7CB5146F-3F00-B57A-0BAF-AF29AF2F7152}"/>
              </a:ext>
            </a:extLst>
          </p:cNvPr>
          <p:cNvSpPr txBox="1"/>
          <p:nvPr/>
        </p:nvSpPr>
        <p:spPr>
          <a:xfrm>
            <a:off x="237893" y="757046"/>
            <a:ext cx="8906107" cy="2211952"/>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Conclusion</a:t>
            </a:r>
          </a:p>
          <a:p>
            <a:pPr>
              <a:lnSpc>
                <a:spcPct val="200000"/>
              </a:lnSpc>
            </a:pPr>
            <a:r>
              <a:rPr lang="en-US" dirty="0">
                <a:latin typeface="Times New Roman" panose="02020603050405020304" pitchFamily="18" charset="0"/>
                <a:cs typeface="Times New Roman" panose="02020603050405020304" pitchFamily="18" charset="0"/>
              </a:rPr>
              <a:t>The Hybrid Firefly–Antlion Optimizer (FAO) with Energy-Aware Load Balancing improves performance and efficiency in distributed computing by combining local and global search methods. It enhances task scheduling accuracy, balances workloads, and reduces energy consumption. The results confirm its effectiveness in dynamic environments, making it a reliable solution for better decision-making and system performance.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62"/>
        <p:cNvGrpSpPr/>
        <p:nvPr/>
      </p:nvGrpSpPr>
      <p:grpSpPr>
        <a:xfrm>
          <a:off x="0" y="0"/>
          <a:ext cx="0" cy="0"/>
          <a:chOff x="0" y="0"/>
          <a:chExt cx="0" cy="0"/>
        </a:xfrm>
      </p:grpSpPr>
      <p:pic>
        <p:nvPicPr>
          <p:cNvPr id="363" name="Google Shape;363;p54"/>
          <p:cNvPicPr preferRelativeResize="0"/>
          <p:nvPr/>
        </p:nvPicPr>
        <p:blipFill rotWithShape="1">
          <a:blip r:embed="rId3">
            <a:alphaModFix/>
          </a:blip>
          <a:srcRect/>
          <a:stretch/>
        </p:blipFill>
        <p:spPr>
          <a:xfrm>
            <a:off x="13" y="0"/>
            <a:ext cx="9143987" cy="685799"/>
          </a:xfrm>
          <a:prstGeom prst="rect">
            <a:avLst/>
          </a:prstGeom>
          <a:noFill/>
          <a:ln>
            <a:noFill/>
          </a:ln>
        </p:spPr>
      </p:pic>
      <p:sp>
        <p:nvSpPr>
          <p:cNvPr id="364" name="Google Shape;364;p54"/>
          <p:cNvSpPr txBox="1">
            <a:spLocks noGrp="1"/>
          </p:cNvSpPr>
          <p:nvPr>
            <p:ph type="title"/>
          </p:nvPr>
        </p:nvSpPr>
        <p:spPr>
          <a:xfrm>
            <a:off x="1779391" y="71247"/>
            <a:ext cx="5585216" cy="587653"/>
          </a:xfrm>
          <a:prstGeom prst="rect">
            <a:avLst/>
          </a:prstGeom>
          <a:noFill/>
          <a:ln>
            <a:noFill/>
          </a:ln>
        </p:spPr>
        <p:txBody>
          <a:bodyPr spcFirstLastPara="1" wrap="square" lIns="0" tIns="155250" rIns="0" bIns="0" anchor="t" anchorCtr="0">
            <a:spAutoFit/>
          </a:bodyPr>
          <a:lstStyle/>
          <a:p>
            <a:pPr marL="811530" lvl="0" indent="0" algn="l" rtl="0">
              <a:lnSpc>
                <a:spcPct val="100000"/>
              </a:lnSpc>
              <a:spcBef>
                <a:spcPts val="0"/>
              </a:spcBef>
              <a:spcAft>
                <a:spcPts val="0"/>
              </a:spcAft>
              <a:buSzPts val="1400"/>
              <a:buNone/>
            </a:pPr>
            <a:r>
              <a:rPr lang="en-GB" dirty="0">
                <a:latin typeface="Times New Roman" panose="02020603050405020304" pitchFamily="18" charset="0"/>
                <a:cs typeface="Times New Roman" panose="02020603050405020304" pitchFamily="18" charset="0"/>
              </a:rPr>
              <a:t>How it is useful for Society</a:t>
            </a:r>
            <a:endParaRPr dirty="0">
              <a:latin typeface="Times New Roman" panose="02020603050405020304" pitchFamily="18" charset="0"/>
              <a:cs typeface="Times New Roman" panose="02020603050405020304" pitchFamily="18" charset="0"/>
            </a:endParaRPr>
          </a:p>
        </p:txBody>
      </p:sp>
      <p:sp>
        <p:nvSpPr>
          <p:cNvPr id="365" name="Google Shape;365;p54"/>
          <p:cNvSpPr txBox="1"/>
          <p:nvPr/>
        </p:nvSpPr>
        <p:spPr>
          <a:xfrm>
            <a:off x="377550" y="923276"/>
            <a:ext cx="8388900" cy="361800"/>
          </a:xfrm>
          <a:prstGeom prst="rect">
            <a:avLst/>
          </a:prstGeom>
          <a:noFill/>
          <a:ln>
            <a:noFill/>
          </a:ln>
        </p:spPr>
        <p:txBody>
          <a:bodyPr spcFirstLastPara="1" wrap="square" lIns="0" tIns="83800" rIns="0" bIns="0" anchor="t" anchorCtr="0">
            <a:spAutoFit/>
          </a:bodyPr>
          <a:lstStyle/>
          <a:p>
            <a:pPr marL="457200" marR="0" lvl="0" indent="-228600" algn="just" rtl="0">
              <a:lnSpc>
                <a:spcPct val="100000"/>
              </a:lnSpc>
              <a:spcBef>
                <a:spcPts val="1200"/>
              </a:spcBef>
              <a:spcAft>
                <a:spcPts val="0"/>
              </a:spcAft>
              <a:buClr>
                <a:schemeClr val="dk1"/>
              </a:buClr>
              <a:buSzPts val="1800"/>
              <a:buFont typeface="Calibri"/>
              <a:buNone/>
            </a:pPr>
            <a:endParaRPr sz="1800" b="1" i="0" u="none" strike="noStrike" cap="none">
              <a:solidFill>
                <a:schemeClr val="dk1"/>
              </a:solidFill>
              <a:latin typeface="Calibri"/>
              <a:ea typeface="Calibri"/>
              <a:cs typeface="Calibri"/>
              <a:sym typeface="Calibri"/>
            </a:endParaRPr>
          </a:p>
        </p:txBody>
      </p:sp>
      <p:sp>
        <p:nvSpPr>
          <p:cNvPr id="366" name="Google Shape;366;p54"/>
          <p:cNvSpPr txBox="1">
            <a:spLocks noGrp="1"/>
          </p:cNvSpPr>
          <p:nvPr>
            <p:ph type="sldNum" idx="12"/>
          </p:nvPr>
        </p:nvSpPr>
        <p:spPr>
          <a:xfrm>
            <a:off x="8408491" y="4850082"/>
            <a:ext cx="243300" cy="1386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34</a:t>
            </a:fld>
            <a:endParaRPr/>
          </a:p>
        </p:txBody>
      </p:sp>
      <p:sp>
        <p:nvSpPr>
          <p:cNvPr id="367" name="Google Shape;367;p54"/>
          <p:cNvSpPr txBox="1"/>
          <p:nvPr/>
        </p:nvSpPr>
        <p:spPr>
          <a:xfrm>
            <a:off x="858304" y="4804976"/>
            <a:ext cx="7264500" cy="338524"/>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Calibri"/>
                <a:ea typeface="Calibri"/>
                <a:cs typeface="Calibri"/>
                <a:sym typeface="Calibri"/>
              </a:rPr>
              <a:t>A Hybrid Firefly–Antlion Optimizer with Energy-Aware Load Balancing for Sustainable Cloud Scheduling</a:t>
            </a:r>
            <a:endParaRPr sz="1000" b="0" i="0" u="none" strike="noStrike" cap="none" dirty="0">
              <a:solidFill>
                <a:schemeClr val="dk2"/>
              </a:solidFill>
              <a:highlight>
                <a:schemeClr val="lt1"/>
              </a:highlight>
              <a:latin typeface="Calibri"/>
              <a:ea typeface="Calibri"/>
              <a:cs typeface="Calibri"/>
              <a:sym typeface="Calibri"/>
            </a:endParaRPr>
          </a:p>
        </p:txBody>
      </p:sp>
      <p:grpSp>
        <p:nvGrpSpPr>
          <p:cNvPr id="368" name="Google Shape;368;p54"/>
          <p:cNvGrpSpPr/>
          <p:nvPr/>
        </p:nvGrpSpPr>
        <p:grpSpPr>
          <a:xfrm>
            <a:off x="377550" y="1317351"/>
            <a:ext cx="8388900" cy="3068550"/>
            <a:chOff x="0" y="32275"/>
            <a:chExt cx="8388900" cy="3068550"/>
          </a:xfrm>
        </p:grpSpPr>
        <p:sp>
          <p:nvSpPr>
            <p:cNvPr id="369" name="Google Shape;369;p54"/>
            <p:cNvSpPr/>
            <p:nvPr/>
          </p:nvSpPr>
          <p:spPr>
            <a:xfrm>
              <a:off x="0" y="32275"/>
              <a:ext cx="8388900" cy="579149"/>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4"/>
            <p:cNvSpPr txBox="1"/>
            <p:nvPr/>
          </p:nvSpPr>
          <p:spPr>
            <a:xfrm>
              <a:off x="28272" y="60547"/>
              <a:ext cx="8332356" cy="522605"/>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000000"/>
                </a:buClr>
                <a:buSzPts val="1500"/>
                <a:buFont typeface="Arial"/>
                <a:buNone/>
              </a:pP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Energy Efficiency &amp; Sustainability:</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Reduces energy consumption in cloud data </a:t>
              </a:r>
              <a:r>
                <a:rPr lang="en-GB" sz="1500" b="0" i="0" u="none" strike="noStrike" cap="none" dirty="0" err="1">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centers</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contributing to </a:t>
              </a: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lower carbon emissions</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and a greener environment</a:t>
              </a:r>
              <a:r>
                <a:rPr lang="en-GB" sz="1500" b="0" i="0" u="none" strike="noStrike" cap="none" dirty="0">
                  <a:solidFill>
                    <a:schemeClr val="lt1"/>
                  </a:solidFill>
                  <a:latin typeface="Times New Roman" panose="02020603050405020304" pitchFamily="18" charset="0"/>
                  <a:cs typeface="Times New Roman" panose="02020603050405020304" pitchFamily="18" charset="0"/>
                  <a:sym typeface="Arial"/>
                </a:rPr>
                <a:t>.</a:t>
              </a:r>
              <a:endParaRPr sz="15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sp>
          <p:nvSpPr>
            <p:cNvPr id="371" name="Google Shape;371;p54"/>
            <p:cNvSpPr/>
            <p:nvPr/>
          </p:nvSpPr>
          <p:spPr>
            <a:xfrm>
              <a:off x="0" y="654625"/>
              <a:ext cx="8388900" cy="579149"/>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4"/>
            <p:cNvSpPr txBox="1"/>
            <p:nvPr/>
          </p:nvSpPr>
          <p:spPr>
            <a:xfrm>
              <a:off x="28272" y="682897"/>
              <a:ext cx="8332356" cy="522605"/>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000000"/>
                </a:buClr>
                <a:buSzPts val="1500"/>
                <a:buFont typeface="Arial"/>
                <a:buNone/>
              </a:pP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Cost Savings:</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Efficient resource utilization lowers operational costs for cloud service providers, which can </a:t>
              </a: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benefit businesses and consumers</a:t>
              </a:r>
              <a:r>
                <a:rPr lang="en-GB" sz="1500" b="0" i="0" u="none" strike="noStrike" cap="none" dirty="0">
                  <a:solidFill>
                    <a:schemeClr val="lt1"/>
                  </a:solidFill>
                  <a:latin typeface="Times New Roman" panose="02020603050405020304" pitchFamily="18" charset="0"/>
                  <a:cs typeface="Times New Roman" panose="02020603050405020304" pitchFamily="18" charset="0"/>
                  <a:sym typeface="Arial"/>
                </a:rPr>
                <a:t>.</a:t>
              </a:r>
              <a:endParaRPr sz="15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sp>
          <p:nvSpPr>
            <p:cNvPr id="373" name="Google Shape;373;p54"/>
            <p:cNvSpPr/>
            <p:nvPr/>
          </p:nvSpPr>
          <p:spPr>
            <a:xfrm>
              <a:off x="0" y="1276976"/>
              <a:ext cx="8388900" cy="579149"/>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4"/>
            <p:cNvSpPr txBox="1"/>
            <p:nvPr/>
          </p:nvSpPr>
          <p:spPr>
            <a:xfrm>
              <a:off x="28272" y="1305248"/>
              <a:ext cx="8332356" cy="522605"/>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000000"/>
                </a:buClr>
                <a:buSzPts val="1500"/>
                <a:buFont typeface="Arial"/>
                <a:buNone/>
              </a:pP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Improved Cloud Performance:</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Faster task execution and better load balancing enhance </a:t>
              </a: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user experience</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for online services, apps, and digital platforms</a:t>
              </a:r>
              <a:r>
                <a:rPr lang="en-GB" sz="1500" b="0" i="0" u="none" strike="noStrike" cap="none" dirty="0">
                  <a:solidFill>
                    <a:schemeClr val="lt1"/>
                  </a:solidFill>
                  <a:latin typeface="Times New Roman" panose="02020603050405020304" pitchFamily="18" charset="0"/>
                  <a:cs typeface="Times New Roman" panose="02020603050405020304" pitchFamily="18" charset="0"/>
                  <a:sym typeface="Arial"/>
                </a:rPr>
                <a:t>.</a:t>
              </a:r>
              <a:endParaRPr sz="15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sp>
          <p:nvSpPr>
            <p:cNvPr id="375" name="Google Shape;375;p54"/>
            <p:cNvSpPr/>
            <p:nvPr/>
          </p:nvSpPr>
          <p:spPr>
            <a:xfrm>
              <a:off x="0" y="1899326"/>
              <a:ext cx="8388900" cy="579149"/>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4"/>
            <p:cNvSpPr txBox="1"/>
            <p:nvPr/>
          </p:nvSpPr>
          <p:spPr>
            <a:xfrm>
              <a:off x="28272" y="1927598"/>
              <a:ext cx="8332356" cy="522605"/>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000000"/>
                </a:buClr>
                <a:buSzPts val="1500"/>
                <a:buFont typeface="Arial"/>
                <a:buNone/>
              </a:pP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Supports Green Technology:</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Promotes </a:t>
              </a: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sustainable IT practices</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helping society move toward environmentally responsible computing.</a:t>
              </a:r>
              <a:endParaRPr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377" name="Google Shape;377;p54"/>
            <p:cNvSpPr/>
            <p:nvPr/>
          </p:nvSpPr>
          <p:spPr>
            <a:xfrm>
              <a:off x="0" y="2521676"/>
              <a:ext cx="8388900" cy="579149"/>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4"/>
            <p:cNvSpPr txBox="1"/>
            <p:nvPr/>
          </p:nvSpPr>
          <p:spPr>
            <a:xfrm>
              <a:off x="28272" y="2549948"/>
              <a:ext cx="8332356" cy="522605"/>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rgbClr val="000000"/>
                </a:buClr>
                <a:buSzPts val="1500"/>
                <a:buFont typeface="Arial"/>
                <a:buNone/>
              </a:pP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Scalable Solutions:</a:t>
              </a:r>
              <a:r>
                <a:rPr lang="en-GB" sz="1500" b="0"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 Enables large-scale cloud applications in education, healthcare, and smart cities to run more efficiently, benefiting </a:t>
              </a:r>
              <a:r>
                <a:rPr lang="en-GB" sz="1500" b="1" i="0" u="none" strike="noStrike" cap="none" dirty="0">
                  <a:solidFill>
                    <a:schemeClr val="lt1"/>
                  </a:solidFill>
                  <a:latin typeface="Times New Roman" panose="02020603050405020304" pitchFamily="18" charset="0"/>
                  <a:ea typeface="Calibri" panose="020F0502020204030204" pitchFamily="34" charset="0"/>
                  <a:cs typeface="Times New Roman" panose="02020603050405020304" pitchFamily="18" charset="0"/>
                  <a:sym typeface="Arial"/>
                </a:rPr>
                <a:t>societal development</a:t>
              </a:r>
              <a:r>
                <a:rPr lang="en-GB" sz="1500" b="0" i="0" u="none" strike="noStrike" cap="none" dirty="0">
                  <a:solidFill>
                    <a:schemeClr val="lt1"/>
                  </a:solidFill>
                  <a:latin typeface="Times New Roman" panose="02020603050405020304" pitchFamily="18" charset="0"/>
                  <a:cs typeface="Times New Roman" panose="02020603050405020304" pitchFamily="18" charset="0"/>
                  <a:sym typeface="Arial"/>
                </a:rPr>
                <a:t>.</a:t>
              </a:r>
              <a:endParaRPr sz="15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82"/>
        <p:cNvGrpSpPr/>
        <p:nvPr/>
      </p:nvGrpSpPr>
      <p:grpSpPr>
        <a:xfrm>
          <a:off x="0" y="0"/>
          <a:ext cx="0" cy="0"/>
          <a:chOff x="0" y="0"/>
          <a:chExt cx="0" cy="0"/>
        </a:xfrm>
      </p:grpSpPr>
      <p:sp>
        <p:nvSpPr>
          <p:cNvPr id="383" name="Google Shape;383;p55"/>
          <p:cNvSpPr txBox="1">
            <a:spLocks noGrp="1"/>
          </p:cNvSpPr>
          <p:nvPr>
            <p:ph type="ftr" idx="11"/>
          </p:nvPr>
        </p:nvSpPr>
        <p:spPr>
          <a:xfrm>
            <a:off x="1679875" y="4850081"/>
            <a:ext cx="7135200" cy="190180"/>
          </a:xfrm>
          <a:prstGeom prst="rect">
            <a:avLst/>
          </a:prstGeom>
          <a:noFill/>
          <a:ln>
            <a:noFill/>
          </a:ln>
        </p:spPr>
        <p:txBody>
          <a:bodyPr spcFirstLastPara="1" wrap="square" lIns="0" tIns="0" rIns="0" bIns="0" anchor="t" anchorCtr="0">
            <a:spAutoFit/>
          </a:bodyPr>
          <a:lstStyle/>
          <a:p>
            <a:pPr marL="12700" lvl="0" indent="0" algn="ctr" rtl="0">
              <a:lnSpc>
                <a:spcPct val="103333"/>
              </a:lnSpc>
              <a:spcBef>
                <a:spcPts val="0"/>
              </a:spcBef>
              <a:spcAft>
                <a:spcPts val="0"/>
              </a:spcAft>
              <a:buClr>
                <a:schemeClr val="dk1"/>
              </a:buClr>
              <a:buSzPts val="1400"/>
              <a:buFont typeface="Arial"/>
              <a:buNone/>
            </a:pPr>
            <a:endParaRPr dirty="0"/>
          </a:p>
        </p:txBody>
      </p:sp>
      <p:sp>
        <p:nvSpPr>
          <p:cNvPr id="384" name="Google Shape;384;p55"/>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35</a:t>
            </a:fld>
            <a:endParaRPr/>
          </a:p>
        </p:txBody>
      </p:sp>
      <p:sp>
        <p:nvSpPr>
          <p:cNvPr id="385" name="Google Shape;385;p55"/>
          <p:cNvSpPr txBox="1"/>
          <p:nvPr/>
        </p:nvSpPr>
        <p:spPr>
          <a:xfrm>
            <a:off x="257395" y="1007568"/>
            <a:ext cx="8394300" cy="3459922"/>
          </a:xfrm>
          <a:prstGeom prst="rect">
            <a:avLst/>
          </a:prstGeom>
          <a:noFill/>
          <a:ln>
            <a:noFill/>
          </a:ln>
        </p:spPr>
        <p:txBody>
          <a:bodyPr spcFirstLastPara="1" wrap="square" lIns="0" tIns="12700" rIns="0" bIns="0" anchor="t" anchorCtr="0">
            <a:spAutoFit/>
          </a:bodyPr>
          <a:lstStyle/>
          <a:p>
            <a:pPr marL="457200" marR="0" lvl="0" indent="-317500" algn="just" rtl="0">
              <a:lnSpc>
                <a:spcPct val="100000"/>
              </a:lnSpc>
              <a:spcBef>
                <a:spcPts val="0"/>
              </a:spcBef>
              <a:spcAft>
                <a:spcPts val="0"/>
              </a:spcAft>
              <a:buClr>
                <a:srgbClr val="000000"/>
              </a:buClr>
              <a:buSzPts val="1400"/>
              <a:buFont typeface="Calibri"/>
              <a:buAutoNum type="arabicPeriod"/>
            </a:pP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S. R. Al-Emari, Y. </a:t>
            </a:r>
            <a:r>
              <a:rPr lang="en-GB" sz="1400" b="0" i="0" u="none" strike="noStrike" cap="none" dirty="0" err="1">
                <a:solidFill>
                  <a:srgbClr val="000000"/>
                </a:solidFill>
                <a:latin typeface="Times New Roman" panose="02020603050405020304" pitchFamily="18" charset="0"/>
                <a:ea typeface="Calibri"/>
                <a:cs typeface="Times New Roman" panose="02020603050405020304" pitchFamily="18" charset="0"/>
                <a:sym typeface="Calibri"/>
              </a:rPr>
              <a:t>Sanjalawe</a:t>
            </a: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 and B. A. </a:t>
            </a:r>
            <a:r>
              <a:rPr lang="en-GB" sz="1400" b="0" i="0" u="none" strike="noStrike" cap="none" dirty="0" err="1">
                <a:solidFill>
                  <a:srgbClr val="000000"/>
                </a:solidFill>
                <a:latin typeface="Times New Roman" panose="02020603050405020304" pitchFamily="18" charset="0"/>
                <a:ea typeface="Calibri"/>
                <a:cs typeface="Times New Roman" panose="02020603050405020304" pitchFamily="18" charset="0"/>
                <a:sym typeface="Calibri"/>
              </a:rPr>
              <a:t>Allehyani</a:t>
            </a: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 "Optimizing Cloud Load Balancing with a Hybrid Bio-Inspired Approach: Enhancing Performance and Scalability," in Proc. 2025 1st Int. Conf. Computational Intelligence Approaches and Applications (ICCIAA), Amman, Jordan, Jun. 2025.</a:t>
            </a:r>
            <a:endParaRPr lang="en-GB" dirty="0">
              <a:latin typeface="Times New Roman" panose="02020603050405020304" pitchFamily="18" charset="0"/>
              <a:ea typeface="Calibri"/>
              <a:cs typeface="Times New Roman" panose="02020603050405020304" pitchFamily="18" charset="0"/>
              <a:sym typeface="Calibri"/>
            </a:endParaRPr>
          </a:p>
          <a:p>
            <a:pPr marL="457200" marR="0" lvl="0" indent="-317500" algn="just" rtl="0">
              <a:lnSpc>
                <a:spcPct val="100000"/>
              </a:lnSpc>
              <a:spcBef>
                <a:spcPts val="0"/>
              </a:spcBef>
              <a:spcAft>
                <a:spcPts val="0"/>
              </a:spcAft>
              <a:buClr>
                <a:srgbClr val="000000"/>
              </a:buClr>
              <a:buSzPts val="1400"/>
              <a:buFont typeface="Calibri"/>
              <a:buAutoNum type="arabicPeriod"/>
            </a:pPr>
            <a:endPar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457200" marR="0" lvl="0" indent="-317500" algn="just" rtl="0">
              <a:lnSpc>
                <a:spcPct val="100000"/>
              </a:lnSpc>
              <a:spcBef>
                <a:spcPts val="0"/>
              </a:spcBef>
              <a:spcAft>
                <a:spcPts val="0"/>
              </a:spcAft>
              <a:buClr>
                <a:srgbClr val="000000"/>
              </a:buClr>
              <a:buSzPts val="1400"/>
              <a:buFont typeface="Calibri"/>
              <a:buAutoNum type="arabicPeriod"/>
            </a:pPr>
            <a:endParaRPr lang="en-GB" dirty="0">
              <a:latin typeface="Times New Roman" panose="02020603050405020304" pitchFamily="18" charset="0"/>
              <a:ea typeface="Calibri"/>
              <a:cs typeface="Times New Roman" panose="02020603050405020304" pitchFamily="18" charset="0"/>
              <a:sym typeface="Calibri"/>
            </a:endParaRPr>
          </a:p>
          <a:p>
            <a:pPr marL="457200" marR="0" lvl="0" indent="-317500" algn="just" rtl="0">
              <a:lnSpc>
                <a:spcPct val="100000"/>
              </a:lnSpc>
              <a:spcBef>
                <a:spcPts val="0"/>
              </a:spcBef>
              <a:spcAft>
                <a:spcPts val="0"/>
              </a:spcAft>
              <a:buClr>
                <a:srgbClr val="000000"/>
              </a:buClr>
              <a:buSzPts val="1400"/>
              <a:buFont typeface="Calibri"/>
              <a:buAutoNum type="arabicPeriod"/>
            </a:pP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M. </a:t>
            </a:r>
            <a:r>
              <a:rPr lang="en-GB" sz="1400" b="0" i="0" u="none" strike="noStrike" cap="none" dirty="0" err="1">
                <a:solidFill>
                  <a:srgbClr val="000000"/>
                </a:solidFill>
                <a:latin typeface="Times New Roman" panose="02020603050405020304" pitchFamily="18" charset="0"/>
                <a:ea typeface="Calibri"/>
                <a:cs typeface="Times New Roman" panose="02020603050405020304" pitchFamily="18" charset="0"/>
                <a:sym typeface="Calibri"/>
              </a:rPr>
              <a:t>Shrimal</a:t>
            </a: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 A. K. Sharma and M. Patel, "A Novel Hybrid Load Balancing Method to Achieve Quality of Service(QoS) in Cloud-Based Environments," 2024 3rd International Conference on Sentiment Analysis and Deep Learning (ICSADL), </a:t>
            </a:r>
            <a:r>
              <a:rPr lang="en-GB" sz="1400" b="0" i="0" u="none" strike="noStrike" cap="none" dirty="0" err="1">
                <a:solidFill>
                  <a:srgbClr val="000000"/>
                </a:solidFill>
                <a:latin typeface="Times New Roman" panose="02020603050405020304" pitchFamily="18" charset="0"/>
                <a:ea typeface="Calibri"/>
                <a:cs typeface="Times New Roman" panose="02020603050405020304" pitchFamily="18" charset="0"/>
                <a:sym typeface="Calibri"/>
              </a:rPr>
              <a:t>Bhimdatta</a:t>
            </a: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 Nepal, 2024. </a:t>
            </a:r>
          </a:p>
          <a:p>
            <a:pPr marL="457200" marR="0" lvl="0" indent="-317500" algn="just" rtl="0">
              <a:lnSpc>
                <a:spcPct val="100000"/>
              </a:lnSpc>
              <a:spcBef>
                <a:spcPts val="0"/>
              </a:spcBef>
              <a:spcAft>
                <a:spcPts val="0"/>
              </a:spcAft>
              <a:buClr>
                <a:srgbClr val="000000"/>
              </a:buClr>
              <a:buSzPts val="1400"/>
              <a:buFont typeface="Calibri"/>
              <a:buAutoNum type="arabicPeriod"/>
            </a:pPr>
            <a:endParaRPr lang="en-GB" dirty="0">
              <a:latin typeface="Times New Roman" panose="02020603050405020304" pitchFamily="18" charset="0"/>
              <a:ea typeface="Calibri"/>
              <a:cs typeface="Times New Roman" panose="02020603050405020304" pitchFamily="18" charset="0"/>
              <a:sym typeface="Calibri"/>
            </a:endParaRPr>
          </a:p>
          <a:p>
            <a:pPr marL="457200" marR="0" lvl="0" indent="-317500" algn="just" rtl="0">
              <a:lnSpc>
                <a:spcPct val="100000"/>
              </a:lnSpc>
              <a:spcBef>
                <a:spcPts val="0"/>
              </a:spcBef>
              <a:spcAft>
                <a:spcPts val="0"/>
              </a:spcAft>
              <a:buClr>
                <a:srgbClr val="000000"/>
              </a:buClr>
              <a:buSzPts val="1400"/>
              <a:buFont typeface="Calibri"/>
              <a:buAutoNum type="arabicPeriod"/>
            </a:pPr>
            <a:endPar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457200" marR="0" lvl="0" indent="-317500" algn="just" rtl="0">
              <a:lnSpc>
                <a:spcPct val="100000"/>
              </a:lnSpc>
              <a:spcBef>
                <a:spcPts val="0"/>
              </a:spcBef>
              <a:spcAft>
                <a:spcPts val="0"/>
              </a:spcAft>
              <a:buClr>
                <a:srgbClr val="000000"/>
              </a:buClr>
              <a:buSzPts val="1400"/>
              <a:buFont typeface="Calibri"/>
              <a:buAutoNum type="arabicPeriod"/>
            </a:pPr>
            <a:endParaRPr lang="en-GB" dirty="0">
              <a:latin typeface="Times New Roman" panose="02020603050405020304" pitchFamily="18" charset="0"/>
              <a:ea typeface="Calibri"/>
              <a:cs typeface="Times New Roman" panose="02020603050405020304" pitchFamily="18" charset="0"/>
              <a:sym typeface="Calibri"/>
            </a:endParaRPr>
          </a:p>
          <a:p>
            <a:pPr marL="457200" marR="0" lvl="0" indent="-317500" algn="just" rtl="0">
              <a:lnSpc>
                <a:spcPct val="100000"/>
              </a:lnSpc>
              <a:spcBef>
                <a:spcPts val="0"/>
              </a:spcBef>
              <a:spcAft>
                <a:spcPts val="0"/>
              </a:spcAft>
              <a:buClr>
                <a:srgbClr val="000000"/>
              </a:buClr>
              <a:buSzPts val="1400"/>
              <a:buFont typeface="Calibri"/>
              <a:buAutoNum type="arabicPeriod"/>
            </a:pPr>
            <a:r>
              <a:rPr lang="en-GB"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rPr>
              <a:t>J. Gao, "Simulation Design of Load Balancing Optimization for Cloud Computing Data Stream Storage Based on Big Data Algorithms," 2024 Asia-Pacific Conference on Software Engineering, Social Network Analysis and Intelligent Computing (SSAIC), New Delhi, India, 2024.</a:t>
            </a:r>
            <a:endParaRPr sz="14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12700" marR="0" lvl="0" indent="0" algn="just" rtl="0">
              <a:lnSpc>
                <a:spcPct val="100000"/>
              </a:lnSpc>
              <a:spcBef>
                <a:spcPts val="0"/>
              </a:spcBef>
              <a:spcAft>
                <a:spcPts val="0"/>
              </a:spcAft>
              <a:buClr>
                <a:schemeClr val="dk1"/>
              </a:buClr>
              <a:buSzPts val="1100"/>
              <a:buFont typeface="Arial"/>
              <a:buNone/>
            </a:pPr>
            <a:endParaRPr sz="1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12700" marR="0" lvl="0" indent="0" algn="just" rtl="0">
              <a:lnSpc>
                <a:spcPct val="100000"/>
              </a:lnSpc>
              <a:spcBef>
                <a:spcPts val="0"/>
              </a:spcBef>
              <a:spcAft>
                <a:spcPts val="0"/>
              </a:spcAft>
              <a:buClr>
                <a:schemeClr val="dk1"/>
              </a:buClr>
              <a:buSzPts val="1100"/>
              <a:buFont typeface="Arial"/>
              <a:buNone/>
            </a:pPr>
            <a:endParaRPr sz="1400" b="0" i="0" u="none" strike="noStrike" cap="none" dirty="0">
              <a:solidFill>
                <a:srgbClr val="000000"/>
              </a:solidFill>
              <a:latin typeface="Calibri"/>
              <a:ea typeface="Calibri"/>
              <a:cs typeface="Calibri"/>
              <a:sym typeface="Calibri"/>
            </a:endParaRPr>
          </a:p>
        </p:txBody>
      </p:sp>
      <p:sp>
        <p:nvSpPr>
          <p:cNvPr id="386" name="Google Shape;386;p55"/>
          <p:cNvSpPr txBox="1">
            <a:spLocks noGrp="1"/>
          </p:cNvSpPr>
          <p:nvPr>
            <p:ph type="title"/>
          </p:nvPr>
        </p:nvSpPr>
        <p:spPr>
          <a:xfrm>
            <a:off x="1779391" y="71247"/>
            <a:ext cx="5585216" cy="566802"/>
          </a:xfrm>
          <a:prstGeom prst="rect">
            <a:avLst/>
          </a:prstGeom>
          <a:noFill/>
          <a:ln>
            <a:noFill/>
          </a:ln>
        </p:spPr>
        <p:txBody>
          <a:bodyPr spcFirstLastPara="1" wrap="square" lIns="0" tIns="134600" rIns="0" bIns="0" anchor="t" anchorCtr="0">
            <a:spAutoFit/>
          </a:bodyPr>
          <a:lstStyle/>
          <a:p>
            <a:pPr marL="1974214" lvl="0" indent="0" algn="l" rtl="0">
              <a:lnSpc>
                <a:spcPct val="100000"/>
              </a:lnSpc>
              <a:spcBef>
                <a:spcPts val="0"/>
              </a:spcBef>
              <a:spcAft>
                <a:spcPts val="0"/>
              </a:spcAft>
              <a:buSzPts val="1400"/>
              <a:buNone/>
            </a:pPr>
            <a:r>
              <a:rPr lang="en-GB"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387" name="Google Shape;387;p55"/>
          <p:cNvSpPr txBox="1"/>
          <p:nvPr/>
        </p:nvSpPr>
        <p:spPr>
          <a:xfrm>
            <a:off x="2077665" y="4804897"/>
            <a:ext cx="6107801" cy="24618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1000" b="0" i="0" u="none" strike="noStrike" cap="none"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b="0" i="0" u="none" strike="noStrike" cap="none" dirty="0">
              <a:solidFill>
                <a:schemeClr val="dk2"/>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6"/>
          <p:cNvSpPr txBox="1">
            <a:spLocks noGrp="1"/>
          </p:cNvSpPr>
          <p:nvPr>
            <p:ph type="title"/>
          </p:nvPr>
        </p:nvSpPr>
        <p:spPr>
          <a:xfrm>
            <a:off x="1398391" y="71247"/>
            <a:ext cx="5585100" cy="430887"/>
          </a:xfrm>
          <a:prstGeom prst="rect">
            <a:avLst/>
          </a:prstGeom>
          <a:noFill/>
          <a:ln>
            <a:noFill/>
          </a:ln>
        </p:spPr>
        <p:txBody>
          <a:bodyPr spcFirstLastPara="1" wrap="square" lIns="0" tIns="0" rIns="0" bIns="0" anchor="t" anchorCtr="0">
            <a:spAutoFit/>
          </a:bodyPr>
          <a:lstStyle/>
          <a:p>
            <a:pPr marL="1974213" lvl="0" indent="0" algn="l" rtl="0">
              <a:lnSpc>
                <a:spcPct val="100000"/>
              </a:lnSpc>
              <a:spcBef>
                <a:spcPts val="0"/>
              </a:spcBef>
              <a:spcAft>
                <a:spcPts val="0"/>
              </a:spcAft>
              <a:buClr>
                <a:schemeClr val="dk1"/>
              </a:buClr>
              <a:buSzPts val="1400"/>
              <a:buFont typeface="Arial"/>
              <a:buNone/>
            </a:pPr>
            <a:r>
              <a:rPr lang="en-GB"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393" name="Google Shape;393;p56"/>
          <p:cNvSpPr txBox="1">
            <a:spLocks noGrp="1"/>
          </p:cNvSpPr>
          <p:nvPr>
            <p:ph type="body" idx="1"/>
          </p:nvPr>
        </p:nvSpPr>
        <p:spPr>
          <a:xfrm>
            <a:off x="406647" y="919978"/>
            <a:ext cx="8470800" cy="3693319"/>
          </a:xfrm>
          <a:prstGeom prst="rect">
            <a:avLst/>
          </a:prstGeom>
          <a:noFill/>
          <a:ln>
            <a:noFill/>
          </a:ln>
        </p:spPr>
        <p:txBody>
          <a:bodyPr spcFirstLastPara="1" wrap="square" lIns="0" tIns="0" rIns="0" bIns="0" anchor="t" anchorCtr="0">
            <a:spAutoFit/>
          </a:bodyPr>
          <a:lstStyle/>
          <a:p>
            <a:pPr marL="0" lvl="0" indent="0" algn="just" rtl="0">
              <a:lnSpc>
                <a:spcPct val="100000"/>
              </a:lnSpc>
              <a:spcBef>
                <a:spcPts val="0"/>
              </a:spcBef>
              <a:spcAft>
                <a:spcPts val="0"/>
              </a:spcAft>
              <a:buSzPts val="1400"/>
              <a:buNone/>
            </a:pPr>
            <a:r>
              <a:rPr lang="en-GB" sz="1500" dirty="0">
                <a:latin typeface="Times New Roman" panose="02020603050405020304" pitchFamily="18" charset="0"/>
                <a:cs typeface="Times New Roman" panose="02020603050405020304" pitchFamily="18" charset="0"/>
              </a:rPr>
              <a:t>4. R. R. </a:t>
            </a:r>
            <a:r>
              <a:rPr lang="en-GB" sz="1500" dirty="0" err="1">
                <a:latin typeface="Times New Roman" panose="02020603050405020304" pitchFamily="18" charset="0"/>
                <a:cs typeface="Times New Roman" panose="02020603050405020304" pitchFamily="18" charset="0"/>
              </a:rPr>
              <a:t>Dornala</a:t>
            </a:r>
            <a:r>
              <a:rPr lang="en-GB" sz="1500" dirty="0">
                <a:latin typeface="Times New Roman" panose="02020603050405020304" pitchFamily="18" charset="0"/>
                <a:cs typeface="Times New Roman" panose="02020603050405020304" pitchFamily="18" charset="0"/>
              </a:rPr>
              <a:t>, "An Advanced Multi-Model Cloud Services using Load Balancing Algorithms," 2023 5th International Conference on Inventive Research in Computing Applications (ICIRCA), Coimbatore, India, 2023, pp. 1065-1071</a:t>
            </a:r>
          </a:p>
          <a:p>
            <a:pPr marL="0" lvl="0" indent="0" algn="just" rtl="0">
              <a:lnSpc>
                <a:spcPct val="100000"/>
              </a:lnSpc>
              <a:spcBef>
                <a:spcPts val="0"/>
              </a:spcBef>
              <a:spcAft>
                <a:spcPts val="0"/>
              </a:spcAft>
              <a:buSzPts val="1400"/>
              <a:buNone/>
            </a:pPr>
            <a:endParaRPr lang="en-GB" sz="1500" dirty="0">
              <a:latin typeface="Times New Roman" panose="02020603050405020304" pitchFamily="18" charset="0"/>
              <a:cs typeface="Times New Roman" panose="02020603050405020304" pitchFamily="18" charset="0"/>
            </a:endParaRPr>
          </a:p>
          <a:p>
            <a:pPr marL="0" lvl="0" indent="0" algn="just" rtl="0">
              <a:lnSpc>
                <a:spcPct val="100000"/>
              </a:lnSpc>
              <a:spcBef>
                <a:spcPts val="0"/>
              </a:spcBef>
              <a:spcAft>
                <a:spcPts val="0"/>
              </a:spcAft>
              <a:buSzPts val="1400"/>
              <a:buNone/>
            </a:pPr>
            <a:endParaRPr sz="1500" dirty="0">
              <a:latin typeface="Times New Roman" panose="02020603050405020304" pitchFamily="18" charset="0"/>
              <a:cs typeface="Times New Roman" panose="02020603050405020304" pitchFamily="18" charset="0"/>
            </a:endParaRPr>
          </a:p>
          <a:p>
            <a:pPr marL="12700" lvl="0" indent="0" algn="just" rtl="0">
              <a:lnSpc>
                <a:spcPct val="100000"/>
              </a:lnSpc>
              <a:spcBef>
                <a:spcPts val="0"/>
              </a:spcBef>
              <a:spcAft>
                <a:spcPts val="0"/>
              </a:spcAft>
              <a:buSzPts val="1100"/>
              <a:buNone/>
            </a:pPr>
            <a:r>
              <a:rPr lang="en-GB" sz="1500" dirty="0">
                <a:latin typeface="Times New Roman" panose="02020603050405020304" pitchFamily="18" charset="0"/>
                <a:cs typeface="Times New Roman" panose="02020603050405020304" pitchFamily="18" charset="0"/>
              </a:rPr>
              <a:t>5. D. </a:t>
            </a:r>
            <a:r>
              <a:rPr lang="en-GB" sz="1500" dirty="0" err="1">
                <a:latin typeface="Times New Roman" panose="02020603050405020304" pitchFamily="18" charset="0"/>
                <a:cs typeface="Times New Roman" panose="02020603050405020304" pitchFamily="18" charset="0"/>
              </a:rPr>
              <a:t>Girsa</a:t>
            </a:r>
            <a:r>
              <a:rPr lang="en-GB" sz="1500" dirty="0">
                <a:latin typeface="Times New Roman" panose="02020603050405020304" pitchFamily="18" charset="0"/>
                <a:cs typeface="Times New Roman" panose="02020603050405020304" pitchFamily="18" charset="0"/>
              </a:rPr>
              <a:t>, D. Chauhan and D. Sharma, "Optimised Load Balancing for Green Cloud Computing," 2023 13th International Conference on Cloud Computing, Data Science &amp; Engineering (Confluence), Noida, India, 2023, pp. 171-175. </a:t>
            </a:r>
          </a:p>
          <a:p>
            <a:pPr marL="12700" lvl="0" indent="0" algn="just" rtl="0">
              <a:lnSpc>
                <a:spcPct val="100000"/>
              </a:lnSpc>
              <a:spcBef>
                <a:spcPts val="0"/>
              </a:spcBef>
              <a:spcAft>
                <a:spcPts val="0"/>
              </a:spcAft>
              <a:buSzPts val="1100"/>
              <a:buNone/>
            </a:pPr>
            <a:endParaRPr lang="en-US" sz="1500" dirty="0">
              <a:latin typeface="Times New Roman" panose="02020603050405020304" pitchFamily="18" charset="0"/>
              <a:cs typeface="Times New Roman" panose="02020603050405020304" pitchFamily="18" charset="0"/>
            </a:endParaRPr>
          </a:p>
          <a:p>
            <a:pPr marL="12700" lvl="0" indent="0" algn="just" rtl="0">
              <a:lnSpc>
                <a:spcPct val="100000"/>
              </a:lnSpc>
              <a:spcBef>
                <a:spcPts val="0"/>
              </a:spcBef>
              <a:spcAft>
                <a:spcPts val="0"/>
              </a:spcAft>
              <a:buSzPts val="1100"/>
              <a:buNone/>
            </a:pPr>
            <a:endParaRPr sz="1500" dirty="0">
              <a:latin typeface="Times New Roman" panose="02020603050405020304" pitchFamily="18" charset="0"/>
              <a:cs typeface="Times New Roman" panose="02020603050405020304" pitchFamily="18" charset="0"/>
            </a:endParaRPr>
          </a:p>
          <a:p>
            <a:pPr marL="12700" lvl="0" indent="0" algn="just" rtl="0">
              <a:lnSpc>
                <a:spcPct val="100000"/>
              </a:lnSpc>
              <a:spcBef>
                <a:spcPts val="0"/>
              </a:spcBef>
              <a:spcAft>
                <a:spcPts val="0"/>
              </a:spcAft>
              <a:buSzPts val="1100"/>
              <a:buNone/>
            </a:pPr>
            <a:r>
              <a:rPr lang="en-GB" sz="1500" dirty="0">
                <a:latin typeface="Times New Roman" panose="02020603050405020304" pitchFamily="18" charset="0"/>
                <a:cs typeface="Times New Roman" panose="02020603050405020304" pitchFamily="18" charset="0"/>
              </a:rPr>
              <a:t>6.  R. Bundela, N. Dhanda and R. Verma, "Load Balanced Web Server on AWS Cloud," 2022 International Conference on Computing, Communication, and Intelligent Systems (ICCCIS), Greater Noida, India, 2022, pp. 114-118. </a:t>
            </a:r>
            <a:endParaRPr sz="1500" dirty="0">
              <a:latin typeface="Times New Roman" panose="02020603050405020304" pitchFamily="18" charset="0"/>
              <a:cs typeface="Times New Roman" panose="02020603050405020304" pitchFamily="18" charset="0"/>
            </a:endParaRPr>
          </a:p>
          <a:p>
            <a:pPr marL="12700" lvl="0" indent="0" algn="just" rtl="0">
              <a:lnSpc>
                <a:spcPct val="100000"/>
              </a:lnSpc>
              <a:spcBef>
                <a:spcPts val="0"/>
              </a:spcBef>
              <a:spcAft>
                <a:spcPts val="0"/>
              </a:spcAft>
              <a:buClr>
                <a:schemeClr val="dk1"/>
              </a:buClr>
              <a:buSzPts val="1100"/>
              <a:buFont typeface="Arial"/>
              <a:buNone/>
            </a:pPr>
            <a:endParaRPr sz="1500" dirty="0"/>
          </a:p>
          <a:p>
            <a:pPr marL="12700" lvl="0" indent="0" algn="just" rtl="0">
              <a:lnSpc>
                <a:spcPct val="100000"/>
              </a:lnSpc>
              <a:spcBef>
                <a:spcPts val="0"/>
              </a:spcBef>
              <a:spcAft>
                <a:spcPts val="0"/>
              </a:spcAft>
              <a:buSzPts val="1400"/>
              <a:buNone/>
            </a:pPr>
            <a:endParaRPr sz="1500" dirty="0"/>
          </a:p>
          <a:p>
            <a:pPr marL="12700" lvl="0" indent="0" algn="just" rtl="0">
              <a:lnSpc>
                <a:spcPct val="100000"/>
              </a:lnSpc>
              <a:spcBef>
                <a:spcPts val="0"/>
              </a:spcBef>
              <a:spcAft>
                <a:spcPts val="0"/>
              </a:spcAft>
              <a:buClr>
                <a:schemeClr val="dk1"/>
              </a:buClr>
              <a:buSzPts val="1100"/>
              <a:buFont typeface="Arial"/>
              <a:buNone/>
            </a:pPr>
            <a:endParaRPr sz="1500" dirty="0"/>
          </a:p>
        </p:txBody>
      </p:sp>
      <p:sp>
        <p:nvSpPr>
          <p:cNvPr id="394" name="Google Shape;394;p56"/>
          <p:cNvSpPr txBox="1"/>
          <p:nvPr/>
        </p:nvSpPr>
        <p:spPr>
          <a:xfrm>
            <a:off x="1669891" y="4815378"/>
            <a:ext cx="6738600" cy="32332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b="0" i="0" u="none" strike="noStrike" cap="none" dirty="0">
              <a:solidFill>
                <a:schemeClr val="dk2"/>
              </a:solidFill>
              <a:highlight>
                <a:schemeClr val="lt1"/>
              </a:highlight>
              <a:latin typeface="Times New Roman"/>
              <a:ea typeface="Times New Roman"/>
              <a:cs typeface="Times New Roman"/>
              <a:sym typeface="Times New Roman"/>
            </a:endParaRPr>
          </a:p>
        </p:txBody>
      </p:sp>
      <p:sp>
        <p:nvSpPr>
          <p:cNvPr id="395" name="Google Shape;395;p56"/>
          <p:cNvSpPr txBox="1">
            <a:spLocks noGrp="1"/>
          </p:cNvSpPr>
          <p:nvPr>
            <p:ph type="sldNum" idx="12"/>
          </p:nvPr>
        </p:nvSpPr>
        <p:spPr>
          <a:xfrm>
            <a:off x="8408491" y="4850082"/>
            <a:ext cx="243300" cy="1386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7"/>
          <p:cNvSpPr txBox="1">
            <a:spLocks noGrp="1"/>
          </p:cNvSpPr>
          <p:nvPr>
            <p:ph type="title"/>
          </p:nvPr>
        </p:nvSpPr>
        <p:spPr>
          <a:xfrm>
            <a:off x="1710125" y="-1"/>
            <a:ext cx="5585100" cy="861774"/>
          </a:xfrm>
          <a:prstGeom prst="rect">
            <a:avLst/>
          </a:prstGeom>
          <a:noFill/>
          <a:ln>
            <a:noFill/>
          </a:ln>
        </p:spPr>
        <p:txBody>
          <a:bodyPr spcFirstLastPara="1" wrap="square" lIns="0" tIns="0" rIns="0" bIns="0" anchor="t" anchorCtr="0">
            <a:spAutoFit/>
          </a:bodyPr>
          <a:lstStyle/>
          <a:p>
            <a:pPr marL="1974213" lvl="0" indent="0" algn="l" rtl="0">
              <a:lnSpc>
                <a:spcPct val="100000"/>
              </a:lnSpc>
              <a:spcBef>
                <a:spcPts val="0"/>
              </a:spcBef>
              <a:spcAft>
                <a:spcPts val="0"/>
              </a:spcAft>
              <a:buClr>
                <a:schemeClr val="dk1"/>
              </a:buClr>
              <a:buSzPts val="1100"/>
              <a:buFont typeface="Arial"/>
              <a:buNone/>
            </a:pPr>
            <a:r>
              <a:rPr lang="en-GB"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SzPts val="1400"/>
              <a:buNone/>
            </a:pPr>
            <a:endParaRPr dirty="0"/>
          </a:p>
        </p:txBody>
      </p:sp>
      <p:sp>
        <p:nvSpPr>
          <p:cNvPr id="401" name="Google Shape;401;p57"/>
          <p:cNvSpPr txBox="1">
            <a:spLocks noGrp="1"/>
          </p:cNvSpPr>
          <p:nvPr>
            <p:ph type="body" idx="1"/>
          </p:nvPr>
        </p:nvSpPr>
        <p:spPr>
          <a:xfrm>
            <a:off x="368250" y="754096"/>
            <a:ext cx="8468322" cy="5078313"/>
          </a:xfrm>
          <a:prstGeom prst="rect">
            <a:avLst/>
          </a:prstGeom>
          <a:noFill/>
          <a:ln>
            <a:noFill/>
          </a:ln>
        </p:spPr>
        <p:txBody>
          <a:bodyPr spcFirstLastPara="1" wrap="square" lIns="0" tIns="0" rIns="0" bIns="0" anchor="t" anchorCtr="0">
            <a:spAutoFit/>
          </a:bodyPr>
          <a:lstStyle/>
          <a:p>
            <a:pPr marL="0" lvl="0" indent="0" algn="just" rtl="0">
              <a:spcBef>
                <a:spcPts val="0"/>
              </a:spcBef>
              <a:spcAft>
                <a:spcPts val="0"/>
              </a:spcAft>
              <a:buClr>
                <a:schemeClr val="dk1"/>
              </a:buClr>
              <a:buSzPts val="1100"/>
              <a:buFont typeface="Arial"/>
              <a:buNone/>
            </a:pPr>
            <a:r>
              <a:rPr lang="en-GB" sz="1500" dirty="0">
                <a:latin typeface="Times New Roman" panose="02020603050405020304" pitchFamily="18" charset="0"/>
                <a:cs typeface="Times New Roman" panose="02020603050405020304" pitchFamily="18" charset="0"/>
              </a:rPr>
              <a:t>7. S. </a:t>
            </a:r>
            <a:r>
              <a:rPr lang="en-GB" sz="1500" dirty="0" err="1">
                <a:latin typeface="Times New Roman" panose="02020603050405020304" pitchFamily="18" charset="0"/>
                <a:cs typeface="Times New Roman" panose="02020603050405020304" pitchFamily="18" charset="0"/>
              </a:rPr>
              <a:t>Swarnakar</a:t>
            </a:r>
            <a:r>
              <a:rPr lang="en-GB" sz="1500" dirty="0">
                <a:latin typeface="Times New Roman" panose="02020603050405020304" pitchFamily="18" charset="0"/>
                <a:cs typeface="Times New Roman" panose="02020603050405020304" pitchFamily="18" charset="0"/>
              </a:rPr>
              <a:t>, R. Kumar, S. Krishn and C. Banerjee, "Improved Dynamic Load Balancing Approach in Cloud Computing," 2020 IEEE 1st International Conference for Convergence in Engineering (ICCE), Kolkata, India, 2020.</a:t>
            </a:r>
          </a:p>
          <a:p>
            <a:pPr marL="0" lvl="0" indent="0" algn="just" rtl="0">
              <a:spcBef>
                <a:spcPts val="0"/>
              </a:spcBef>
              <a:spcAft>
                <a:spcPts val="0"/>
              </a:spcAft>
              <a:buClr>
                <a:schemeClr val="dk1"/>
              </a:buClr>
              <a:buSzPts val="1100"/>
              <a:buFont typeface="Arial"/>
              <a:buNone/>
            </a:pPr>
            <a:endParaRPr lang="en-GB" sz="15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Clr>
                <a:schemeClr val="dk1"/>
              </a:buClr>
              <a:buSzPts val="1100"/>
              <a:buFont typeface="Arial"/>
              <a:buNone/>
            </a:pPr>
            <a:endParaRPr lang="en-GB" sz="15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Clr>
                <a:schemeClr val="dk1"/>
              </a:buClr>
              <a:buSzPts val="1100"/>
              <a:buFont typeface="Arial"/>
              <a:buNone/>
            </a:pPr>
            <a:r>
              <a:rPr lang="en-GB" sz="1500" dirty="0">
                <a:latin typeface="Times New Roman" panose="02020603050405020304" pitchFamily="18" charset="0"/>
                <a:cs typeface="Times New Roman" panose="02020603050405020304" pitchFamily="18" charset="0"/>
              </a:rPr>
              <a:t>8. H. Rai, S. K. Ojha and A. Nazarov, "Cloud Load Balancing Algorithm," 2020 2nd International Conference on Advances in Computing, Communication Control and Networking (ICACCCN), Greater Noida, India, 2020. </a:t>
            </a:r>
          </a:p>
          <a:p>
            <a:pPr marL="0" lvl="0" indent="0" algn="just" rtl="0">
              <a:spcBef>
                <a:spcPts val="0"/>
              </a:spcBef>
              <a:spcAft>
                <a:spcPts val="0"/>
              </a:spcAft>
              <a:buClr>
                <a:schemeClr val="dk1"/>
              </a:buClr>
              <a:buSzPts val="1100"/>
              <a:buFont typeface="Arial"/>
              <a:buNone/>
            </a:pPr>
            <a:endParaRPr lang="en-US" sz="15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Clr>
                <a:schemeClr val="dk1"/>
              </a:buClr>
              <a:buSzPts val="1100"/>
              <a:buFont typeface="Arial"/>
              <a:buNone/>
            </a:pPr>
            <a:endParaRPr sz="15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Clr>
                <a:schemeClr val="dk1"/>
              </a:buClr>
              <a:buSzPts val="1100"/>
              <a:buFont typeface="Arial"/>
              <a:buNone/>
            </a:pPr>
            <a:r>
              <a:rPr lang="en-GB" sz="1500" dirty="0">
                <a:latin typeface="Times New Roman" panose="02020603050405020304" pitchFamily="18" charset="0"/>
                <a:cs typeface="Times New Roman" panose="02020603050405020304" pitchFamily="18" charset="0"/>
              </a:rPr>
              <a:t>9. A. Jyoti, M. </a:t>
            </a:r>
            <a:r>
              <a:rPr lang="en-GB" sz="1500" dirty="0" err="1">
                <a:latin typeface="Times New Roman" panose="02020603050405020304" pitchFamily="18" charset="0"/>
                <a:cs typeface="Times New Roman" panose="02020603050405020304" pitchFamily="18" charset="0"/>
              </a:rPr>
              <a:t>Shrimali</a:t>
            </a:r>
            <a:r>
              <a:rPr lang="en-GB" sz="1500" dirty="0">
                <a:latin typeface="Times New Roman" panose="02020603050405020304" pitchFamily="18" charset="0"/>
                <a:cs typeface="Times New Roman" panose="02020603050405020304" pitchFamily="18" charset="0"/>
              </a:rPr>
              <a:t> and R. Mishra, "Cloud Computing and Load Balancing in Cloud Computing -Survey," 2019 9th International Conference on Cloud Computing, Data Science &amp; Engineering (Confluence), Noida, India, 2019.</a:t>
            </a:r>
          </a:p>
          <a:p>
            <a:pPr marL="0" lvl="0" indent="0" algn="just" rtl="0">
              <a:spcBef>
                <a:spcPts val="0"/>
              </a:spcBef>
              <a:spcAft>
                <a:spcPts val="0"/>
              </a:spcAft>
              <a:buClr>
                <a:schemeClr val="dk1"/>
              </a:buClr>
              <a:buSzPts val="1100"/>
              <a:buFont typeface="Arial"/>
              <a:buNone/>
            </a:pPr>
            <a:endParaRPr lang="en-GB" sz="1500" dirty="0">
              <a:latin typeface="Times New Roman" panose="02020603050405020304" pitchFamily="18" charset="0"/>
              <a:cs typeface="Times New Roman" panose="02020603050405020304" pitchFamily="18" charset="0"/>
            </a:endParaRPr>
          </a:p>
          <a:p>
            <a:pPr marL="0" indent="0" algn="just">
              <a:buClr>
                <a:schemeClr val="dk1"/>
              </a:buClr>
              <a:buSzPts val="1100"/>
            </a:pPr>
            <a:r>
              <a:rPr lang="en-GB" sz="1500" dirty="0">
                <a:latin typeface="Times New Roman" panose="02020603050405020304" pitchFamily="18" charset="0"/>
                <a:cs typeface="Times New Roman" panose="02020603050405020304" pitchFamily="18" charset="0"/>
              </a:rPr>
              <a:t>10. S. Joshi and U. Kumari, "Load balancing in cloud computing: Challenges &amp; issues," 2016 2nd International Conference on Contemporary Computing and Informatics (IC3I), Greater Noida, India, 2016, pp. 120-125. </a:t>
            </a:r>
          </a:p>
          <a:p>
            <a:pPr marL="0" lvl="0" indent="0" algn="just" rtl="0">
              <a:lnSpc>
                <a:spcPct val="100000"/>
              </a:lnSpc>
              <a:spcBef>
                <a:spcPts val="0"/>
              </a:spcBef>
              <a:spcAft>
                <a:spcPts val="0"/>
              </a:spcAft>
              <a:buClr>
                <a:schemeClr val="dk1"/>
              </a:buClr>
              <a:buSzPts val="1100"/>
              <a:buFont typeface="Arial"/>
              <a:buNone/>
            </a:pPr>
            <a:endParaRPr sz="1500" dirty="0">
              <a:latin typeface="Times New Roman" panose="02020603050405020304" pitchFamily="18" charset="0"/>
              <a:cs typeface="Times New Roman" panose="02020603050405020304" pitchFamily="18" charset="0"/>
            </a:endParaRPr>
          </a:p>
          <a:p>
            <a:pPr marL="0" lvl="0" indent="0" algn="just" rtl="0">
              <a:lnSpc>
                <a:spcPct val="100000"/>
              </a:lnSpc>
              <a:spcBef>
                <a:spcPts val="0"/>
              </a:spcBef>
              <a:spcAft>
                <a:spcPts val="0"/>
              </a:spcAft>
              <a:buClr>
                <a:schemeClr val="dk1"/>
              </a:buClr>
              <a:buSzPts val="1100"/>
              <a:buFont typeface="Arial"/>
              <a:buNone/>
            </a:pPr>
            <a:endParaRPr sz="1500" dirty="0"/>
          </a:p>
          <a:p>
            <a:pPr marL="0" lvl="0" indent="0" algn="just" rtl="0">
              <a:lnSpc>
                <a:spcPct val="100000"/>
              </a:lnSpc>
              <a:spcBef>
                <a:spcPts val="0"/>
              </a:spcBef>
              <a:spcAft>
                <a:spcPts val="0"/>
              </a:spcAft>
              <a:buClr>
                <a:schemeClr val="dk1"/>
              </a:buClr>
              <a:buSzPts val="1100"/>
              <a:buFont typeface="Arial"/>
              <a:buNone/>
            </a:pPr>
            <a:endParaRPr sz="1500" dirty="0"/>
          </a:p>
          <a:p>
            <a:pPr marL="0" lvl="0" indent="0" algn="just" rtl="0">
              <a:lnSpc>
                <a:spcPct val="100000"/>
              </a:lnSpc>
              <a:spcBef>
                <a:spcPts val="0"/>
              </a:spcBef>
              <a:spcAft>
                <a:spcPts val="0"/>
              </a:spcAft>
              <a:buClr>
                <a:schemeClr val="dk1"/>
              </a:buClr>
              <a:buSzPts val="1100"/>
              <a:buFont typeface="Arial"/>
              <a:buNone/>
            </a:pPr>
            <a:endParaRPr sz="1500" dirty="0"/>
          </a:p>
          <a:p>
            <a:pPr marL="0" lvl="0" indent="0" algn="just" rtl="0">
              <a:lnSpc>
                <a:spcPct val="100000"/>
              </a:lnSpc>
              <a:spcBef>
                <a:spcPts val="0"/>
              </a:spcBef>
              <a:spcAft>
                <a:spcPts val="0"/>
              </a:spcAft>
              <a:buSzPts val="1400"/>
              <a:buNone/>
            </a:pPr>
            <a:endParaRPr sz="1500" dirty="0"/>
          </a:p>
        </p:txBody>
      </p:sp>
      <p:sp>
        <p:nvSpPr>
          <p:cNvPr id="402" name="Google Shape;402;p57"/>
          <p:cNvSpPr txBox="1"/>
          <p:nvPr/>
        </p:nvSpPr>
        <p:spPr>
          <a:xfrm>
            <a:off x="1134602" y="4801400"/>
            <a:ext cx="7187100" cy="27067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20"/>
              </a:spcBef>
              <a:spcAft>
                <a:spcPts val="0"/>
              </a:spcAft>
              <a:buNone/>
            </a:pPr>
            <a:r>
              <a:rPr lang="en-GB" sz="1000" b="0" i="0" u="none" strike="noStrike" cap="none"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b="0" i="0" u="none" strike="noStrike" cap="none" dirty="0">
              <a:solidFill>
                <a:schemeClr val="dk2"/>
              </a:solidFill>
              <a:highlight>
                <a:schemeClr val="lt1"/>
              </a:highlight>
              <a:latin typeface="Times New Roman"/>
              <a:ea typeface="Times New Roman"/>
              <a:cs typeface="Times New Roman"/>
              <a:sym typeface="Times New Roman"/>
            </a:endParaRPr>
          </a:p>
        </p:txBody>
      </p:sp>
      <p:sp>
        <p:nvSpPr>
          <p:cNvPr id="403" name="Google Shape;403;p57"/>
          <p:cNvSpPr txBox="1">
            <a:spLocks noGrp="1"/>
          </p:cNvSpPr>
          <p:nvPr>
            <p:ph type="sldNum" idx="12"/>
          </p:nvPr>
        </p:nvSpPr>
        <p:spPr>
          <a:xfrm>
            <a:off x="8408491" y="4850082"/>
            <a:ext cx="243300" cy="1386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F64DFD0-6D4F-BA87-AD41-FF188D8427DD}"/>
              </a:ext>
            </a:extLst>
          </p:cNvPr>
          <p:cNvGraphicFramePr>
            <a:graphicFrameLocks noGrp="1"/>
          </p:cNvGraphicFramePr>
          <p:nvPr>
            <p:extLst>
              <p:ext uri="{D42A27DB-BD31-4B8C-83A1-F6EECF244321}">
                <p14:modId xmlns:p14="http://schemas.microsoft.com/office/powerpoint/2010/main" val="737975517"/>
              </p:ext>
            </p:extLst>
          </p:nvPr>
        </p:nvGraphicFramePr>
        <p:xfrm>
          <a:off x="858447" y="816964"/>
          <a:ext cx="6786537" cy="3297835"/>
        </p:xfrm>
        <a:graphic>
          <a:graphicData uri="http://schemas.openxmlformats.org/drawingml/2006/table">
            <a:tbl>
              <a:tblPr firstRow="1" bandRow="1">
                <a:noFill/>
              </a:tblPr>
              <a:tblGrid>
                <a:gridCol w="2222149">
                  <a:extLst>
                    <a:ext uri="{9D8B030D-6E8A-4147-A177-3AD203B41FA5}">
                      <a16:colId xmlns:a16="http://schemas.microsoft.com/office/drawing/2014/main" val="3429161324"/>
                    </a:ext>
                  </a:extLst>
                </a:gridCol>
                <a:gridCol w="4564388">
                  <a:extLst>
                    <a:ext uri="{9D8B030D-6E8A-4147-A177-3AD203B41FA5}">
                      <a16:colId xmlns:a16="http://schemas.microsoft.com/office/drawing/2014/main" val="3930719191"/>
                    </a:ext>
                  </a:extLst>
                </a:gridCol>
              </a:tblGrid>
              <a:tr h="496130">
                <a:tc>
                  <a:txBody>
                    <a:bodyPr/>
                    <a:lstStyle/>
                    <a:p>
                      <a:pPr marL="217804" marR="0" lvl="0" indent="0" algn="l" rtl="0">
                        <a:lnSpc>
                          <a:spcPct val="100000"/>
                        </a:lnSpc>
                        <a:spcBef>
                          <a:spcPts val="0"/>
                        </a:spcBef>
                        <a:spcAft>
                          <a:spcPts val="0"/>
                        </a:spcAft>
                        <a:buNone/>
                      </a:pPr>
                      <a:r>
                        <a:rPr lang="en-US" sz="1400" b="1"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Team member Details</a:t>
                      </a:r>
                      <a:endParaRPr sz="1400" u="none" strike="noStrike" cap="none" dirty="0">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Times New Roman" panose="02020603050405020304" pitchFamily="18" charset="0"/>
                          <a:ea typeface="Calibri"/>
                          <a:cs typeface="Times New Roman" panose="02020603050405020304" pitchFamily="18" charset="0"/>
                          <a:sym typeface="Calibri"/>
                        </a:rPr>
                        <a:t>Roles and Responsibility</a:t>
                      </a:r>
                      <a:endParaRPr sz="1400" u="none" strike="noStrike" cap="none">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824950166"/>
                  </a:ext>
                </a:extLst>
              </a:tr>
              <a:tr h="437481">
                <a:tc>
                  <a:txBody>
                    <a:bodyPr/>
                    <a:lstStyle/>
                    <a:p>
                      <a:pPr marL="85725" marR="0" lvl="0" indent="0" algn="l" rtl="0">
                        <a:lnSpc>
                          <a:spcPct val="100000"/>
                        </a:lnSpc>
                        <a:spcBef>
                          <a:spcPts val="0"/>
                        </a:spcBef>
                        <a:spcAft>
                          <a:spcPts val="0"/>
                        </a:spcAft>
                        <a:buNone/>
                      </a:pPr>
                      <a:r>
                        <a:rPr lang="en-US" sz="1400" dirty="0">
                          <a:latin typeface="Times New Roman" panose="02020603050405020304" pitchFamily="18" charset="0"/>
                          <a:cs typeface="Times New Roman" panose="02020603050405020304" pitchFamily="18" charset="0"/>
                        </a:rPr>
                        <a:t>Aarohi Waghmare</a:t>
                      </a:r>
                      <a:r>
                        <a:rPr lang="en-US" sz="1400" u="none" strike="noStrike" cap="none" dirty="0">
                          <a:latin typeface="Times New Roman" panose="02020603050405020304" pitchFamily="18" charset="0"/>
                          <a:ea typeface="Calibri"/>
                          <a:cs typeface="Times New Roman" panose="02020603050405020304" pitchFamily="18" charset="0"/>
                          <a:sym typeface="Calibri"/>
                        </a:rPr>
                        <a:t>-1(</a:t>
                      </a:r>
                      <a:r>
                        <a:rPr lang="en-US" sz="1400" dirty="0">
                          <a:latin typeface="Times New Roman" panose="02020603050405020304" pitchFamily="18" charset="0"/>
                          <a:cs typeface="Times New Roman" panose="02020603050405020304" pitchFamily="18" charset="0"/>
                        </a:rPr>
                        <a:t>01</a:t>
                      </a:r>
                      <a:r>
                        <a:rPr lang="en-US" sz="1400" u="none" strike="noStrike" cap="none" dirty="0">
                          <a:latin typeface="Times New Roman" panose="02020603050405020304" pitchFamily="18" charset="0"/>
                          <a:ea typeface="Calibri"/>
                          <a:cs typeface="Times New Roman" panose="02020603050405020304" pitchFamily="18" charset="0"/>
                          <a:sym typeface="Calibri"/>
                        </a:rPr>
                        <a:t>)</a:t>
                      </a:r>
                      <a:endParaRPr sz="1400" u="none" strike="noStrike" cap="none" dirty="0">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7"/>
                    </a:solidFill>
                  </a:tcPr>
                </a:tc>
                <a:tc>
                  <a:txBody>
                    <a:bodyPr/>
                    <a:lstStyle/>
                    <a:p>
                      <a:pPr marL="0" marR="0" lvl="0" indent="0" algn="l" rtl="0">
                        <a:lnSpc>
                          <a:spcPct val="100000"/>
                        </a:lnSpc>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  Research &amp; Algorithm Analyst </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7"/>
                    </a:solidFill>
                  </a:tcPr>
                </a:tc>
                <a:extLst>
                  <a:ext uri="{0D108BD9-81ED-4DB2-BD59-A6C34878D82A}">
                    <a16:rowId xmlns:a16="http://schemas.microsoft.com/office/drawing/2014/main" val="1078765326"/>
                  </a:ext>
                </a:extLst>
              </a:tr>
              <a:tr h="438353">
                <a:tc>
                  <a:txBody>
                    <a:bodyPr/>
                    <a:lstStyle/>
                    <a:p>
                      <a:pPr marL="85725" marR="0" lvl="0" indent="0" algn="l" rtl="0">
                        <a:lnSpc>
                          <a:spcPct val="100000"/>
                        </a:lnSpc>
                        <a:spcBef>
                          <a:spcPts val="0"/>
                        </a:spcBef>
                        <a:spcAft>
                          <a:spcPts val="0"/>
                        </a:spcAft>
                        <a:buNone/>
                      </a:pPr>
                      <a:r>
                        <a:rPr lang="en-US" sz="1400">
                          <a:latin typeface="Times New Roman" panose="02020603050405020304" pitchFamily="18" charset="0"/>
                          <a:cs typeface="Times New Roman" panose="02020603050405020304" pitchFamily="18" charset="0"/>
                        </a:rPr>
                        <a:t>Diksha Bhagwat</a:t>
                      </a:r>
                      <a:r>
                        <a:rPr lang="en-US" sz="1400" u="none" strike="noStrike" cap="none">
                          <a:latin typeface="Times New Roman" panose="02020603050405020304" pitchFamily="18" charset="0"/>
                          <a:ea typeface="Calibri"/>
                          <a:cs typeface="Times New Roman" panose="02020603050405020304" pitchFamily="18" charset="0"/>
                          <a:sym typeface="Calibri"/>
                        </a:rPr>
                        <a:t>-2(</a:t>
                      </a:r>
                      <a:r>
                        <a:rPr lang="en-US" sz="1400">
                          <a:latin typeface="Times New Roman" panose="02020603050405020304" pitchFamily="18" charset="0"/>
                          <a:cs typeface="Times New Roman" panose="02020603050405020304" pitchFamily="18" charset="0"/>
                        </a:rPr>
                        <a:t>08</a:t>
                      </a:r>
                      <a:r>
                        <a:rPr lang="en-US" sz="1400" u="none" strike="noStrike" cap="none">
                          <a:latin typeface="Times New Roman" panose="02020603050405020304" pitchFamily="18" charset="0"/>
                          <a:ea typeface="Calibri"/>
                          <a:cs typeface="Times New Roman" panose="02020603050405020304" pitchFamily="18" charset="0"/>
                          <a:sym typeface="Calibri"/>
                        </a:rPr>
                        <a:t>)</a:t>
                      </a:r>
                      <a:endParaRPr sz="1400" u="none" strike="noStrike" cap="none">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  Optimization Algorithm Developer </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1604635658"/>
                  </a:ext>
                </a:extLst>
              </a:tr>
              <a:tr h="437481">
                <a:tc>
                  <a:txBody>
                    <a:bodyPr/>
                    <a:lstStyle/>
                    <a:p>
                      <a:pPr marL="85725" marR="0" lvl="0" indent="0" algn="l" rtl="0">
                        <a:lnSpc>
                          <a:spcPct val="100000"/>
                        </a:lnSpc>
                        <a:spcBef>
                          <a:spcPts val="0"/>
                        </a:spcBef>
                        <a:spcAft>
                          <a:spcPts val="0"/>
                        </a:spcAft>
                        <a:buNone/>
                      </a:pPr>
                      <a:r>
                        <a:rPr lang="en-US" sz="1400" dirty="0" err="1">
                          <a:latin typeface="Times New Roman" panose="02020603050405020304" pitchFamily="18" charset="0"/>
                          <a:cs typeface="Times New Roman" panose="02020603050405020304" pitchFamily="18" charset="0"/>
                        </a:rPr>
                        <a:t>Giteshwari</a:t>
                      </a:r>
                      <a:r>
                        <a:rPr lang="en-US" sz="1400" dirty="0">
                          <a:latin typeface="Times New Roman" panose="02020603050405020304" pitchFamily="18" charset="0"/>
                          <a:cs typeface="Times New Roman" panose="02020603050405020304" pitchFamily="18" charset="0"/>
                        </a:rPr>
                        <a:t> Lanjewar</a:t>
                      </a:r>
                      <a:r>
                        <a:rPr lang="en-US" sz="1400" u="none" strike="noStrike" cap="none" dirty="0">
                          <a:latin typeface="Times New Roman" panose="02020603050405020304" pitchFamily="18" charset="0"/>
                          <a:ea typeface="Calibri"/>
                          <a:cs typeface="Times New Roman" panose="02020603050405020304" pitchFamily="18" charset="0"/>
                          <a:sym typeface="Calibri"/>
                        </a:rPr>
                        <a:t>-3(</a:t>
                      </a:r>
                      <a:r>
                        <a:rPr lang="en-US" sz="1400" dirty="0">
                          <a:latin typeface="Times New Roman" panose="02020603050405020304" pitchFamily="18" charset="0"/>
                          <a:cs typeface="Times New Roman" panose="02020603050405020304" pitchFamily="18" charset="0"/>
                        </a:rPr>
                        <a:t>09</a:t>
                      </a:r>
                      <a:r>
                        <a:rPr lang="en-US" sz="1400" u="none" strike="noStrike" cap="none" dirty="0">
                          <a:latin typeface="Times New Roman" panose="02020603050405020304" pitchFamily="18" charset="0"/>
                          <a:ea typeface="Calibri"/>
                          <a:cs typeface="Times New Roman" panose="02020603050405020304" pitchFamily="18" charset="0"/>
                          <a:sym typeface="Calibri"/>
                        </a:rPr>
                        <a:t>)</a:t>
                      </a:r>
                      <a:endParaRPr sz="1400" u="none" strike="noStrike" cap="none" dirty="0">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7"/>
                    </a:solidFill>
                  </a:tcPr>
                </a:tc>
                <a:tc>
                  <a:txBody>
                    <a:bodyPr/>
                    <a:lstStyle/>
                    <a:p>
                      <a:pPr marL="0" marR="0" lvl="0" indent="0" algn="l" rtl="0">
                        <a:lnSpc>
                          <a:spcPct val="100000"/>
                        </a:lnSpc>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  Frontend Developer </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7"/>
                    </a:solidFill>
                  </a:tcPr>
                </a:tc>
                <a:extLst>
                  <a:ext uri="{0D108BD9-81ED-4DB2-BD59-A6C34878D82A}">
                    <a16:rowId xmlns:a16="http://schemas.microsoft.com/office/drawing/2014/main" val="213618036"/>
                  </a:ext>
                </a:extLst>
              </a:tr>
              <a:tr h="496130">
                <a:tc>
                  <a:txBody>
                    <a:bodyPr/>
                    <a:lstStyle/>
                    <a:p>
                      <a:pPr marL="85725" marR="0" lvl="0" indent="0" algn="l" rtl="0">
                        <a:lnSpc>
                          <a:spcPct val="100000"/>
                        </a:lnSpc>
                        <a:spcBef>
                          <a:spcPts val="0"/>
                        </a:spcBef>
                        <a:spcAft>
                          <a:spcPts val="0"/>
                        </a:spcAft>
                        <a:buNone/>
                      </a:pPr>
                      <a:r>
                        <a:rPr lang="en-US" sz="1400">
                          <a:latin typeface="Times New Roman" panose="02020603050405020304" pitchFamily="18" charset="0"/>
                          <a:cs typeface="Times New Roman" panose="02020603050405020304" pitchFamily="18" charset="0"/>
                        </a:rPr>
                        <a:t>Sanchyee Pendam</a:t>
                      </a:r>
                      <a:r>
                        <a:rPr lang="en-US" sz="1400" u="none" strike="noStrike" cap="none">
                          <a:latin typeface="Times New Roman" panose="02020603050405020304" pitchFamily="18" charset="0"/>
                          <a:ea typeface="Calibri"/>
                          <a:cs typeface="Times New Roman" panose="02020603050405020304" pitchFamily="18" charset="0"/>
                          <a:sym typeface="Calibri"/>
                        </a:rPr>
                        <a:t>-4(</a:t>
                      </a:r>
                      <a:r>
                        <a:rPr lang="en-US" sz="1400">
                          <a:latin typeface="Times New Roman" panose="02020603050405020304" pitchFamily="18" charset="0"/>
                          <a:cs typeface="Times New Roman" panose="02020603050405020304" pitchFamily="18" charset="0"/>
                        </a:rPr>
                        <a:t>19</a:t>
                      </a:r>
                      <a:r>
                        <a:rPr lang="en-US" sz="1400" u="none" strike="noStrike" cap="none">
                          <a:latin typeface="Times New Roman" panose="02020603050405020304" pitchFamily="18" charset="0"/>
                          <a:ea typeface="Calibri"/>
                          <a:cs typeface="Times New Roman" panose="02020603050405020304" pitchFamily="18" charset="0"/>
                          <a:sym typeface="Calibri"/>
                        </a:rPr>
                        <a:t>)</a:t>
                      </a:r>
                      <a:endParaRPr sz="1400" u="none" strike="noStrike" cap="none">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  Data Preparation &amp; Simulation Engineer</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3112468713"/>
                  </a:ext>
                </a:extLst>
              </a:tr>
              <a:tr h="496130">
                <a:tc>
                  <a:txBody>
                    <a:bodyPr/>
                    <a:lstStyle/>
                    <a:p>
                      <a:pPr marL="85725" marR="0" lvl="0" indent="0" algn="l" rtl="0">
                        <a:lnSpc>
                          <a:spcPct val="100000"/>
                        </a:lnSpc>
                        <a:spcBef>
                          <a:spcPts val="0"/>
                        </a:spcBef>
                        <a:spcAft>
                          <a:spcPts val="0"/>
                        </a:spcAft>
                        <a:buNone/>
                      </a:pPr>
                      <a:r>
                        <a:rPr lang="en-US" sz="1400">
                          <a:latin typeface="Times New Roman" panose="02020603050405020304" pitchFamily="18" charset="0"/>
                          <a:cs typeface="Times New Roman" panose="02020603050405020304" pitchFamily="18" charset="0"/>
                        </a:rPr>
                        <a:t>Srushti Bawane </a:t>
                      </a:r>
                      <a:r>
                        <a:rPr lang="en-US" sz="1400" u="none" strike="noStrike" cap="none">
                          <a:latin typeface="Times New Roman" panose="02020603050405020304" pitchFamily="18" charset="0"/>
                          <a:ea typeface="Calibri"/>
                          <a:cs typeface="Times New Roman" panose="02020603050405020304" pitchFamily="18" charset="0"/>
                          <a:sym typeface="Calibri"/>
                        </a:rPr>
                        <a:t>-5(</a:t>
                      </a:r>
                      <a:r>
                        <a:rPr lang="en-US" sz="1400">
                          <a:latin typeface="Times New Roman" panose="02020603050405020304" pitchFamily="18" charset="0"/>
                          <a:cs typeface="Times New Roman" panose="02020603050405020304" pitchFamily="18" charset="0"/>
                        </a:rPr>
                        <a:t>25</a:t>
                      </a:r>
                      <a:r>
                        <a:rPr lang="en-US" sz="1400" u="none" strike="noStrike" cap="none">
                          <a:latin typeface="Times New Roman" panose="02020603050405020304" pitchFamily="18" charset="0"/>
                          <a:ea typeface="Calibri"/>
                          <a:cs typeface="Times New Roman" panose="02020603050405020304" pitchFamily="18" charset="0"/>
                          <a:sym typeface="Calibri"/>
                        </a:rPr>
                        <a:t>)</a:t>
                      </a:r>
                      <a:endParaRPr sz="1400" u="none" strike="noStrike" cap="none">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7"/>
                    </a:solidFill>
                  </a:tcPr>
                </a:tc>
                <a:tc>
                  <a:txBody>
                    <a:bodyPr/>
                    <a:lstStyle/>
                    <a:p>
                      <a:pPr marL="0" marR="0" lvl="0" indent="0" algn="l" rtl="0">
                        <a:lnSpc>
                          <a:spcPct val="100000"/>
                        </a:lnSpc>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  Documentation &amp; Presentation Coordinator</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8E7"/>
                    </a:solidFill>
                  </a:tcPr>
                </a:tc>
                <a:extLst>
                  <a:ext uri="{0D108BD9-81ED-4DB2-BD59-A6C34878D82A}">
                    <a16:rowId xmlns:a16="http://schemas.microsoft.com/office/drawing/2014/main" val="2272015965"/>
                  </a:ext>
                </a:extLst>
              </a:tr>
              <a:tr h="496130">
                <a:tc>
                  <a:txBody>
                    <a:bodyPr/>
                    <a:lstStyle/>
                    <a:p>
                      <a:pPr marL="85725" marR="0" lvl="0" indent="0" algn="l" rtl="0">
                        <a:lnSpc>
                          <a:spcPct val="100000"/>
                        </a:lnSpc>
                        <a:spcBef>
                          <a:spcPts val="0"/>
                        </a:spcBef>
                        <a:spcAft>
                          <a:spcPts val="0"/>
                        </a:spcAft>
                        <a:buNone/>
                      </a:pPr>
                      <a:r>
                        <a:rPr lang="en-US" sz="1400">
                          <a:latin typeface="Times New Roman" panose="02020603050405020304" pitchFamily="18" charset="0"/>
                          <a:cs typeface="Times New Roman" panose="02020603050405020304" pitchFamily="18" charset="0"/>
                        </a:rPr>
                        <a:t>Vaishnavi Rathod</a:t>
                      </a:r>
                      <a:r>
                        <a:rPr lang="en-US" sz="1400" u="none" strike="noStrike" cap="none">
                          <a:latin typeface="Times New Roman" panose="02020603050405020304" pitchFamily="18" charset="0"/>
                          <a:ea typeface="Calibri"/>
                          <a:cs typeface="Times New Roman" panose="02020603050405020304" pitchFamily="18" charset="0"/>
                          <a:sym typeface="Calibri"/>
                        </a:rPr>
                        <a:t>-6(</a:t>
                      </a:r>
                      <a:r>
                        <a:rPr lang="en-US" sz="1400">
                          <a:latin typeface="Times New Roman" panose="02020603050405020304" pitchFamily="18" charset="0"/>
                          <a:cs typeface="Times New Roman" panose="02020603050405020304" pitchFamily="18" charset="0"/>
                        </a:rPr>
                        <a:t>29</a:t>
                      </a:r>
                      <a:r>
                        <a:rPr lang="en-US" sz="1400" u="none" strike="noStrike" cap="none">
                          <a:latin typeface="Times New Roman" panose="02020603050405020304" pitchFamily="18" charset="0"/>
                          <a:ea typeface="Calibri"/>
                          <a:cs typeface="Times New Roman" panose="02020603050405020304" pitchFamily="18" charset="0"/>
                          <a:sym typeface="Calibri"/>
                        </a:rPr>
                        <a:t>)</a:t>
                      </a:r>
                      <a:endParaRPr sz="1400" u="none" strike="noStrike" cap="none">
                        <a:latin typeface="Times New Roman" panose="02020603050405020304" pitchFamily="18" charset="0"/>
                        <a:ea typeface="Calibri"/>
                        <a:cs typeface="Times New Roman" panose="02020603050405020304" pitchFamily="18" charset="0"/>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  Experimental Results &amp; Visualization Specialist</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DF4"/>
                    </a:solidFill>
                  </a:tcPr>
                </a:tc>
                <a:extLst>
                  <a:ext uri="{0D108BD9-81ED-4DB2-BD59-A6C34878D82A}">
                    <a16:rowId xmlns:a16="http://schemas.microsoft.com/office/drawing/2014/main" val="948238642"/>
                  </a:ext>
                </a:extLst>
              </a:tr>
            </a:tbl>
          </a:graphicData>
        </a:graphic>
      </p:graphicFrame>
      <p:sp>
        <p:nvSpPr>
          <p:cNvPr id="6" name="TextBox 5">
            <a:extLst>
              <a:ext uri="{FF2B5EF4-FFF2-40B4-BE49-F238E27FC236}">
                <a16:creationId xmlns:a16="http://schemas.microsoft.com/office/drawing/2014/main" id="{17F93598-0B52-C6CC-AF9C-72707C40B0F0}"/>
              </a:ext>
            </a:extLst>
          </p:cNvPr>
          <p:cNvSpPr txBox="1"/>
          <p:nvPr/>
        </p:nvSpPr>
        <p:spPr>
          <a:xfrm>
            <a:off x="1830423" y="112685"/>
            <a:ext cx="4572000" cy="461665"/>
          </a:xfrm>
          <a:prstGeom prst="rect">
            <a:avLst/>
          </a:prstGeom>
          <a:noFill/>
        </p:spPr>
        <p:txBody>
          <a:bodyPr wrap="square">
            <a:spAutoFit/>
          </a:bodyPr>
          <a:lstStyle/>
          <a:p>
            <a:pPr algn="ctr"/>
            <a:r>
              <a:rPr lang="en-GB" sz="2400" b="1" dirty="0">
                <a:latin typeface="Times New Roman" panose="02020603050405020304" pitchFamily="18" charset="0"/>
                <a:cs typeface="Times New Roman" panose="02020603050405020304" pitchFamily="18" charset="0"/>
              </a:rPr>
              <a:t>Roles &amp; Responsibility</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BD8B956-C6EF-3D6D-D6EE-BA0E31596D4C}"/>
              </a:ext>
            </a:extLst>
          </p:cNvPr>
          <p:cNvSpPr txBox="1"/>
          <p:nvPr/>
        </p:nvSpPr>
        <p:spPr>
          <a:xfrm>
            <a:off x="1622814" y="4819078"/>
            <a:ext cx="6272505" cy="246221"/>
          </a:xfrm>
          <a:prstGeom prst="rect">
            <a:avLst/>
          </a:prstGeom>
          <a:noFill/>
        </p:spPr>
        <p:txBody>
          <a:bodyPr wrap="square">
            <a:spAutoFit/>
          </a:bodyPr>
          <a:lstStyle/>
          <a:p>
            <a:pPr marL="0" marR="0" lvl="0" indent="0" algn="ctr" rtl="0">
              <a:lnSpc>
                <a:spcPct val="100000"/>
              </a:lnSpc>
              <a:spcBef>
                <a:spcPts val="20"/>
              </a:spcBef>
              <a:spcAft>
                <a:spcPts val="0"/>
              </a:spcAft>
              <a:buNone/>
            </a:pPr>
            <a:r>
              <a:rPr lang="en-US" sz="1000" b="0" i="0" u="none" strike="noStrike" cap="none"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lang="en-US" sz="1000" b="0" i="0" u="none" strike="noStrike" cap="none" dirty="0">
              <a:solidFill>
                <a:schemeClr val="dk2"/>
              </a:solidFill>
              <a:highlight>
                <a:schemeClr val="lt1"/>
              </a:highlight>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3D415454-22E9-6D0B-5B8E-7608EDCCAFE7}"/>
              </a:ext>
            </a:extLst>
          </p:cNvPr>
          <p:cNvSpPr txBox="1"/>
          <p:nvPr/>
        </p:nvSpPr>
        <p:spPr>
          <a:xfrm>
            <a:off x="8238220" y="4695968"/>
            <a:ext cx="4572000" cy="246221"/>
          </a:xfrm>
          <a:prstGeom prst="rect">
            <a:avLst/>
          </a:prstGeom>
          <a:noFill/>
        </p:spPr>
        <p:txBody>
          <a:bodyPr wrap="square">
            <a:spAutoFit/>
          </a:bodyPr>
          <a:lstStyle/>
          <a:p>
            <a:fld id="{00000000-1234-1234-1234-123412341234}" type="slidenum">
              <a:rPr lang="en-GB" sz="1000" smtClean="0">
                <a:solidFill>
                  <a:schemeClr val="bg1">
                    <a:lumMod val="50000"/>
                  </a:schemeClr>
                </a:solidFill>
              </a:rPr>
              <a:pPr/>
              <a:t>38</a:t>
            </a:fld>
            <a:endParaRPr lang="en-IN" sz="1000" dirty="0">
              <a:solidFill>
                <a:schemeClr val="bg1">
                  <a:lumMod val="50000"/>
                </a:schemeClr>
              </a:solidFill>
            </a:endParaRPr>
          </a:p>
        </p:txBody>
      </p:sp>
    </p:spTree>
    <p:extLst>
      <p:ext uri="{BB962C8B-B14F-4D97-AF65-F5344CB8AC3E}">
        <p14:creationId xmlns:p14="http://schemas.microsoft.com/office/powerpoint/2010/main" val="33140166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415"/>
        <p:cNvGrpSpPr/>
        <p:nvPr/>
      </p:nvGrpSpPr>
      <p:grpSpPr>
        <a:xfrm>
          <a:off x="0" y="0"/>
          <a:ext cx="0" cy="0"/>
          <a:chOff x="0" y="0"/>
          <a:chExt cx="0" cy="0"/>
        </a:xfrm>
      </p:grpSpPr>
      <p:sp>
        <p:nvSpPr>
          <p:cNvPr id="416" name="Google Shape;416;p59"/>
          <p:cNvSpPr txBox="1">
            <a:spLocks noGrp="1"/>
          </p:cNvSpPr>
          <p:nvPr>
            <p:ph type="ftr" idx="11"/>
          </p:nvPr>
        </p:nvSpPr>
        <p:spPr>
          <a:xfrm>
            <a:off x="1345393" y="4906488"/>
            <a:ext cx="7184700" cy="153888"/>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20"/>
              </a:spcBef>
              <a:spcAft>
                <a:spcPts val="0"/>
              </a:spcAft>
              <a:buClr>
                <a:schemeClr val="dk1"/>
              </a:buClr>
              <a:buSzPts val="1400"/>
              <a:buNone/>
            </a:pPr>
            <a:r>
              <a:rPr lang="en-GB" sz="1000" dirty="0">
                <a:solidFill>
                  <a:srgbClr val="666666"/>
                </a:solidFill>
                <a:highlight>
                  <a:schemeClr val="lt1"/>
                </a:highlight>
                <a:latin typeface="Times New Roman"/>
                <a:ea typeface="Times New Roman"/>
                <a:cs typeface="Times New Roman"/>
                <a:sym typeface="Times New Roman"/>
              </a:rPr>
              <a:t>A Hybrid Firefly–Antlion Optimizer with Energy-Aware Load Balancing for Sustainable Cloud Scheduling</a:t>
            </a:r>
            <a:endParaRPr sz="1000" dirty="0">
              <a:solidFill>
                <a:schemeClr val="dk2"/>
              </a:solidFill>
              <a:highlight>
                <a:schemeClr val="lt1"/>
              </a:highlight>
              <a:latin typeface="Times New Roman"/>
              <a:ea typeface="Times New Roman"/>
              <a:cs typeface="Times New Roman"/>
              <a:sym typeface="Times New Roman"/>
            </a:endParaRPr>
          </a:p>
        </p:txBody>
      </p:sp>
      <p:sp>
        <p:nvSpPr>
          <p:cNvPr id="417" name="Google Shape;417;p59"/>
          <p:cNvSpPr txBox="1">
            <a:spLocks noGrp="1"/>
          </p:cNvSpPr>
          <p:nvPr>
            <p:ph type="sldNum" idx="12"/>
          </p:nvPr>
        </p:nvSpPr>
        <p:spPr>
          <a:xfrm>
            <a:off x="8408491" y="4850082"/>
            <a:ext cx="243204" cy="13335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GB"/>
              <a:t>39</a:t>
            </a:fld>
            <a:endParaRPr/>
          </a:p>
        </p:txBody>
      </p:sp>
      <p:sp>
        <p:nvSpPr>
          <p:cNvPr id="418" name="Google Shape;418;p59"/>
          <p:cNvSpPr txBox="1">
            <a:spLocks noGrp="1"/>
          </p:cNvSpPr>
          <p:nvPr>
            <p:ph type="title"/>
          </p:nvPr>
        </p:nvSpPr>
        <p:spPr>
          <a:xfrm>
            <a:off x="3023552" y="2437099"/>
            <a:ext cx="4261911"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GB" sz="4000" dirty="0">
                <a:latin typeface="Times New Roman" panose="02020603050405020304" pitchFamily="18" charset="0"/>
                <a:cs typeface="Times New Roman" panose="02020603050405020304" pitchFamily="18" charset="0"/>
              </a:rPr>
              <a:t>Thank You…….</a:t>
            </a:r>
            <a:endParaRPr sz="4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502</TotalTime>
  <Words>3866</Words>
  <Application>Microsoft Office PowerPoint</Application>
  <PresentationFormat>On-screen Show (16:9)</PresentationFormat>
  <Paragraphs>557</Paragraphs>
  <Slides>39</Slides>
  <Notes>38</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39</vt:i4>
      </vt:variant>
    </vt:vector>
  </HeadingPairs>
  <TitlesOfParts>
    <vt:vector size="46" baseType="lpstr">
      <vt:lpstr>Arial</vt:lpstr>
      <vt:lpstr>Calibri</vt:lpstr>
      <vt:lpstr>Cambria Math</vt:lpstr>
      <vt:lpstr>Times New Roman</vt:lpstr>
      <vt:lpstr>Simple Light</vt:lpstr>
      <vt:lpstr>Office Theme</vt:lpstr>
      <vt:lpstr>Simple Light</vt:lpstr>
      <vt:lpstr>Department of Computer Science and Design</vt:lpstr>
      <vt:lpstr>Abstract</vt:lpstr>
      <vt:lpstr>Introduction</vt:lpstr>
      <vt:lpstr>PowerPoint Presentation</vt:lpstr>
      <vt:lpstr>Problem Definition</vt:lpstr>
      <vt:lpstr>Aim and Objectives</vt:lpstr>
      <vt:lpstr>Literature Review</vt:lpstr>
      <vt:lpstr>Literature Review</vt:lpstr>
      <vt:lpstr>PowerPoint Presentation</vt:lpstr>
      <vt:lpstr>PowerPoint Presentation</vt:lpstr>
      <vt:lpstr>PowerPoint Presentation</vt:lpstr>
      <vt:lpstr>PowerPoint Presentation</vt:lpstr>
      <vt:lpstr>Literature Review</vt:lpstr>
      <vt:lpstr>PowerPoint Presentation</vt:lpstr>
      <vt:lpstr>PowerPoint Presentation</vt:lpstr>
      <vt:lpstr>PowerPoint Presentation</vt:lpstr>
      <vt:lpstr>PowerPoint Presentation</vt:lpstr>
      <vt:lpstr>PowerPoint Presentation</vt:lpstr>
      <vt:lpstr>Research Gap</vt:lpstr>
      <vt:lpstr>Hardware/Software Requirement</vt:lpstr>
      <vt:lpstr> Methodology</vt:lpstr>
      <vt:lpstr>PowerPoint Presentation</vt:lpstr>
      <vt:lpstr>Experimental results/output/Snapshots</vt:lpstr>
      <vt:lpstr>PowerPoint Presentation</vt:lpstr>
      <vt:lpstr>Experimental results/output/Snapshots</vt:lpstr>
      <vt:lpstr>Experimental results/output/Snapshots</vt:lpstr>
      <vt:lpstr>PowerPoint Presentation</vt:lpstr>
      <vt:lpstr>PowerPoint Presentation</vt:lpstr>
      <vt:lpstr>PowerPoint Presentation</vt:lpstr>
      <vt:lpstr>PowerPoint Presentation</vt:lpstr>
      <vt:lpstr>Plan of Action</vt:lpstr>
      <vt:lpstr>Conclusion and Future scope</vt:lpstr>
      <vt:lpstr>Conclusion and Future scope</vt:lpstr>
      <vt:lpstr>How it is useful for Society</vt:lpstr>
      <vt:lpstr>References</vt:lpstr>
      <vt:lpstr>References</vt:lpstr>
      <vt:lpstr>References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Asus</cp:lastModifiedBy>
  <cp:revision>18</cp:revision>
  <dcterms:modified xsi:type="dcterms:W3CDTF">2025-12-12T10:49:48Z</dcterms:modified>
</cp:coreProperties>
</file>